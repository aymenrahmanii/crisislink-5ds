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6a80d3-8d8b-a108-7796-87d409b42a03}">
          <p14:sldIdLst>
            <p14:sldId id="256"/>
            <p14:sldId id="257"/>
            <p14:sldId id="258"/>
            <p14:sldId id="259"/>
          </p14:sldIdLst>
        </p14:section>
        <p14:section name="Agent architecture" id="{cab151a6-b4ee-4069-45f9-268fa7ae45b8}">
          <p14:sldIdLst>
            <p14:sldId id="260"/>
            <p14:sldId id="261"/>
            <p14:sldId id="262"/>
          </p14:sldIdLst>
        </p14:section>
        <p14:section name="Models and agents" id="{d300db0a-1d58-374e-0fc6-a8cedc5c4cdb}">
          <p14:sldIdLst>
            <p14:sldId id="263"/>
            <p14:sldId id="264"/>
            <p14:sldId id="265"/>
            <p14:sldId id="266"/>
          </p14:sldIdLst>
        </p14:section>
        <p14:section name="RAG" id="{40e1e6d0-a5ff-2db7-8245-7bae7582bb4f}">
          <p14:sldIdLst>
            <p14:sldId id="267"/>
            <p14:sldId id="268"/>
          </p14:sldIdLst>
        </p14:section>
        <p14:section name="Evaluation and security" id="{da9ec925-c1b6-b1fa-911e-106eef69f386}">
          <p14:sldIdLst>
            <p14:sldId id="269"/>
            <p14:sldId id="270"/>
          </p14:sldIdLst>
        </p14:section>
        <p14:section name="Demo and conclusion" id="{a47f0d98-c351-2554-940d-84aa49a364e7}">
          <p14:sldIdLst>
            <p14:sldId id="271"/>
            <p14:sldId id="272"/>
          </p14:sldIdLst>
        </p14:section>
        <p14:section name="Backup slides for questions" id="{ada4184e-3409-48e3-f655-69a4f2de79d5}">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Mean depth error (cm) by true depth class</a:t>
            </a:r>
          </a:p>
        </c:rich>
      </c:tx>
      <c:layout/>
      <c:overlay val="0"/>
    </c:title>
    <c:autoTitleDeleted val="0"/>
    <c:plotArea>
      <c:layout/>
      <c:barChart>
        <c:barDir val="col"/>
        <c:grouping val="clustered"/>
        <c:varyColors val="0"/>
        <c:ser>
          <c:idx val="0"/>
          <c:order val="0"/>
          <c:tx>
            <c:strRef>
              <c:f>Sheet1!$B$1</c:f>
              <c:strCache>
                <c:ptCount val="1"/>
                <c:pt idx="0">
                  <c:v>V1 baseline</c:v>
                </c:pt>
              </c:strCache>
            </c:strRef>
          </c:tx>
          <c:spPr>
            <a:solidFill>
              <a:srgbClr val="7A8B99"/>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Sheet1!$A$2:$A$4</c:f>
              <c:multiLvlStrCache>
                <c:ptCount val="3"/>
                <c:lvl>
                  <c:pt idx="0">
                    <c:v>Shallow (10-15 cm)</c:v>
                  </c:pt>
                  <c:pt idx="1">
                    <c:v>Moderate (35-45 cm)</c:v>
                  </c:pt>
                  <c:pt idx="2">
                    <c:v>Severe (100+ cm)</c:v>
                  </c:pt>
                </c:lvl>
              </c:multiLvlStrCache>
            </c:multiLvlStrRef>
          </c:cat>
          <c:val>
            <c:numRef>
              <c:f>Sheet1!$B$2:$B$4</c:f>
              <c:numCache>
                <c:formatCode>General</c:formatCode>
                <c:ptCount val="3"/>
                <c:pt idx="0">
                  <c:v>13.6</c:v>
                </c:pt>
                <c:pt idx="1">
                  <c:v>7.5</c:v>
                </c:pt>
                <c:pt idx="2">
                  <c:v>23</c:v>
                </c:pt>
              </c:numCache>
            </c:numRef>
          </c:val>
        </c:ser>
        <c:ser>
          <c:idx val="1"/>
          <c:order val="1"/>
          <c:tx>
            <c:strRef>
              <c:f>Sheet1!$C$1</c:f>
              <c:strCache>
                <c:ptCount val="1"/>
                <c:pt idx="0">
                  <c:v>V2 prompt</c:v>
                </c:pt>
              </c:strCache>
            </c:strRef>
          </c:tx>
          <c:spPr>
            <a:solidFill>
              <a:srgbClr val="0E7C86"/>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Sheet1!$A$2:$A$4</c:f>
              <c:multiLvlStrCache>
                <c:ptCount val="3"/>
                <c:lvl>
                  <c:pt idx="0">
                    <c:v>Shallow (10-15 cm)</c:v>
                  </c:pt>
                  <c:pt idx="1">
                    <c:v>Moderate (35-45 cm)</c:v>
                  </c:pt>
                  <c:pt idx="2">
                    <c:v>Severe (100+ cm)</c:v>
                  </c:pt>
                </c:lvl>
              </c:multiLvlStrCache>
            </c:multiLvlStrRef>
          </c:cat>
          <c:val>
            <c:numRef>
              <c:f>Sheet1!$C$2:$C$4</c:f>
              <c:numCache>
                <c:formatCode>General</c:formatCode>
                <c:ptCount val="3"/>
                <c:pt idx="0">
                  <c:v>17</c:v>
                </c:pt>
                <c:pt idx="1">
                  <c:v>14.9</c:v>
                </c:pt>
                <c:pt idx="2">
                  <c:v>5</c:v>
                </c:pt>
              </c:numCache>
            </c:numRef>
          </c:val>
        </c:ser>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5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3A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3"/>
                </a:solidFill>
                <a:latin typeface="+mn-lt"/>
              </a:defRPr>
            </a:pPr>
            <a:r>
              <a:rPr sz="1300" b="0" i="0" u="none" strike="noStrike">
                <a:solidFill>
                  <a:srgbClr val="0B1F33"/>
                </a:solidFill>
                <a:latin typeface="+mn-lt"/>
              </a:rPr>
              <a:t>Extraction field accuracy (%), 8 transcripts</a:t>
            </a:r>
          </a:p>
        </c:rich>
      </c:tx>
      <c:layout/>
      <c:overlay val="0"/>
    </c:title>
    <c:autoTitleDeleted val="0"/>
    <c:plotArea>
      <c:layout/>
      <c:barChart>
        <c:barDir val="col"/>
        <c:grouping val="clustered"/>
        <c:varyColors val="0"/>
        <c:ser>
          <c:idx val="0"/>
          <c:order val="0"/>
          <c:tx>
            <c:strRef>
              <c:f>Sheet1!$B$1</c:f>
              <c:strCache>
                <c:ptCount val="1"/>
                <c:pt idx="0">
                  <c:v>Field accuracy</c:v>
                </c:pt>
              </c:strCache>
            </c:strRef>
          </c:tx>
          <c:spPr>
            <a:solidFill>
              <a:srgbClr val="0E7C86"/>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Sheet1!$A$2:$A$4</c:f>
              <c:multiLvlStrCache>
                <c:ptCount val="3"/>
                <c:lvl>
                  <c:pt idx="0">
                    <c:v>V2</c:v>
                  </c:pt>
                  <c:pt idx="1">
                    <c:v>V3 + lexicon, few-shot</c:v>
                  </c:pt>
                  <c:pt idx="2">
                    <c:v>V4 + stated numbers</c:v>
                  </c:pt>
                </c:lvl>
              </c:multiLvlStrCache>
            </c:multiLvlStrRef>
          </c:cat>
          <c:val>
            <c:numRef>
              <c:f>Sheet1!$B$2:$B$4</c:f>
              <c:numCache>
                <c:formatCode>General</c:formatCode>
                <c:ptCount val="3"/>
                <c:pt idx="0">
                  <c:v>89</c:v>
                </c:pt>
                <c:pt idx="1">
                  <c:v>93</c:v>
                </c:pt>
                <c:pt idx="2">
                  <c:v>100</c:v>
                </c:pt>
              </c:numCache>
            </c:numRef>
          </c:val>
        </c:ser>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3A57"/>
                </a:solidFill>
                <a:latin typeface="+mn-lt"/>
              </a:defRPr>
            </a:pPr>
            <a:endParaRPr lang="en-US"/>
          </a:p>
        </c:txPr>
        <c:crossAx val="2094734552"/>
        <c:crosses val="autoZero"/>
        <c:auto val="1"/>
        <c:lblAlgn val="ctr"/>
        <c:noMultiLvlLbl val="1"/>
      </c:catAx>
      <c:valAx>
        <c:axId val="2094734552"/>
        <c:scaling>
          <c:orientation val="minMax"/>
          <c:max val="105"/>
          <c:min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20 queries (15 EN, 3 FR, 2 Derja), top-3</a:t>
            </a:r>
          </a:p>
        </c:rich>
      </c:tx>
      <c:layout/>
      <c:overlay val="0"/>
    </c:title>
    <c:autoTitleDeleted val="0"/>
    <c:plotArea>
      <c:layout/>
      <c:barChart>
        <c:barDir val="col"/>
        <c:grouping val="clustered"/>
        <c:varyColors val="0"/>
        <c:ser>
          <c:idx val="0"/>
          <c:order val="0"/>
          <c:tx>
            <c:strRef>
              <c:f>Sheet1!$B$1</c:f>
              <c:strCache>
                <c:ptCount val="1"/>
                <c:pt idx="0">
                  <c:v>Precision@3</c:v>
                </c:pt>
              </c:strCache>
            </c:strRef>
          </c:tx>
          <c:spPr>
            <a:solidFill>
              <a:srgbClr val="A9CFD3"/>
            </a:solidFill>
            <a:effectLst/>
          </c:spPr>
          <c:invertIfNegative val="0"/>
          <c:dLbls>
            <c:numFmt formatCode="0.0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cat>
            <c:multiLvlStrRef>
              <c:f>Sheet1!$A$2:$A$5</c:f>
              <c:multiLvlStrCache>
                <c:ptCount val="4"/>
                <c:lvl>
                  <c:pt idx="0">
                    <c:v>A fixed + MiniLM</c:v>
                  </c:pt>
                  <c:pt idx="1">
                    <c:v>B structured + MiniLM</c:v>
                  </c:pt>
                  <c:pt idx="2">
                    <c:v>A fixed + e5</c:v>
                  </c:pt>
                  <c:pt idx="3">
                    <c:v>B structured + e5</c:v>
                  </c:pt>
                </c:lvl>
              </c:multiLvlStrCache>
            </c:multiLvlStrRef>
          </c:cat>
          <c:val>
            <c:numRef>
              <c:f>Sheet1!$B$2:$B$5</c:f>
              <c:numCache>
                <c:formatCode>General</c:formatCode>
                <c:ptCount val="4"/>
                <c:pt idx="0">
                  <c:v>0.3</c:v>
                </c:pt>
                <c:pt idx="1">
                  <c:v>0.3</c:v>
                </c:pt>
                <c:pt idx="2">
                  <c:v>0.367</c:v>
                </c:pt>
                <c:pt idx="3">
                  <c:v>0.383</c:v>
                </c:pt>
              </c:numCache>
            </c:numRef>
          </c:val>
        </c:ser>
        <c:ser>
          <c:idx val="1"/>
          <c:order val="1"/>
          <c:tx>
            <c:strRef>
              <c:f>Sheet1!$C$1</c:f>
              <c:strCache>
                <c:ptCount val="1"/>
                <c:pt idx="0">
                  <c:v>Hit@3</c:v>
                </c:pt>
              </c:strCache>
            </c:strRef>
          </c:tx>
          <c:spPr>
            <a:solidFill>
              <a:srgbClr val="0E7C86"/>
            </a:solidFill>
            <a:effectLst/>
          </c:spPr>
          <c:invertIfNegative val="0"/>
          <c:dLbls>
            <c:numFmt formatCode="0.0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cat>
            <c:multiLvlStrRef>
              <c:f>Sheet1!$A$2:$A$5</c:f>
              <c:multiLvlStrCache>
                <c:ptCount val="4"/>
                <c:lvl>
                  <c:pt idx="0">
                    <c:v>A fixed + MiniLM</c:v>
                  </c:pt>
                  <c:pt idx="1">
                    <c:v>B structured + MiniLM</c:v>
                  </c:pt>
                  <c:pt idx="2">
                    <c:v>A fixed + e5</c:v>
                  </c:pt>
                  <c:pt idx="3">
                    <c:v>B structured + e5</c:v>
                  </c:pt>
                </c:lvl>
              </c:multiLvlStrCache>
            </c:multiLvlStrRef>
          </c:cat>
          <c:val>
            <c:numRef>
              <c:f>Sheet1!$C$2:$C$5</c:f>
              <c:numCache>
                <c:formatCode>General</c:formatCode>
                <c:ptCount val="4"/>
                <c:pt idx="0">
                  <c:v>0.8</c:v>
                </c:pt>
                <c:pt idx="1">
                  <c:v>0.75</c:v>
                </c:pt>
                <c:pt idx="2">
                  <c:v>0.85</c:v>
                </c:pt>
                <c:pt idx="3">
                  <c:v>0.9</c:v>
                </c:pt>
              </c:numCache>
            </c:numRef>
          </c:val>
        </c:ser>
        <c:ser>
          <c:idx val="2"/>
          <c:order val="2"/>
          <c:tx>
            <c:strRef>
              <c:f>Sheet1!$D$1</c:f>
              <c:strCache>
                <c:ptCount val="1"/>
                <c:pt idx="0">
                  <c:v>MRR</c:v>
                </c:pt>
              </c:strCache>
            </c:strRef>
          </c:tx>
          <c:spPr>
            <a:solidFill>
              <a:srgbClr val="0B1F33"/>
            </a:solidFill>
            <a:effectLst/>
          </c:spPr>
          <c:invertIfNegative val="0"/>
          <c:dLbls>
            <c:numFmt formatCode="0.0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cat>
            <c:multiLvlStrRef>
              <c:f>Sheet1!$A$2:$A$5</c:f>
              <c:multiLvlStrCache>
                <c:ptCount val="4"/>
                <c:lvl>
                  <c:pt idx="0">
                    <c:v>A fixed + MiniLM</c:v>
                  </c:pt>
                  <c:pt idx="1">
                    <c:v>B structured + MiniLM</c:v>
                  </c:pt>
                  <c:pt idx="2">
                    <c:v>A fixed + e5</c:v>
                  </c:pt>
                  <c:pt idx="3">
                    <c:v>B structured + e5</c:v>
                  </c:pt>
                </c:lvl>
              </c:multiLvlStrCache>
            </c:multiLvlStrRef>
          </c:cat>
          <c:val>
            <c:numRef>
              <c:f>Sheet1!$D$2:$D$5</c:f>
              <c:numCache>
                <c:formatCode>General</c:formatCode>
                <c:ptCount val="4"/>
                <c:pt idx="0">
                  <c:v>0.706</c:v>
                </c:pt>
                <c:pt idx="1">
                  <c:v>0.699</c:v>
                </c:pt>
                <c:pt idx="2">
                  <c:v>0.78</c:v>
                </c:pt>
                <c:pt idx="3">
                  <c:v>0.818</c:v>
                </c:pt>
              </c:numCache>
            </c:numRef>
          </c:val>
        </c:ser>
        <c:dLbls>
          <c:numFmt formatCode="0.00" sourceLinked="0"/>
          <c:txPr>
            <a:bodyPr/>
            <a:lstStyle/>
            <a:p>
              <a:pPr>
                <a:defRPr b="0" i="0" strike="noStrike" sz="11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5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1E7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3A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Integration lead
Good morning. We are team CrisisLink. In the next 20 minutes, all six of us will show you how a citizen can report a flood with a photo or a voice note in Tunisian dialect, and how a team of AI agents turns it into a graded rescue ticket for Civil Protection. We will finish with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Integration lead
During severe storms the phone line saturates, operators cannot see the situation, and calls are served in arrival order. A person trapped with an elderly parent waits behind a report of a flooded parking lot. Our goal: a highest-danger-first queue, with reporting as easy as sending a photo or a voice note in Derja.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Integration lead
The citizen sends a photo, a voice note, a text or a location to our Telegram bot. The system answers immediately, then returns a ticket with a priority from P1 to P4, the water depth, who is in danger, the rescue asset, and safety advice. These four tiers come from our Week 1 Milestone Pack. One hard rule: above 80 cm, never below P2. Everything is also written to a dispatcher board. GPS routing and sirens are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Integration lead
Our criteria were: native handling of images and audio, agents and a vector store without building a framework, zero budget, and control over the data. n8n gives us AI Agent nodes, agents usable as tools of other agents, output parsers and a Qdrant node, and its workflows export as JSON. Telegram carries photos, voice, GPS and buttons for free. Groq and Gemini are two free providers, so every critical agent has a fallback on the other one. Qdrant stores the protocols; Data Tables are our dispatcher board. Then I hand over to our orchestrator lead for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Orchestrator lead
The workflow has only two main nodes: the Telegram trigger and the Triage Orchestrator. There is no Switch and no IF. The orchestrator reads the message and decides which agents to call: the Vision Agent for photos, the Distress Agent for words and voice, the Protocol Agent for the official rules, and the Safety Officer, which checks every decision. Each agent has its own model and its own tools. The board and Telegram are tools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Orchestrator lead
Here is one report. First, in one step, the orchestrator acknowledges the citizen, loads the open incident and calls the specialists in parallel. Each specialist receives a natural-language request and answers with JSON validated by a schema, so no free text drifts between agents. Then the orchestrator asks the Protocol Agent which tier and asset apply, drafts a decision, and must send it to the Safety Officer. Only then does it save the incident and send the ticket. Reports from the same citizen within 30 minutes are fused into one incident, so a photo, then a voice note, then the answer to a question update one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Orchestrator lead
Our first version was a 53-node pipeline: a Switch routed each media type and IF nodes handled every fallback. It worked, but the control flow made the decisions, not the agents. In version 3, every decision about what to do next is taken by an agent. Deterministic code still exists, but only inside tools that agents call: the safety rules, the reference tables, the board. This fits our use case: inputs arrive in any order, reports are incomplete, and a wrong grade can cost a life. The price is more model calls and less predictable plans, which we bound with step limits and the mandatory Safety Officer. Next, our vision specialist on the models we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Vision specialist
We chose each model by testing it on our own data. A key constraint: we measured 8,000 tokens per minute per Groq model on the free tier. An orchestrator that plans over several steps uses much more than that, so we spread the load: the orchestrator runs on Gemini 3.5 Flash, which handled repeated tool calls in our test, and each specialist has its own Groq model. Three agents have a fallback on the other provider. All models run at temperature 0.1. We did not use GPT-4o for cost reasons, and the design does not depend on a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Vision specialist
The Vision Agent compares the waterline with objects of known height: wheel hubs, door handles, a person's knee. It must look up every height with a tool instead of using its memory. We benchmarked the prompt on 29 labelled photos. The baseline under-estimated depth in 55% of photos, which is the dangerous direction. Version 2, with chain-of-thought, an anchor table and a deeper-interval bias, halved that to 29%. On severe floods the mean error fell from 23 to 5 cm. Overall accuracy stays modest, 25% in range, and we say so: that is why low confidence always goes to a human. No severe photo was ever graded P3 or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Audio and dialect specialist
The Distress Agent handles everything the citizen says. It transcribes the voice note itself, with Gemini first and Whisper as a backup it chooses when Gemini fails. On our Derja test clip, Whisper turned "the water reached" into the city of Mosul and lost the elderly woman: the ticket was P2 instead of P1. Gemini kept every word. The agent then extracts victims, trapped status, vulnerable people and the depth, converting "above the car" to 150 cm with a tool. If the report does not say whether anyone is trapped, it asks the citizen one question in their language. On our 8 test transcripts the prompt went from 6 of 8 to 8 of 8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Audio and dialect specialist
Every prompt is versioned in our prompt library, annexed to the report. We used role prompting, a reasoning field written before any number, JSON schemas, few-shot examples in Derja and French, negative constraints, a safety bias and an injection guard. The best lesson came from the follow-up tool. In test 73 the agent wrote a perfect question into an output field but never called the tool, so nothing would reach the citizen. We removed the field. In test 78 it called the tool, then waited for an answer that never comes back. We told it the call is fire and forget. In test 79 it worked, and in test 80 it asked in French. Now our RAG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RAG lead
Tiers, rescue assets and safety advice are official numbers that must be quotable, so we put them in a knowledge base instead of the prompt. Our corpus has 12 sections from 10 cited sources: the US Weather Service, FEMA, the Australian hazard guideline, CDC and Tunisian Civil Protection, plus our team doctrine, clearly labelled. We split it by Markdown structure so a table row never loses its header, embed it with multilingual e5, and store it in Qdrant. The Protocol Agent writes its own search query and must quote the asset row of the decided tier. One thing did not work: n8n ignored our category filters in two tests, so we use one unfiltered search tool. Here is how we chose the chunking and the embedding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RAG lead
We compared two chunking strategies with two embedding models on 20 annotated queries in English, French and Derja. A chunk counts only if it contains every fact of the answer, for example the tier and its asset. Structure-aware chunking with multilingual e5 is best: Hit@3 0.90, MRR 0.82. Precision@3 looks low, 0.38, but its ceiling is 0.47 because most queries have one relevant chunk. Honest reading: with the English model, structure-aware chunking was not better; the embedding model made the difference, especially for French and Derja. Now our evaluation specialist.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 Benchmark and evaluation specialist
We evaluate at four levels. Components on labelled sets: vision, extraction and retrieval. The safety rules with unit tests on real failures: the garbled Derja transcript that was graded P2 is now P1 with a boat and a paramedic; a P1 case that received a truck now receives a boat; a prank goes to human review. The whole system with about 35 live Telegram tests, each failure logged with its root cause and fix. And non-functional limits: the free tier allows about one report per minute. We say our limits plainly: small team-made test sets, modest depth accuracy, and the agentic version was validated on live runs rather than full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 Benchmark and evaluation specialist
Our principle is fail safe: anything uncertain, broken or suspicious raises the priority or calls a human. Agents bring two specific risks. First, prompt injection travelling from agent to agent: the citizen's raw words are wired straight into the specialists and the Safety Officer, so the orchestrator cannot rewrite them, and the rules tool re-reads them without any model. Second, agents with too much power: every Telegram and board tool is locked to the sender's chat, so no agent can message or modify another citizen. Keys stay in n8n credentials, tickets are escaped, and privacy is a deployment requirement. Now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Orchestrator lead (drives the phone; Speaker 1 shows the n8n executions)
Leave about one minute between reports: the free tier allows about one report per minute. 1) Send /new. 2) Send the Derja voice note: show the acknowledgement, then in n8n the orchestrator calling the Distress Agent, which transcribes and converts "above the car" to 150 cm; the Protocol Agent; the Safety Officer. Expected P1, Zodiac plus paramedic. 3) /new, then the moderate wheel photo: the Vision Agent looks up the wheel hub height. Expected P3. 4) Text "Au secours, l'eau monte vite": the bot asks one question in French; answer "ma grand-mère est avec moi, on est bloqués": the same incident is updated and raised to P1. 5) Show the board row updated, not duplicated. 6) Share the location from the phone. If an API fails, show the human-review ticket: that is the fail-safe. Backup: the recorded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Orchestrator lead
To conclude: CrisisLink turns a photo or a Derja voice note into a graded, explained rescue ticket through five agents that talk to each other, consult official protocols and are checked by a safety agent. What we learned: measure everything, because our biggest fixes came from real failures; and keep exact rules in tools that agents call, not in the control flow. Next: fuse reports by area using GPS, a larger photo set with measured depths, and a hosted deployment with paid tiers. Thank you; we are happy to take your questions, and any of us can answer on any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only if asked. Any member can present it. Each row is a numbered n8n execution from our live Telegram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"why is the safety check code and not a prompt?" Answer: prompts are probabilistic; these rules must hold every time, and the code can only raise the priority or add human review. The table shows six unit tests on real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463040"/>
          </a:xfrm>
          <a:prstGeom prst="rect">
            <a:avLst/>
          </a:prstGeom>
          <a:noFill/>
          <a:ln/>
        </p:spPr>
        <p:txBody>
          <a:bodyPr wrap="square" rtlCol="0"/>
          <a:lstStyle>
            <a:lvl1pPr indent="0" marL="0">
              <a:buNone/>
              <a:defRPr lang="en-US" sz="4800" b="1" dirty="0">
                <a:solidFill>
                  <a:schemeClr val="bg1"/>
                </a:solidFill>
                <a:latin typeface="Arial" pitchFamily="34" charset="0"/>
                <a:ea typeface="Arial" pitchFamily="34" charset="-122"/>
                <a:cs typeface="Arial" pitchFamily="34" charset="-120"/>
              </a:defRPr>
            </a:lvl1pPr>
          </a:lstStyle>
          <a:p>
            <a:pPr indent="0" marL="0">
              <a:buNone/>
            </a:pPr>
            <a:r>
              <a:rPr lang="en-US" sz="4800" b="1" dirty="0">
                <a:solidFill>
                  <a:schemeClr val="bg1"/>
                </a:solidFill>
                <a:latin typeface="Arial" pitchFamily="34" charset="0"/>
                <a:ea typeface="Arial" pitchFamily="34" charset="-122"/>
                <a:cs typeface="Arial" pitchFamily="34" charset="-120"/>
              </a:rPr>
              <a:t>Title</a:t>
            </a:r>
            <a:endParaRPr lang="en-US" sz="4800" dirty="0"/>
          </a:p>
        </p:txBody>
      </p:sp>
      <p:sp>
        <p:nvSpPr>
          <p:cNvPr id="3" name="Text 0"/>
          <p:cNvSpPr/>
          <p:nvPr>
            <p:ph idx="101" type="body" hasCustomPrompt="1"/>
          </p:nvPr>
        </p:nvSpPr>
        <p:spPr>
          <a:xfrm>
            <a:off x="548640" y="3611880"/>
            <a:ext cx="8686800" cy="1280160"/>
          </a:xfrm>
          <a:prstGeom prst="rect">
            <a:avLst/>
          </a:prstGeom>
          <a:noFill/>
          <a:ln/>
        </p:spPr>
        <p:txBody>
          <a:bodyPr wrap="square" rtlCol="0"/>
          <a:lstStyle>
            <a:lvl1pPr indent="0" marL="0">
              <a:buNone/>
              <a:defRPr lang="en-US" sz="2000" dirty="0">
                <a:solidFill>
                  <a:srgbClr val="CFE3EA"/>
                </a:solidFill>
                <a:latin typeface="Calibri" pitchFamily="34" charset="0"/>
                <a:ea typeface="Calibri" pitchFamily="34" charset="-122"/>
                <a:cs typeface="Calibri" pitchFamily="34" charset="-120"/>
              </a:defRPr>
            </a:lvl1pPr>
          </a:lstStyle>
          <a:p>
            <a:pPr indent="0" marL="0">
              <a:buNone/>
            </a:pPr>
            <a:r>
              <a:rPr lang="en-US" sz="2000" dirty="0">
                <a:solidFill>
                  <a:srgbClr val="CFE3EA"/>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tx1"/>
                </a:solidFill>
                <a:latin typeface="Arial" pitchFamily="34" charset="0"/>
                <a:ea typeface="Arial" pitchFamily="34" charset="-122"/>
                <a:cs typeface="Arial" pitchFamily="34" charset="-120"/>
              </a:defRPr>
            </a:lvl1pPr>
          </a:lstStyle>
          <a:p>
            <a:pPr indent="0" marL="0">
              <a:buNone/>
            </a:pPr>
            <a:r>
              <a:rPr lang="en-US" sz="3400" b="1" dirty="0">
                <a:solidFill>
                  <a:schemeClr val="tx1"/>
                </a:solidFill>
                <a:latin typeface="Arial" pitchFamily="34" charset="0"/>
                <a:ea typeface="Arial" pitchFamily="34" charset="-122"/>
                <a:cs typeface="Arial" pitchFamily="34" charset="-120"/>
              </a:rPr>
              <a:t>Title</a:t>
            </a:r>
            <a:endParaRPr lang="en-US" sz="3400" dirty="0"/>
          </a:p>
        </p:txBody>
      </p:sp>
      <p:sp>
        <p:nvSpPr>
          <p:cNvPr id="3" name="Text 0"/>
          <p:cNvSpPr/>
          <p:nvPr/>
        </p:nvSpPr>
        <p:spPr>
          <a:xfrm>
            <a:off x="548640" y="6446520"/>
            <a:ext cx="7315200" cy="274320"/>
          </a:xfrm>
          <a:prstGeom prst="rect">
            <a:avLst/>
          </a:prstGeom>
          <a:noFill/>
          <a:ln/>
        </p:spPr>
        <p:txBody>
          <a:bodyPr wrap="square" rtlCol="0" anchor="ctr"/>
          <a:lstStyle/>
          <a:p>
            <a:pPr indent="0" marL="0">
              <a:buNone/>
            </a:pPr>
            <a:r>
              <a:rPr lang="en-US" sz="1000" dirty="0">
                <a:solidFill>
                  <a:schemeClr val="tx2"/>
                </a:solidFill>
                <a:latin typeface="Calibri" pitchFamily="34" charset="0"/>
                <a:ea typeface="Calibri" pitchFamily="34" charset="-122"/>
                <a:cs typeface="Calibri" pitchFamily="34" charset="-120"/>
              </a:rPr>
              <a:t>CrisisLink  |  Esprit 5DS - Advanced Deep Learning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bg1"/>
                </a:solidFill>
                <a:latin typeface="Arial" pitchFamily="34" charset="0"/>
                <a:ea typeface="Arial" pitchFamily="34" charset="-122"/>
                <a:cs typeface="Arial" pitchFamily="34" charset="-120"/>
              </a:defRPr>
            </a:lvl1pPr>
          </a:lstStyle>
          <a:p>
            <a:pPr indent="0" marL="0">
              <a:buNone/>
            </a:pPr>
            <a:r>
              <a:rPr lang="en-US" sz="3400" b="1" dirty="0">
                <a:solidFill>
                  <a:schemeClr val="bg1"/>
                </a:solidFill>
                <a:latin typeface="Arial" pitchFamily="34" charset="0"/>
                <a:ea typeface="Arial" pitchFamily="34" charset="-122"/>
                <a:cs typeface="Arial" pitchFamily="34" charset="-120"/>
              </a:rPr>
              <a:t>Title</a:t>
            </a:r>
            <a:endParaRPr lang="en-US" sz="3400" dirty="0"/>
          </a:p>
        </p:txBody>
      </p:sp>
      <p:sp>
        <p:nvSpPr>
          <p:cNvPr id="3" name="Text 0"/>
          <p:cNvSpPr/>
          <p:nvPr/>
        </p:nvSpPr>
        <p:spPr>
          <a:xfrm>
            <a:off x="548640" y="6446520"/>
            <a:ext cx="7315200" cy="274320"/>
          </a:xfrm>
          <a:prstGeom prst="rect">
            <a:avLst/>
          </a:prstGeom>
          <a:noFill/>
          <a:ln/>
        </p:spPr>
        <p:txBody>
          <a:bodyPr wrap="square" rtlCol="0" anchor="ctr"/>
          <a:lstStyle/>
          <a:p>
            <a:pPr indent="0" marL="0">
              <a:buNone/>
            </a:pPr>
            <a:r>
              <a:rPr lang="en-US" sz="1000" dirty="0">
                <a:solidFill>
                  <a:srgbClr val="9FB3C8"/>
                </a:solidFill>
                <a:latin typeface="Calibri" pitchFamily="34" charset="0"/>
                <a:ea typeface="Calibri" pitchFamily="34" charset="-122"/>
                <a:cs typeface="Calibri" pitchFamily="34" charset="-120"/>
              </a:rPr>
              <a:t>CrisisLink  |  Esprit 5DS - Advanced Deep Learning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463040"/>
          </a:xfrm>
          <a:prstGeom prst="rect">
            <a:avLst/>
          </a:prstGeom>
          <a:noFill/>
          <a:ln/>
        </p:spPr>
        <p:txBody>
          <a:bodyPr wrap="square" lIns="0" tIns="0" rIns="0" bIns="0" rtlCol="0" anchor="b"/>
          <a:lstStyle/>
          <a:p>
            <a:pPr indent="0" marL="0">
              <a:buNone/>
            </a:pPr>
            <a:r>
              <a:rPr lang="en-US" sz="4800" b="1" dirty="0">
                <a:solidFill>
                  <a:schemeClr val="bg1"/>
                </a:solidFill>
                <a:latin typeface="Arial" pitchFamily="34" charset="0"/>
                <a:ea typeface="Arial" pitchFamily="34" charset="-122"/>
                <a:cs typeface="Arial" pitchFamily="34" charset="-120"/>
              </a:rPr>
              <a:t>CrisisLink</a:t>
            </a:r>
            <a:endParaRPr lang="en-US" sz="4800" dirty="0"/>
          </a:p>
        </p:txBody>
      </p:sp>
      <p:sp>
        <p:nvSpPr>
          <p:cNvPr id="3" name="Text 0"/>
          <p:cNvSpPr/>
          <p:nvPr>
            <p:ph idx="101" type="body" hasCustomPrompt="1"/>
          </p:nvPr>
        </p:nvSpPr>
        <p:spPr>
          <a:xfrm>
            <a:off x="548640" y="3611880"/>
            <a:ext cx="8686800" cy="1280160"/>
          </a:xfrm>
          <a:prstGeom prst="rect">
            <a:avLst/>
          </a:prstGeom>
          <a:noFill/>
          <a:ln/>
        </p:spPr>
        <p:txBody>
          <a:bodyPr wrap="square" lIns="0" tIns="0" rIns="0" bIns="0" rtlCol="0" anchor="t"/>
          <a:lstStyle/>
          <a:p>
            <a:pPr indent="0" marL="0">
              <a:buNone/>
            </a:pPr>
            <a:r>
              <a:rPr lang="en-US" sz="2000" dirty="0">
                <a:solidFill>
                  <a:srgbClr val="CFE3EA"/>
                </a:solidFill>
                <a:latin typeface="Calibri" pitchFamily="34" charset="0"/>
                <a:ea typeface="Calibri" pitchFamily="34" charset="-122"/>
                <a:cs typeface="Calibri" pitchFamily="34" charset="-120"/>
              </a:rPr>
              <a:t>An agentic, multimodal flood-triage system for Tunisian Civil Protection</a:t>
            </a:r>
            <a:endParaRPr lang="en-US" sz="2000" dirty="0"/>
          </a:p>
          <a:p>
            <a:pPr indent="0" marL="0">
              <a:buNone/>
            </a:pPr>
            <a:r>
              <a:rPr lang="en-US" sz="2000" dirty="0">
                <a:solidFill>
                  <a:srgbClr val="CFE3EA"/>
                </a:solidFill>
                <a:latin typeface="Calibri" pitchFamily="34" charset="0"/>
                <a:ea typeface="Calibri" pitchFamily="34" charset="-122"/>
                <a:cs typeface="Calibri" pitchFamily="34" charset="-120"/>
              </a:rPr>
              <a:t>Esprit 5DS - Advanced Deep Learning  |  Final validation  |  Team CrisisLink</a:t>
            </a:r>
            <a:endParaRPr lang="en-US" sz="2000" dirty="0"/>
          </a:p>
        </p:txBody>
      </p:sp>
      <p:sp>
        <p:nvSpPr>
          <p:cNvPr id="4" name="Photo circle"/>
          <p:cNvSpPr/>
          <p:nvPr/>
        </p:nvSpPr>
        <p:spPr>
          <a:xfrm>
            <a:off x="9921240" y="1463040"/>
            <a:ext cx="777240" cy="777240"/>
          </a:xfrm>
          <a:prstGeom prst="ellipse">
            <a:avLst/>
          </a:prstGeom>
          <a:solidFill>
            <a:schemeClr val="accent1"/>
          </a:solidFill>
          <a:ln w="12700">
            <a:solidFill>
              <a:schemeClr val="accent1"/>
            </a:solidFill>
            <a:prstDash val="solid"/>
          </a:ln>
        </p:spPr>
      </p:sp>
      <p:pic>
        <p:nvPicPr>
          <p:cNvPr id="5" name="Photo icon" descr="preencoded.png">    </p:cNvPr>
          <p:cNvPicPr>
            <a:picLocks noChangeAspect="1"/>
          </p:cNvPicPr>
          <p:nvPr/>
        </p:nvPicPr>
        <p:blipFill>
          <a:blip r:embed="rId1"/>
          <a:stretch>
            <a:fillRect/>
          </a:stretch>
        </p:blipFill>
        <p:spPr>
          <a:xfrm>
            <a:off x="10115550" y="1657350"/>
            <a:ext cx="388620" cy="388620"/>
          </a:xfrm>
          <a:prstGeom prst="rect">
            <a:avLst/>
          </a:prstGeom>
        </p:spPr>
      </p:pic>
      <p:sp>
        <p:nvSpPr>
          <p:cNvPr id="6" name="Photo label"/>
          <p:cNvSpPr txBox="1"/>
          <p:nvPr/>
        </p:nvSpPr>
        <p:spPr>
          <a:xfrm>
            <a:off x="10835640" y="1645920"/>
            <a:ext cx="1188720" cy="411480"/>
          </a:xfrm>
          <a:prstGeom prst="rect">
            <a:avLst/>
          </a:prstGeom>
          <a:noFill/>
          <a:ln/>
        </p:spPr>
        <p:txBody>
          <a:bodyPr wrap="square" lIns="635" tIns="635" rIns="635" bIns="635" rtlCol="0" anchor="t"/>
          <a:lstStyle/>
          <a:p>
            <a:pPr indent="0" marL="0">
              <a:buNone/>
            </a:pPr>
            <a:r>
              <a:rPr lang="en-US" sz="1600" dirty="0">
                <a:solidFill>
                  <a:srgbClr val="CFE3EA"/>
                </a:solidFill>
              </a:rPr>
              <a:t>Photo</a:t>
            </a:r>
            <a:endParaRPr lang="en-US" sz="1600" dirty="0"/>
          </a:p>
        </p:txBody>
      </p:sp>
      <p:sp>
        <p:nvSpPr>
          <p:cNvPr id="7" name="Voice note circle"/>
          <p:cNvSpPr/>
          <p:nvPr/>
        </p:nvSpPr>
        <p:spPr>
          <a:xfrm>
            <a:off x="9921240" y="2514600"/>
            <a:ext cx="777240" cy="777240"/>
          </a:xfrm>
          <a:prstGeom prst="ellipse">
            <a:avLst/>
          </a:prstGeom>
          <a:solidFill>
            <a:schemeClr val="accent1"/>
          </a:solidFill>
          <a:ln w="12700">
            <a:solidFill>
              <a:schemeClr val="accent1"/>
            </a:solidFill>
            <a:prstDash val="solid"/>
          </a:ln>
        </p:spPr>
      </p:sp>
      <p:pic>
        <p:nvPicPr>
          <p:cNvPr id="8" name="Voice note icon" descr="preencoded.png">    </p:cNvPr>
          <p:cNvPicPr>
            <a:picLocks noChangeAspect="1"/>
          </p:cNvPicPr>
          <p:nvPr/>
        </p:nvPicPr>
        <p:blipFill>
          <a:blip r:embed="rId2"/>
          <a:stretch>
            <a:fillRect/>
          </a:stretch>
        </p:blipFill>
        <p:spPr>
          <a:xfrm>
            <a:off x="10115550" y="2708910"/>
            <a:ext cx="388620" cy="388620"/>
          </a:xfrm>
          <a:prstGeom prst="rect">
            <a:avLst/>
          </a:prstGeom>
        </p:spPr>
      </p:pic>
      <p:sp>
        <p:nvSpPr>
          <p:cNvPr id="9" name="Voice note label"/>
          <p:cNvSpPr txBox="1"/>
          <p:nvPr/>
        </p:nvSpPr>
        <p:spPr>
          <a:xfrm>
            <a:off x="10835640" y="2697480"/>
            <a:ext cx="1188720" cy="411480"/>
          </a:xfrm>
          <a:prstGeom prst="rect">
            <a:avLst/>
          </a:prstGeom>
          <a:noFill/>
          <a:ln/>
        </p:spPr>
        <p:txBody>
          <a:bodyPr wrap="square" lIns="635" tIns="635" rIns="635" bIns="635" rtlCol="0" anchor="t"/>
          <a:lstStyle/>
          <a:p>
            <a:pPr indent="0" marL="0">
              <a:buNone/>
            </a:pPr>
            <a:r>
              <a:rPr lang="en-US" sz="1600" dirty="0">
                <a:solidFill>
                  <a:srgbClr val="CFE3EA"/>
                </a:solidFill>
              </a:rPr>
              <a:t>Voice note</a:t>
            </a:r>
            <a:endParaRPr lang="en-US" sz="1600" dirty="0"/>
          </a:p>
        </p:txBody>
      </p:sp>
      <p:sp>
        <p:nvSpPr>
          <p:cNvPr id="10" name="Text circle"/>
          <p:cNvSpPr/>
          <p:nvPr/>
        </p:nvSpPr>
        <p:spPr>
          <a:xfrm>
            <a:off x="9921240" y="3566160"/>
            <a:ext cx="777240" cy="777240"/>
          </a:xfrm>
          <a:prstGeom prst="ellipse">
            <a:avLst/>
          </a:prstGeom>
          <a:solidFill>
            <a:schemeClr val="accent1"/>
          </a:solidFill>
          <a:ln w="12700">
            <a:solidFill>
              <a:schemeClr val="accent1"/>
            </a:solidFill>
            <a:prstDash val="solid"/>
          </a:ln>
        </p:spPr>
      </p:sp>
      <p:pic>
        <p:nvPicPr>
          <p:cNvPr id="11" name="Text icon" descr="preencoded.png">    </p:cNvPr>
          <p:cNvPicPr>
            <a:picLocks noChangeAspect="1"/>
          </p:cNvPicPr>
          <p:nvPr/>
        </p:nvPicPr>
        <p:blipFill>
          <a:blip r:embed="rId3"/>
          <a:stretch>
            <a:fillRect/>
          </a:stretch>
        </p:blipFill>
        <p:spPr>
          <a:xfrm>
            <a:off x="10115550" y="3760470"/>
            <a:ext cx="388620" cy="388620"/>
          </a:xfrm>
          <a:prstGeom prst="rect">
            <a:avLst/>
          </a:prstGeom>
        </p:spPr>
      </p:pic>
      <p:sp>
        <p:nvSpPr>
          <p:cNvPr id="12" name="Text label"/>
          <p:cNvSpPr txBox="1"/>
          <p:nvPr/>
        </p:nvSpPr>
        <p:spPr>
          <a:xfrm>
            <a:off x="10835640" y="3749040"/>
            <a:ext cx="1188720" cy="411480"/>
          </a:xfrm>
          <a:prstGeom prst="rect">
            <a:avLst/>
          </a:prstGeom>
          <a:noFill/>
          <a:ln/>
        </p:spPr>
        <p:txBody>
          <a:bodyPr wrap="square" lIns="635" tIns="635" rIns="635" bIns="635" rtlCol="0" anchor="t"/>
          <a:lstStyle/>
          <a:p>
            <a:pPr indent="0" marL="0">
              <a:buNone/>
            </a:pPr>
            <a:r>
              <a:rPr lang="en-US" sz="1600" dirty="0">
                <a:solidFill>
                  <a:srgbClr val="CFE3EA"/>
                </a:solidFill>
              </a:rPr>
              <a:t>Text</a:t>
            </a:r>
            <a:endParaRPr lang="en-US" sz="1600" dirty="0"/>
          </a:p>
        </p:txBody>
      </p:sp>
      <p:sp>
        <p:nvSpPr>
          <p:cNvPr id="13" name="GPS circle"/>
          <p:cNvSpPr/>
          <p:nvPr/>
        </p:nvSpPr>
        <p:spPr>
          <a:xfrm>
            <a:off x="9921240" y="4617720"/>
            <a:ext cx="777240" cy="777240"/>
          </a:xfrm>
          <a:prstGeom prst="ellipse">
            <a:avLst/>
          </a:prstGeom>
          <a:solidFill>
            <a:schemeClr val="accent1"/>
          </a:solidFill>
          <a:ln w="12700">
            <a:solidFill>
              <a:schemeClr val="accent1"/>
            </a:solidFill>
            <a:prstDash val="solid"/>
          </a:ln>
        </p:spPr>
      </p:sp>
      <p:pic>
        <p:nvPicPr>
          <p:cNvPr id="14" name="GPS icon" descr="preencoded.png">    </p:cNvPr>
          <p:cNvPicPr>
            <a:picLocks noChangeAspect="1"/>
          </p:cNvPicPr>
          <p:nvPr/>
        </p:nvPicPr>
        <p:blipFill>
          <a:blip r:embed="rId4"/>
          <a:stretch>
            <a:fillRect/>
          </a:stretch>
        </p:blipFill>
        <p:spPr>
          <a:xfrm>
            <a:off x="10115550" y="4812030"/>
            <a:ext cx="388620" cy="388620"/>
          </a:xfrm>
          <a:prstGeom prst="rect">
            <a:avLst/>
          </a:prstGeom>
        </p:spPr>
      </p:pic>
      <p:sp>
        <p:nvSpPr>
          <p:cNvPr id="15" name="GPS label"/>
          <p:cNvSpPr txBox="1"/>
          <p:nvPr/>
        </p:nvSpPr>
        <p:spPr>
          <a:xfrm>
            <a:off x="10835640" y="4800600"/>
            <a:ext cx="1188720" cy="411480"/>
          </a:xfrm>
          <a:prstGeom prst="rect">
            <a:avLst/>
          </a:prstGeom>
          <a:noFill/>
          <a:ln/>
        </p:spPr>
        <p:txBody>
          <a:bodyPr wrap="square" lIns="635" tIns="635" rIns="635" bIns="635" rtlCol="0" anchor="t"/>
          <a:lstStyle/>
          <a:p>
            <a:pPr indent="0" marL="0">
              <a:buNone/>
            </a:pPr>
            <a:r>
              <a:rPr lang="en-US" sz="1600" dirty="0">
                <a:solidFill>
                  <a:srgbClr val="CFE3EA"/>
                </a:solidFill>
              </a:rPr>
              <a:t>GPS</a:t>
            </a:r>
            <a:endParaRPr lang="en-US" sz="1600" dirty="0"/>
          </a:p>
        </p:txBody>
      </p:sp>
      <p:sp>
        <p:nvSpPr>
          <p:cNvPr id="16" name="team names"/>
          <p:cNvSpPr txBox="1"/>
          <p:nvPr/>
        </p:nvSpPr>
        <p:spPr>
          <a:xfrm>
            <a:off x="548640" y="5760720"/>
            <a:ext cx="8229600" cy="411480"/>
          </a:xfrm>
          <a:prstGeom prst="rect">
            <a:avLst/>
          </a:prstGeom>
          <a:noFill/>
          <a:ln/>
        </p:spPr>
        <p:txBody>
          <a:bodyPr wrap="square" lIns="635" tIns="635" rIns="635" bIns="635" rtlCol="0" anchor="t"/>
          <a:lstStyle/>
          <a:p>
            <a:pPr indent="0" marL="0">
              <a:buNone/>
            </a:pPr>
            <a:r>
              <a:rPr lang="en-US" sz="1400" dirty="0">
                <a:solidFill>
                  <a:srgbClr val="9FB3C8"/>
                </a:solidFill>
              </a:rPr>
              <a:t>Team members: [add the six names]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During a storm, the emergency line is the bottleneck</a:t>
            </a:r>
            <a:endParaRPr lang="en-US" sz="3400" dirty="0"/>
          </a:p>
        </p:txBody>
      </p:sp>
      <p:sp>
        <p:nvSpPr>
          <p:cNvPr id="4" name="problem card 1"/>
          <p:cNvSpPr/>
          <p:nvPr/>
        </p:nvSpPr>
        <p:spPr>
          <a:xfrm>
            <a:off x="548640" y="1463040"/>
            <a:ext cx="3474720" cy="2926080"/>
          </a:xfrm>
          <a:prstGeom prst="roundRect">
            <a:avLst>
              <a:gd name="adj" fmla="val 2500"/>
            </a:avLst>
          </a:prstGeom>
          <a:solidFill>
            <a:schemeClr val="bg2"/>
          </a:solidFill>
          <a:ln w="12700">
            <a:solidFill>
              <a:schemeClr val="bg2"/>
            </a:solidFill>
            <a:prstDash val="solid"/>
          </a:ln>
        </p:spPr>
      </p:sp>
      <p:sp>
        <p:nvSpPr>
          <p:cNvPr id="5" name="Saturated phone lines circle"/>
          <p:cNvSpPr/>
          <p:nvPr/>
        </p:nvSpPr>
        <p:spPr>
          <a:xfrm>
            <a:off x="822960" y="1737360"/>
            <a:ext cx="731520" cy="731520"/>
          </a:xfrm>
          <a:prstGeom prst="ellipse">
            <a:avLst/>
          </a:prstGeom>
          <a:solidFill>
            <a:schemeClr val="accent2"/>
          </a:solidFill>
          <a:ln w="12700">
            <a:solidFill>
              <a:schemeClr val="accent2"/>
            </a:solidFill>
            <a:prstDash val="solid"/>
          </a:ln>
        </p:spPr>
      </p:sp>
      <p:pic>
        <p:nvPicPr>
          <p:cNvPr id="6" name="Saturated phone lines icon"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7" name="problem title 1"/>
          <p:cNvSpPr txBox="1"/>
          <p:nvPr/>
        </p:nvSpPr>
        <p:spPr>
          <a:xfrm>
            <a:off x="822960" y="2651760"/>
            <a:ext cx="2926080" cy="457200"/>
          </a:xfrm>
          <a:prstGeom prst="rect">
            <a:avLst/>
          </a:prstGeom>
          <a:noFill/>
          <a:ln/>
        </p:spPr>
        <p:txBody>
          <a:bodyPr wrap="square" lIns="635" tIns="635" rIns="635" bIns="635" rtlCol="0" anchor="t"/>
          <a:lstStyle/>
          <a:p>
            <a:pPr indent="0" marL="0">
              <a:buNone/>
            </a:pPr>
            <a:r>
              <a:rPr lang="en-US" sz="2000" b="1" dirty="0">
                <a:solidFill>
                  <a:schemeClr val="tx1"/>
                </a:solidFill>
              </a:rPr>
              <a:t>Saturated phone lines</a:t>
            </a:r>
            <a:endParaRPr lang="en-US" sz="2000" dirty="0"/>
          </a:p>
        </p:txBody>
      </p:sp>
      <p:sp>
        <p:nvSpPr>
          <p:cNvPr id="8" name="problem text 1"/>
          <p:cNvSpPr txBox="1"/>
          <p:nvPr/>
        </p:nvSpPr>
        <p:spPr>
          <a:xfrm>
            <a:off x="822960" y="3154680"/>
            <a:ext cx="2926080" cy="1097280"/>
          </a:xfrm>
          <a:prstGeom prst="rect">
            <a:avLst/>
          </a:prstGeom>
          <a:noFill/>
          <a:ln/>
        </p:spPr>
        <p:txBody>
          <a:bodyPr wrap="square" lIns="635" tIns="635" rIns="635" bIns="635" rtlCol="0" anchor="t"/>
          <a:lstStyle/>
          <a:p>
            <a:pPr indent="0" marL="0">
              <a:buNone/>
            </a:pPr>
            <a:r>
              <a:rPr lang="en-US" sz="1600" dirty="0">
                <a:solidFill>
                  <a:schemeClr val="tx2"/>
                </a:solidFill>
              </a:rPr>
              <a:t>Thousands of calls at the same time; many never get through</a:t>
            </a:r>
            <a:endParaRPr lang="en-US" sz="1600" dirty="0"/>
          </a:p>
        </p:txBody>
      </p:sp>
      <p:sp>
        <p:nvSpPr>
          <p:cNvPr id="9" name="problem card 2"/>
          <p:cNvSpPr/>
          <p:nvPr/>
        </p:nvSpPr>
        <p:spPr>
          <a:xfrm>
            <a:off x="4297680" y="1463040"/>
            <a:ext cx="3474720" cy="2926080"/>
          </a:xfrm>
          <a:prstGeom prst="roundRect">
            <a:avLst>
              <a:gd name="adj" fmla="val 2500"/>
            </a:avLst>
          </a:prstGeom>
          <a:solidFill>
            <a:schemeClr val="bg2"/>
          </a:solidFill>
          <a:ln w="12700">
            <a:solidFill>
              <a:schemeClr val="bg2"/>
            </a:solidFill>
            <a:prstDash val="solid"/>
          </a:ln>
        </p:spPr>
      </p:sp>
      <p:sp>
        <p:nvSpPr>
          <p:cNvPr id="10" name="First-come, first-served circle"/>
          <p:cNvSpPr/>
          <p:nvPr/>
        </p:nvSpPr>
        <p:spPr>
          <a:xfrm>
            <a:off x="4572000" y="1737360"/>
            <a:ext cx="731520" cy="731520"/>
          </a:xfrm>
          <a:prstGeom prst="ellipse">
            <a:avLst/>
          </a:prstGeom>
          <a:solidFill>
            <a:schemeClr val="accent2"/>
          </a:solidFill>
          <a:ln w="12700">
            <a:solidFill>
              <a:schemeClr val="accent2"/>
            </a:solidFill>
            <a:prstDash val="solid"/>
          </a:ln>
        </p:spPr>
      </p:sp>
      <p:pic>
        <p:nvPicPr>
          <p:cNvPr id="11" name="First-come, first-served icon" descr="preencoded.png">    </p:cNvPr>
          <p:cNvPicPr>
            <a:picLocks noChangeAspect="1"/>
          </p:cNvPicPr>
          <p:nvPr/>
        </p:nvPicPr>
        <p:blipFill>
          <a:blip r:embed="rId2"/>
          <a:stretch>
            <a:fillRect/>
          </a:stretch>
        </p:blipFill>
        <p:spPr>
          <a:xfrm>
            <a:off x="4754880" y="1920240"/>
            <a:ext cx="365760" cy="365760"/>
          </a:xfrm>
          <a:prstGeom prst="rect">
            <a:avLst/>
          </a:prstGeom>
        </p:spPr>
      </p:pic>
      <p:sp>
        <p:nvSpPr>
          <p:cNvPr id="12" name="problem title 2"/>
          <p:cNvSpPr txBox="1"/>
          <p:nvPr/>
        </p:nvSpPr>
        <p:spPr>
          <a:xfrm>
            <a:off x="4572000" y="2651760"/>
            <a:ext cx="2926080" cy="457200"/>
          </a:xfrm>
          <a:prstGeom prst="rect">
            <a:avLst/>
          </a:prstGeom>
          <a:noFill/>
          <a:ln/>
        </p:spPr>
        <p:txBody>
          <a:bodyPr wrap="square" lIns="635" tIns="635" rIns="635" bIns="635" rtlCol="0" anchor="t"/>
          <a:lstStyle/>
          <a:p>
            <a:pPr indent="0" marL="0">
              <a:buNone/>
            </a:pPr>
            <a:r>
              <a:rPr lang="en-US" sz="2000" b="1" dirty="0">
                <a:solidFill>
                  <a:schemeClr val="tx1"/>
                </a:solidFill>
              </a:rPr>
              <a:t>First-come, first-served</a:t>
            </a:r>
            <a:endParaRPr lang="en-US" sz="2000" dirty="0"/>
          </a:p>
        </p:txBody>
      </p:sp>
      <p:sp>
        <p:nvSpPr>
          <p:cNvPr id="13" name="problem text 2"/>
          <p:cNvSpPr txBox="1"/>
          <p:nvPr/>
        </p:nvSpPr>
        <p:spPr>
          <a:xfrm>
            <a:off x="4572000" y="3154680"/>
            <a:ext cx="2926080" cy="1097280"/>
          </a:xfrm>
          <a:prstGeom prst="rect">
            <a:avLst/>
          </a:prstGeom>
          <a:noFill/>
          <a:ln/>
        </p:spPr>
        <p:txBody>
          <a:bodyPr wrap="square" lIns="635" tIns="635" rIns="635" bIns="635" rtlCol="0" anchor="t"/>
          <a:lstStyle/>
          <a:p>
            <a:pPr indent="0" marL="0">
              <a:buNone/>
            </a:pPr>
            <a:r>
              <a:rPr lang="en-US" sz="1600" dirty="0">
                <a:solidFill>
                  <a:schemeClr val="tx2"/>
                </a:solidFill>
              </a:rPr>
              <a:t>A trapped elderly person waits behind a flooded parking lot</a:t>
            </a:r>
            <a:endParaRPr lang="en-US" sz="1600" dirty="0"/>
          </a:p>
        </p:txBody>
      </p:sp>
      <p:sp>
        <p:nvSpPr>
          <p:cNvPr id="14" name="problem card 3"/>
          <p:cNvSpPr/>
          <p:nvPr/>
        </p:nvSpPr>
        <p:spPr>
          <a:xfrm>
            <a:off x="8046720" y="1463040"/>
            <a:ext cx="3474720" cy="2926080"/>
          </a:xfrm>
          <a:prstGeom prst="roundRect">
            <a:avLst>
              <a:gd name="adj" fmla="val 2500"/>
            </a:avLst>
          </a:prstGeom>
          <a:solidFill>
            <a:schemeClr val="bg2"/>
          </a:solidFill>
          <a:ln w="12700">
            <a:solidFill>
              <a:schemeClr val="bg2"/>
            </a:solidFill>
            <a:prstDash val="solid"/>
          </a:ln>
        </p:spPr>
      </p:sp>
      <p:sp>
        <p:nvSpPr>
          <p:cNvPr id="15" name="Barriers for citizens circle"/>
          <p:cNvSpPr/>
          <p:nvPr/>
        </p:nvSpPr>
        <p:spPr>
          <a:xfrm>
            <a:off x="8321040" y="1737360"/>
            <a:ext cx="731520" cy="731520"/>
          </a:xfrm>
          <a:prstGeom prst="ellipse">
            <a:avLst/>
          </a:prstGeom>
          <a:solidFill>
            <a:schemeClr val="accent2"/>
          </a:solidFill>
          <a:ln w="12700">
            <a:solidFill>
              <a:schemeClr val="accent2"/>
            </a:solidFill>
            <a:prstDash val="solid"/>
          </a:ln>
        </p:spPr>
      </p:sp>
      <p:pic>
        <p:nvPicPr>
          <p:cNvPr id="16" name="Barriers for citizens icon" descr="preencoded.png">    </p:cNvPr>
          <p:cNvPicPr>
            <a:picLocks noChangeAspect="1"/>
          </p:cNvPicPr>
          <p:nvPr/>
        </p:nvPicPr>
        <p:blipFill>
          <a:blip r:embed="rId3"/>
          <a:stretch>
            <a:fillRect/>
          </a:stretch>
        </p:blipFill>
        <p:spPr>
          <a:xfrm>
            <a:off x="8503920" y="1920240"/>
            <a:ext cx="365760" cy="365760"/>
          </a:xfrm>
          <a:prstGeom prst="rect">
            <a:avLst/>
          </a:prstGeom>
        </p:spPr>
      </p:pic>
      <p:sp>
        <p:nvSpPr>
          <p:cNvPr id="17" name="problem title 3"/>
          <p:cNvSpPr txBox="1"/>
          <p:nvPr/>
        </p:nvSpPr>
        <p:spPr>
          <a:xfrm>
            <a:off x="8321040" y="2651760"/>
            <a:ext cx="2926080" cy="457200"/>
          </a:xfrm>
          <a:prstGeom prst="rect">
            <a:avLst/>
          </a:prstGeom>
          <a:noFill/>
          <a:ln/>
        </p:spPr>
        <p:txBody>
          <a:bodyPr wrap="square" lIns="635" tIns="635" rIns="635" bIns="635" rtlCol="0" anchor="t"/>
          <a:lstStyle/>
          <a:p>
            <a:pPr indent="0" marL="0">
              <a:buNone/>
            </a:pPr>
            <a:r>
              <a:rPr lang="en-US" sz="2000" b="1" dirty="0">
                <a:solidFill>
                  <a:schemeClr val="tx1"/>
                </a:solidFill>
              </a:rPr>
              <a:t>Barriers for citizens</a:t>
            </a:r>
            <a:endParaRPr lang="en-US" sz="2000" dirty="0"/>
          </a:p>
        </p:txBody>
      </p:sp>
      <p:sp>
        <p:nvSpPr>
          <p:cNvPr id="18" name="problem text 3"/>
          <p:cNvSpPr txBox="1"/>
          <p:nvPr/>
        </p:nvSpPr>
        <p:spPr>
          <a:xfrm>
            <a:off x="8321040" y="3154680"/>
            <a:ext cx="2926080" cy="1097280"/>
          </a:xfrm>
          <a:prstGeom prst="rect">
            <a:avLst/>
          </a:prstGeom>
          <a:noFill/>
          <a:ln/>
        </p:spPr>
        <p:txBody>
          <a:bodyPr wrap="square" lIns="635" tIns="635" rIns="635" bIns="635" rtlCol="0" anchor="t"/>
          <a:lstStyle/>
          <a:p>
            <a:pPr indent="0" marL="0">
              <a:buNone/>
            </a:pPr>
            <a:r>
              <a:rPr lang="en-US" sz="1600" dirty="0">
                <a:solidFill>
                  <a:schemeClr val="tx2"/>
                </a:solidFill>
              </a:rPr>
              <a:t>Panic, dialect, no street name: forms and long calls fail</a:t>
            </a:r>
            <a:endParaRPr lang="en-US" sz="1600" dirty="0"/>
          </a:p>
        </p:txBody>
      </p:sp>
      <p:sp>
        <p:nvSpPr>
          <p:cNvPr id="19" name="goal band"/>
          <p:cNvSpPr/>
          <p:nvPr/>
        </p:nvSpPr>
        <p:spPr>
          <a:xfrm>
            <a:off x="548640" y="4709160"/>
            <a:ext cx="11094415" cy="1371600"/>
          </a:xfrm>
          <a:prstGeom prst="roundRect">
            <a:avLst>
              <a:gd name="adj" fmla="val 5333"/>
            </a:avLst>
          </a:prstGeom>
          <a:solidFill>
            <a:schemeClr val="tx1"/>
          </a:solidFill>
          <a:ln w="12700">
            <a:solidFill>
              <a:schemeClr val="tx1"/>
            </a:solidFill>
            <a:prstDash val="solid"/>
          </a:ln>
        </p:spPr>
      </p:sp>
      <p:sp>
        <p:nvSpPr>
          <p:cNvPr id="20" name="goal text"/>
          <p:cNvSpPr txBox="1"/>
          <p:nvPr/>
        </p:nvSpPr>
        <p:spPr>
          <a:xfrm>
            <a:off x="868680" y="4846320"/>
            <a:ext cx="10454335" cy="1097280"/>
          </a:xfrm>
          <a:prstGeom prst="rect">
            <a:avLst/>
          </a:prstGeom>
          <a:noFill/>
          <a:ln/>
        </p:spPr>
        <p:txBody>
          <a:bodyPr wrap="square" lIns="635" tIns="635" rIns="635" bIns="635" rtlCol="0" anchor="ctr"/>
          <a:lstStyle/>
          <a:p>
            <a:pPr indent="0" marL="0">
              <a:buNone/>
            </a:pPr>
            <a:r>
              <a:rPr lang="en-US" sz="2000" b="1" dirty="0">
                <a:solidFill>
                  <a:srgbClr val="F2A541"/>
                </a:solidFill>
              </a:rPr>
              <a:t>Goal: </a:t>
            </a:r>
            <a:pPr indent="0" marL="0">
              <a:buNone/>
            </a:pPr>
            <a:r>
              <a:rPr lang="en-US" sz="2000" dirty="0">
                <a:solidFill>
                  <a:srgbClr val="FFFFFF"/>
                </a:solidFill>
              </a:rPr>
              <a:t>a highest-danger-first queue. Any citizen reports in seconds, in their own language; the dispatcher receives a graded, explained ticket.</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From a photo to a graded rescue ticket</a:t>
            </a:r>
            <a:endParaRPr lang="en-US" sz="3400" dirty="0"/>
          </a:p>
        </p:txBody>
      </p:sp>
      <p:sp>
        <p:nvSpPr>
          <p:cNvPr id="4" name="inputs header"/>
          <p:cNvSpPr txBox="1"/>
          <p:nvPr/>
        </p:nvSpPr>
        <p:spPr>
          <a:xfrm>
            <a:off x="548640" y="1325880"/>
            <a:ext cx="2926080" cy="365760"/>
          </a:xfrm>
          <a:prstGeom prst="rect">
            <a:avLst/>
          </a:prstGeom>
          <a:noFill/>
          <a:ln/>
        </p:spPr>
        <p:txBody>
          <a:bodyPr wrap="square" lIns="635" tIns="635" rIns="635" bIns="635" rtlCol="0" anchor="t"/>
          <a:lstStyle/>
          <a:p>
            <a:pPr indent="0" marL="0">
              <a:buNone/>
            </a:pPr>
            <a:r>
              <a:rPr lang="en-US" sz="1600" b="1" dirty="0">
                <a:solidFill>
                  <a:schemeClr val="accent1"/>
                </a:solidFill>
              </a:rPr>
              <a:t>Citizen sends</a:t>
            </a:r>
            <a:endParaRPr lang="en-US" sz="1600" dirty="0"/>
          </a:p>
        </p:txBody>
      </p:sp>
      <p:sp>
        <p:nvSpPr>
          <p:cNvPr id="5" name="Photo circle"/>
          <p:cNvSpPr/>
          <p:nvPr/>
        </p:nvSpPr>
        <p:spPr>
          <a:xfrm>
            <a:off x="548640" y="1783080"/>
            <a:ext cx="640080" cy="640080"/>
          </a:xfrm>
          <a:prstGeom prst="ellipse">
            <a:avLst/>
          </a:prstGeom>
          <a:solidFill>
            <a:schemeClr val="accent1"/>
          </a:solidFill>
          <a:ln w="12700">
            <a:solidFill>
              <a:schemeClr val="accent1"/>
            </a:solidFill>
            <a:prstDash val="solid"/>
          </a:ln>
        </p:spPr>
      </p:sp>
      <p:pic>
        <p:nvPicPr>
          <p:cNvPr id="6" name="Photo icon" descr="preencoded.png">    </p:cNvPr>
          <p:cNvPicPr>
            <a:picLocks noChangeAspect="1"/>
          </p:cNvPicPr>
          <p:nvPr/>
        </p:nvPicPr>
        <p:blipFill>
          <a:blip r:embed="rId1"/>
          <a:stretch>
            <a:fillRect/>
          </a:stretch>
        </p:blipFill>
        <p:spPr>
          <a:xfrm>
            <a:off x="708660" y="1943100"/>
            <a:ext cx="320040" cy="320040"/>
          </a:xfrm>
          <a:prstGeom prst="rect">
            <a:avLst/>
          </a:prstGeom>
        </p:spPr>
      </p:pic>
      <p:sp>
        <p:nvSpPr>
          <p:cNvPr id="7" name="input Photo"/>
          <p:cNvSpPr txBox="1"/>
          <p:nvPr/>
        </p:nvSpPr>
        <p:spPr>
          <a:xfrm>
            <a:off x="1325880" y="1901952"/>
            <a:ext cx="2194560" cy="411480"/>
          </a:xfrm>
          <a:prstGeom prst="rect">
            <a:avLst/>
          </a:prstGeom>
          <a:noFill/>
          <a:ln/>
        </p:spPr>
        <p:txBody>
          <a:bodyPr wrap="square" lIns="635" tIns="635" rIns="635" bIns="635" rtlCol="0" anchor="t"/>
          <a:lstStyle/>
          <a:p>
            <a:pPr indent="0" marL="0">
              <a:buNone/>
            </a:pPr>
            <a:r>
              <a:rPr lang="en-US" sz="1600" dirty="0">
                <a:solidFill>
                  <a:schemeClr val="tx1"/>
                </a:solidFill>
              </a:rPr>
              <a:t>Photo</a:t>
            </a:r>
            <a:endParaRPr lang="en-US" sz="1600" dirty="0"/>
          </a:p>
        </p:txBody>
      </p:sp>
      <p:sp>
        <p:nvSpPr>
          <p:cNvPr id="8" name="Voice (Derja, FR, EN) circle"/>
          <p:cNvSpPr/>
          <p:nvPr/>
        </p:nvSpPr>
        <p:spPr>
          <a:xfrm>
            <a:off x="548640" y="2651760"/>
            <a:ext cx="640080" cy="640080"/>
          </a:xfrm>
          <a:prstGeom prst="ellipse">
            <a:avLst/>
          </a:prstGeom>
          <a:solidFill>
            <a:schemeClr val="accent1"/>
          </a:solidFill>
          <a:ln w="12700">
            <a:solidFill>
              <a:schemeClr val="accent1"/>
            </a:solidFill>
            <a:prstDash val="solid"/>
          </a:ln>
        </p:spPr>
      </p:sp>
      <p:pic>
        <p:nvPicPr>
          <p:cNvPr id="9" name="Voice (Derja, FR, EN) icon" descr="preencoded.png">    </p:cNvPr>
          <p:cNvPicPr>
            <a:picLocks noChangeAspect="1"/>
          </p:cNvPicPr>
          <p:nvPr/>
        </p:nvPicPr>
        <p:blipFill>
          <a:blip r:embed="rId2"/>
          <a:stretch>
            <a:fillRect/>
          </a:stretch>
        </p:blipFill>
        <p:spPr>
          <a:xfrm>
            <a:off x="708660" y="2811780"/>
            <a:ext cx="320040" cy="320040"/>
          </a:xfrm>
          <a:prstGeom prst="rect">
            <a:avLst/>
          </a:prstGeom>
        </p:spPr>
      </p:pic>
      <p:sp>
        <p:nvSpPr>
          <p:cNvPr id="10" name="input Voice (Derja, FR, EN)"/>
          <p:cNvSpPr txBox="1"/>
          <p:nvPr/>
        </p:nvSpPr>
        <p:spPr>
          <a:xfrm>
            <a:off x="1325880" y="2770632"/>
            <a:ext cx="2194560" cy="411480"/>
          </a:xfrm>
          <a:prstGeom prst="rect">
            <a:avLst/>
          </a:prstGeom>
          <a:noFill/>
          <a:ln/>
        </p:spPr>
        <p:txBody>
          <a:bodyPr wrap="square" lIns="635" tIns="635" rIns="635" bIns="635" rtlCol="0" anchor="t"/>
          <a:lstStyle/>
          <a:p>
            <a:pPr indent="0" marL="0">
              <a:buNone/>
            </a:pPr>
            <a:r>
              <a:rPr lang="en-US" sz="1600" dirty="0">
                <a:solidFill>
                  <a:schemeClr val="tx1"/>
                </a:solidFill>
              </a:rPr>
              <a:t>Voice (Derja, FR, EN)</a:t>
            </a:r>
            <a:endParaRPr lang="en-US" sz="1600" dirty="0"/>
          </a:p>
        </p:txBody>
      </p:sp>
      <p:sp>
        <p:nvSpPr>
          <p:cNvPr id="11" name="Text circle"/>
          <p:cNvSpPr/>
          <p:nvPr/>
        </p:nvSpPr>
        <p:spPr>
          <a:xfrm>
            <a:off x="548640" y="3520440"/>
            <a:ext cx="640080" cy="640080"/>
          </a:xfrm>
          <a:prstGeom prst="ellipse">
            <a:avLst/>
          </a:prstGeom>
          <a:solidFill>
            <a:schemeClr val="accent1"/>
          </a:solidFill>
          <a:ln w="12700">
            <a:solidFill>
              <a:schemeClr val="accent1"/>
            </a:solidFill>
            <a:prstDash val="solid"/>
          </a:ln>
        </p:spPr>
      </p:sp>
      <p:pic>
        <p:nvPicPr>
          <p:cNvPr id="12" name="Text icon" descr="preencoded.png">    </p:cNvPr>
          <p:cNvPicPr>
            <a:picLocks noChangeAspect="1"/>
          </p:cNvPicPr>
          <p:nvPr/>
        </p:nvPicPr>
        <p:blipFill>
          <a:blip r:embed="rId3"/>
          <a:stretch>
            <a:fillRect/>
          </a:stretch>
        </p:blipFill>
        <p:spPr>
          <a:xfrm>
            <a:off x="708660" y="3680460"/>
            <a:ext cx="320040" cy="320040"/>
          </a:xfrm>
          <a:prstGeom prst="rect">
            <a:avLst/>
          </a:prstGeom>
        </p:spPr>
      </p:pic>
      <p:sp>
        <p:nvSpPr>
          <p:cNvPr id="13" name="input Text"/>
          <p:cNvSpPr txBox="1"/>
          <p:nvPr/>
        </p:nvSpPr>
        <p:spPr>
          <a:xfrm>
            <a:off x="1325880" y="3639312"/>
            <a:ext cx="2194560" cy="411480"/>
          </a:xfrm>
          <a:prstGeom prst="rect">
            <a:avLst/>
          </a:prstGeom>
          <a:noFill/>
          <a:ln/>
        </p:spPr>
        <p:txBody>
          <a:bodyPr wrap="square" lIns="635" tIns="635" rIns="635" bIns="635" rtlCol="0" anchor="t"/>
          <a:lstStyle/>
          <a:p>
            <a:pPr indent="0" marL="0">
              <a:buNone/>
            </a:pPr>
            <a:r>
              <a:rPr lang="en-US" sz="1600" dirty="0">
                <a:solidFill>
                  <a:schemeClr val="tx1"/>
                </a:solidFill>
              </a:rPr>
              <a:t>Text</a:t>
            </a:r>
            <a:endParaRPr lang="en-US" sz="1600" dirty="0"/>
          </a:p>
        </p:txBody>
      </p:sp>
      <p:sp>
        <p:nvSpPr>
          <p:cNvPr id="14" name="GPS location circle"/>
          <p:cNvSpPr/>
          <p:nvPr/>
        </p:nvSpPr>
        <p:spPr>
          <a:xfrm>
            <a:off x="548640" y="4389120"/>
            <a:ext cx="640080" cy="640080"/>
          </a:xfrm>
          <a:prstGeom prst="ellipse">
            <a:avLst/>
          </a:prstGeom>
          <a:solidFill>
            <a:schemeClr val="accent1"/>
          </a:solidFill>
          <a:ln w="12700">
            <a:solidFill>
              <a:schemeClr val="accent1"/>
            </a:solidFill>
            <a:prstDash val="solid"/>
          </a:ln>
        </p:spPr>
      </p:sp>
      <p:pic>
        <p:nvPicPr>
          <p:cNvPr id="15" name="GPS location icon" descr="preencoded.png">    </p:cNvPr>
          <p:cNvPicPr>
            <a:picLocks noChangeAspect="1"/>
          </p:cNvPicPr>
          <p:nvPr/>
        </p:nvPicPr>
        <p:blipFill>
          <a:blip r:embed="rId4"/>
          <a:stretch>
            <a:fillRect/>
          </a:stretch>
        </p:blipFill>
        <p:spPr>
          <a:xfrm>
            <a:off x="708660" y="4549140"/>
            <a:ext cx="320040" cy="320040"/>
          </a:xfrm>
          <a:prstGeom prst="rect">
            <a:avLst/>
          </a:prstGeom>
        </p:spPr>
      </p:pic>
      <p:sp>
        <p:nvSpPr>
          <p:cNvPr id="16" name="input GPS location"/>
          <p:cNvSpPr txBox="1"/>
          <p:nvPr/>
        </p:nvSpPr>
        <p:spPr>
          <a:xfrm>
            <a:off x="1325880" y="4507992"/>
            <a:ext cx="2194560" cy="411480"/>
          </a:xfrm>
          <a:prstGeom prst="rect">
            <a:avLst/>
          </a:prstGeom>
          <a:noFill/>
          <a:ln/>
        </p:spPr>
        <p:txBody>
          <a:bodyPr wrap="square" lIns="635" tIns="635" rIns="635" bIns="635" rtlCol="0" anchor="t"/>
          <a:lstStyle/>
          <a:p>
            <a:pPr indent="0" marL="0">
              <a:buNone/>
            </a:pPr>
            <a:r>
              <a:rPr lang="en-US" sz="1600" dirty="0">
                <a:solidFill>
                  <a:schemeClr val="tx1"/>
                </a:solidFill>
              </a:rPr>
              <a:t>GPS location</a:t>
            </a:r>
            <a:endParaRPr lang="en-US" sz="1600" dirty="0"/>
          </a:p>
        </p:txBody>
      </p:sp>
      <p:pic>
        <p:nvPicPr>
          <p:cNvPr id="17" name="arrow" descr="preencoded.png">    </p:cNvPr>
          <p:cNvPicPr>
            <a:picLocks noChangeAspect="1"/>
          </p:cNvPicPr>
          <p:nvPr/>
        </p:nvPicPr>
        <p:blipFill>
          <a:blip r:embed="rId5"/>
          <a:stretch>
            <a:fillRect/>
          </a:stretch>
        </p:blipFill>
        <p:spPr>
          <a:xfrm>
            <a:off x="3611880" y="2880360"/>
            <a:ext cx="548640" cy="548640"/>
          </a:xfrm>
          <a:prstGeom prst="rect">
            <a:avLst/>
          </a:prstGeom>
        </p:spPr>
      </p:pic>
      <p:sp>
        <p:nvSpPr>
          <p:cNvPr id="18" name="ticket card"/>
          <p:cNvSpPr/>
          <p:nvPr/>
        </p:nvSpPr>
        <p:spPr>
          <a:xfrm>
            <a:off x="4389120" y="1325880"/>
            <a:ext cx="7251192" cy="3520440"/>
          </a:xfrm>
          <a:prstGeom prst="roundRect">
            <a:avLst>
              <a:gd name="adj" fmla="val 2078"/>
            </a:avLst>
          </a:prstGeom>
          <a:solidFill>
            <a:schemeClr val="bg2"/>
          </a:solidFill>
          <a:ln w="12700">
            <a:solidFill>
              <a:schemeClr val="bg2"/>
            </a:solidFill>
            <a:prstDash val="solid"/>
          </a:ln>
        </p:spPr>
      </p:sp>
      <p:sp>
        <p:nvSpPr>
          <p:cNvPr id="19" name="ticket title"/>
          <p:cNvSpPr txBox="1"/>
          <p:nvPr/>
        </p:nvSpPr>
        <p:spPr>
          <a:xfrm>
            <a:off x="4663440" y="1463040"/>
            <a:ext cx="6766560" cy="411480"/>
          </a:xfrm>
          <a:prstGeom prst="rect">
            <a:avLst/>
          </a:prstGeom>
          <a:noFill/>
          <a:ln/>
        </p:spPr>
        <p:txBody>
          <a:bodyPr wrap="square" lIns="635" tIns="635" rIns="635" bIns="635" rtlCol="0" anchor="t"/>
          <a:lstStyle/>
          <a:p>
            <a:pPr indent="0" marL="0">
              <a:buNone/>
            </a:pPr>
            <a:r>
              <a:rPr lang="en-US" sz="1800" b="1" dirty="0">
                <a:solidFill>
                  <a:schemeClr val="tx1"/>
                </a:solidFill>
              </a:rPr>
              <a:t>Dispatcher ticket (and reply to the citizen)</a:t>
            </a:r>
            <a:endParaRPr lang="en-US" sz="1800" dirty="0"/>
          </a:p>
        </p:txBody>
      </p:sp>
      <p:sp>
        <p:nvSpPr>
          <p:cNvPr id="20" name="P1 chip"/>
          <p:cNvSpPr/>
          <p:nvPr/>
        </p:nvSpPr>
        <p:spPr>
          <a:xfrm>
            <a:off x="4663440" y="2011680"/>
            <a:ext cx="777240" cy="548640"/>
          </a:xfrm>
          <a:prstGeom prst="roundRect">
            <a:avLst>
              <a:gd name="adj" fmla="val 13333"/>
            </a:avLst>
          </a:prstGeom>
          <a:solidFill>
            <a:srgbClr val="C0392B"/>
          </a:solidFill>
          <a:ln w="12700">
            <a:solidFill>
              <a:srgbClr val="C0392B"/>
            </a:solidFill>
            <a:prstDash val="solid"/>
          </a:ln>
        </p:spPr>
      </p:sp>
      <p:sp>
        <p:nvSpPr>
          <p:cNvPr id="21" name="P1 label"/>
          <p:cNvSpPr txBox="1"/>
          <p:nvPr/>
        </p:nvSpPr>
        <p:spPr>
          <a:xfrm>
            <a:off x="4663440" y="2011680"/>
            <a:ext cx="777240" cy="548640"/>
          </a:xfrm>
          <a:prstGeom prst="rect">
            <a:avLst/>
          </a:prstGeom>
          <a:noFill/>
          <a:ln/>
        </p:spPr>
        <p:txBody>
          <a:bodyPr wrap="square" lIns="635" tIns="635" rIns="635" bIns="635" rtlCol="0" anchor="ctr"/>
          <a:lstStyle/>
          <a:p>
            <a:pPr algn="ctr" indent="0" marL="0">
              <a:buNone/>
            </a:pPr>
            <a:r>
              <a:rPr lang="en-US" sz="1800" b="1" dirty="0">
                <a:solidFill>
                  <a:srgbClr val="FFFFFF"/>
                </a:solidFill>
              </a:rPr>
              <a:t>P1</a:t>
            </a:r>
            <a:endParaRPr lang="en-US" sz="1800" dirty="0"/>
          </a:p>
        </p:txBody>
      </p:sp>
      <p:sp>
        <p:nvSpPr>
          <p:cNvPr id="22" name="P1 trigger"/>
          <p:cNvSpPr txBox="1"/>
          <p:nvPr/>
        </p:nvSpPr>
        <p:spPr>
          <a:xfrm>
            <a:off x="5577840" y="1993392"/>
            <a:ext cx="3566160" cy="594360"/>
          </a:xfrm>
          <a:prstGeom prst="rect">
            <a:avLst/>
          </a:prstGeom>
          <a:noFill/>
          <a:ln/>
        </p:spPr>
        <p:txBody>
          <a:bodyPr wrap="square" lIns="635" tIns="635" rIns="635" bIns="635" rtlCol="0" anchor="ctr"/>
          <a:lstStyle/>
          <a:p>
            <a:pPr indent="0" marL="0">
              <a:buNone/>
            </a:pPr>
            <a:r>
              <a:rPr lang="en-US" sz="1400" dirty="0">
                <a:solidFill>
                  <a:schemeClr val="tx1"/>
                </a:solidFill>
              </a:rPr>
              <a:t>Depth &gt; 100 cm, trapped vulnerable person, people in moving water</a:t>
            </a:r>
            <a:endParaRPr lang="en-US" sz="1400" dirty="0"/>
          </a:p>
        </p:txBody>
      </p:sp>
      <p:sp>
        <p:nvSpPr>
          <p:cNvPr id="23" name="P1 asset"/>
          <p:cNvSpPr txBox="1"/>
          <p:nvPr/>
        </p:nvSpPr>
        <p:spPr>
          <a:xfrm>
            <a:off x="9235440" y="1993392"/>
            <a:ext cx="2286000" cy="594360"/>
          </a:xfrm>
          <a:prstGeom prst="rect">
            <a:avLst/>
          </a:prstGeom>
          <a:noFill/>
          <a:ln/>
        </p:spPr>
        <p:txBody>
          <a:bodyPr wrap="square" lIns="635" tIns="635" rIns="635" bIns="635" rtlCol="0" anchor="ctr"/>
          <a:lstStyle/>
          <a:p>
            <a:pPr indent="0" marL="0">
              <a:buNone/>
            </a:pPr>
            <a:r>
              <a:rPr lang="en-US" sz="1400" b="1" dirty="0">
                <a:solidFill>
                  <a:schemeClr val="tx2"/>
                </a:solidFill>
              </a:rPr>
              <a:t>Boat / helicopter (+ paramedic)</a:t>
            </a:r>
            <a:endParaRPr lang="en-US" sz="1400" dirty="0"/>
          </a:p>
        </p:txBody>
      </p:sp>
      <p:sp>
        <p:nvSpPr>
          <p:cNvPr id="24" name="P2 chip"/>
          <p:cNvSpPr/>
          <p:nvPr/>
        </p:nvSpPr>
        <p:spPr>
          <a:xfrm>
            <a:off x="4663440" y="2697480"/>
            <a:ext cx="777240" cy="548640"/>
          </a:xfrm>
          <a:prstGeom prst="roundRect">
            <a:avLst>
              <a:gd name="adj" fmla="val 13333"/>
            </a:avLst>
          </a:prstGeom>
          <a:solidFill>
            <a:srgbClr val="E67E22"/>
          </a:solidFill>
          <a:ln w="12700">
            <a:solidFill>
              <a:srgbClr val="E67E22"/>
            </a:solidFill>
            <a:prstDash val="solid"/>
          </a:ln>
        </p:spPr>
      </p:sp>
      <p:sp>
        <p:nvSpPr>
          <p:cNvPr id="25" name="P2 label"/>
          <p:cNvSpPr txBox="1"/>
          <p:nvPr/>
        </p:nvSpPr>
        <p:spPr>
          <a:xfrm>
            <a:off x="4663440" y="2697480"/>
            <a:ext cx="777240" cy="548640"/>
          </a:xfrm>
          <a:prstGeom prst="rect">
            <a:avLst/>
          </a:prstGeom>
          <a:noFill/>
          <a:ln/>
        </p:spPr>
        <p:txBody>
          <a:bodyPr wrap="square" lIns="635" tIns="635" rIns="635" bIns="635" rtlCol="0" anchor="ctr"/>
          <a:lstStyle/>
          <a:p>
            <a:pPr algn="ctr" indent="0" marL="0">
              <a:buNone/>
            </a:pPr>
            <a:r>
              <a:rPr lang="en-US" sz="1800" b="1" dirty="0">
                <a:solidFill>
                  <a:srgbClr val="FFFFFF"/>
                </a:solidFill>
              </a:rPr>
              <a:t>P2</a:t>
            </a:r>
            <a:endParaRPr lang="en-US" sz="1800" dirty="0"/>
          </a:p>
        </p:txBody>
      </p:sp>
      <p:sp>
        <p:nvSpPr>
          <p:cNvPr id="26" name="P2 trigger"/>
          <p:cNvSpPr txBox="1"/>
          <p:nvPr/>
        </p:nvSpPr>
        <p:spPr>
          <a:xfrm>
            <a:off x="5577840" y="2679192"/>
            <a:ext cx="3566160" cy="594360"/>
          </a:xfrm>
          <a:prstGeom prst="rect">
            <a:avLst/>
          </a:prstGeom>
          <a:noFill/>
          <a:ln/>
        </p:spPr>
        <p:txBody>
          <a:bodyPr wrap="square" lIns="635" tIns="635" rIns="635" bIns="635" rtlCol="0" anchor="ctr"/>
          <a:lstStyle/>
          <a:p>
            <a:pPr indent="0" marL="0">
              <a:buNone/>
            </a:pPr>
            <a:r>
              <a:rPr lang="en-US" sz="1400" dirty="0">
                <a:solidFill>
                  <a:schemeClr val="tx1"/>
                </a:solidFill>
              </a:rPr>
              <a:t>Depth 50-100 cm, rising water, stranded vehicles</a:t>
            </a:r>
            <a:endParaRPr lang="en-US" sz="1400" dirty="0"/>
          </a:p>
        </p:txBody>
      </p:sp>
      <p:sp>
        <p:nvSpPr>
          <p:cNvPr id="27" name="P2 asset"/>
          <p:cNvSpPr txBox="1"/>
          <p:nvPr/>
        </p:nvSpPr>
        <p:spPr>
          <a:xfrm>
            <a:off x="9235440" y="2679192"/>
            <a:ext cx="2286000" cy="594360"/>
          </a:xfrm>
          <a:prstGeom prst="rect">
            <a:avLst/>
          </a:prstGeom>
          <a:noFill/>
          <a:ln/>
        </p:spPr>
        <p:txBody>
          <a:bodyPr wrap="square" lIns="635" tIns="635" rIns="635" bIns="635" rtlCol="0" anchor="ctr"/>
          <a:lstStyle/>
          <a:p>
            <a:pPr indent="0" marL="0">
              <a:buNone/>
            </a:pPr>
            <a:r>
              <a:rPr lang="en-US" sz="1400" b="1" dirty="0">
                <a:solidFill>
                  <a:schemeClr val="tx2"/>
                </a:solidFill>
              </a:rPr>
              <a:t>High-clearance 4x4</a:t>
            </a:r>
            <a:endParaRPr lang="en-US" sz="1400" dirty="0"/>
          </a:p>
        </p:txBody>
      </p:sp>
      <p:sp>
        <p:nvSpPr>
          <p:cNvPr id="28" name="P3 chip"/>
          <p:cNvSpPr/>
          <p:nvPr/>
        </p:nvSpPr>
        <p:spPr>
          <a:xfrm>
            <a:off x="4663440" y="3383280"/>
            <a:ext cx="777240" cy="548640"/>
          </a:xfrm>
          <a:prstGeom prst="roundRect">
            <a:avLst>
              <a:gd name="adj" fmla="val 13333"/>
            </a:avLst>
          </a:prstGeom>
          <a:solidFill>
            <a:srgbClr val="D4AC0D"/>
          </a:solidFill>
          <a:ln w="12700">
            <a:solidFill>
              <a:srgbClr val="D4AC0D"/>
            </a:solidFill>
            <a:prstDash val="solid"/>
          </a:ln>
        </p:spPr>
      </p:sp>
      <p:sp>
        <p:nvSpPr>
          <p:cNvPr id="29" name="P3 label"/>
          <p:cNvSpPr txBox="1"/>
          <p:nvPr/>
        </p:nvSpPr>
        <p:spPr>
          <a:xfrm>
            <a:off x="4663440" y="3383280"/>
            <a:ext cx="777240" cy="548640"/>
          </a:xfrm>
          <a:prstGeom prst="rect">
            <a:avLst/>
          </a:prstGeom>
          <a:noFill/>
          <a:ln/>
        </p:spPr>
        <p:txBody>
          <a:bodyPr wrap="square" lIns="635" tIns="635" rIns="635" bIns="635" rtlCol="0" anchor="ctr"/>
          <a:lstStyle/>
          <a:p>
            <a:pPr algn="ctr" indent="0" marL="0">
              <a:buNone/>
            </a:pPr>
            <a:r>
              <a:rPr lang="en-US" sz="1800" b="1" dirty="0">
                <a:solidFill>
                  <a:srgbClr val="FFFFFF"/>
                </a:solidFill>
              </a:rPr>
              <a:t>P3</a:t>
            </a:r>
            <a:endParaRPr lang="en-US" sz="1800" dirty="0"/>
          </a:p>
        </p:txBody>
      </p:sp>
      <p:sp>
        <p:nvSpPr>
          <p:cNvPr id="30" name="P3 trigger"/>
          <p:cNvSpPr txBox="1"/>
          <p:nvPr/>
        </p:nvSpPr>
        <p:spPr>
          <a:xfrm>
            <a:off x="5577840" y="3364992"/>
            <a:ext cx="3566160" cy="594360"/>
          </a:xfrm>
          <a:prstGeom prst="rect">
            <a:avLst/>
          </a:prstGeom>
          <a:noFill/>
          <a:ln/>
        </p:spPr>
        <p:txBody>
          <a:bodyPr wrap="square" lIns="635" tIns="635" rIns="635" bIns="635" rtlCol="0" anchor="ctr"/>
          <a:lstStyle/>
          <a:p>
            <a:pPr indent="0" marL="0">
              <a:buNone/>
            </a:pPr>
            <a:r>
              <a:rPr lang="en-US" sz="1400" dirty="0">
                <a:solidFill>
                  <a:schemeClr val="tx1"/>
                </a:solidFill>
              </a:rPr>
              <a:t>Roadway water 20-50 cm, local damage</a:t>
            </a:r>
            <a:endParaRPr lang="en-US" sz="1400" dirty="0"/>
          </a:p>
        </p:txBody>
      </p:sp>
      <p:sp>
        <p:nvSpPr>
          <p:cNvPr id="31" name="P3 asset"/>
          <p:cNvSpPr txBox="1"/>
          <p:nvPr/>
        </p:nvSpPr>
        <p:spPr>
          <a:xfrm>
            <a:off x="9235440" y="3364992"/>
            <a:ext cx="2286000" cy="594360"/>
          </a:xfrm>
          <a:prstGeom prst="rect">
            <a:avLst/>
          </a:prstGeom>
          <a:noFill/>
          <a:ln/>
        </p:spPr>
        <p:txBody>
          <a:bodyPr wrap="square" lIns="635" tIns="635" rIns="635" bIns="635" rtlCol="0" anchor="ctr"/>
          <a:lstStyle/>
          <a:p>
            <a:pPr indent="0" marL="0">
              <a:buNone/>
            </a:pPr>
            <a:r>
              <a:rPr lang="en-US" sz="1400" b="1" dirty="0">
                <a:solidFill>
                  <a:schemeClr val="tx2"/>
                </a:solidFill>
              </a:rPr>
              <a:t>Tow trucks, road closure</a:t>
            </a:r>
            <a:endParaRPr lang="en-US" sz="1400" dirty="0"/>
          </a:p>
        </p:txBody>
      </p:sp>
      <p:sp>
        <p:nvSpPr>
          <p:cNvPr id="32" name="P4 chip"/>
          <p:cNvSpPr/>
          <p:nvPr/>
        </p:nvSpPr>
        <p:spPr>
          <a:xfrm>
            <a:off x="4663440" y="4069080"/>
            <a:ext cx="777240" cy="548640"/>
          </a:xfrm>
          <a:prstGeom prst="roundRect">
            <a:avLst>
              <a:gd name="adj" fmla="val 13333"/>
            </a:avLst>
          </a:prstGeom>
          <a:solidFill>
            <a:srgbClr val="2A9D5C"/>
          </a:solidFill>
          <a:ln w="12700">
            <a:solidFill>
              <a:srgbClr val="2A9D5C"/>
            </a:solidFill>
            <a:prstDash val="solid"/>
          </a:ln>
        </p:spPr>
      </p:sp>
      <p:sp>
        <p:nvSpPr>
          <p:cNvPr id="33" name="P4 label"/>
          <p:cNvSpPr txBox="1"/>
          <p:nvPr/>
        </p:nvSpPr>
        <p:spPr>
          <a:xfrm>
            <a:off x="4663440" y="4069080"/>
            <a:ext cx="777240" cy="548640"/>
          </a:xfrm>
          <a:prstGeom prst="rect">
            <a:avLst/>
          </a:prstGeom>
          <a:noFill/>
          <a:ln/>
        </p:spPr>
        <p:txBody>
          <a:bodyPr wrap="square" lIns="635" tIns="635" rIns="635" bIns="635" rtlCol="0" anchor="ctr"/>
          <a:lstStyle/>
          <a:p>
            <a:pPr algn="ctr" indent="0" marL="0">
              <a:buNone/>
            </a:pPr>
            <a:r>
              <a:rPr lang="en-US" sz="1800" b="1" dirty="0">
                <a:solidFill>
                  <a:srgbClr val="FFFFFF"/>
                </a:solidFill>
              </a:rPr>
              <a:t>P4</a:t>
            </a:r>
            <a:endParaRPr lang="en-US" sz="1800" dirty="0"/>
          </a:p>
        </p:txBody>
      </p:sp>
      <p:sp>
        <p:nvSpPr>
          <p:cNvPr id="34" name="P4 trigger"/>
          <p:cNvSpPr txBox="1"/>
          <p:nvPr/>
        </p:nvSpPr>
        <p:spPr>
          <a:xfrm>
            <a:off x="5577840" y="4050792"/>
            <a:ext cx="3566160" cy="594360"/>
          </a:xfrm>
          <a:prstGeom prst="rect">
            <a:avLst/>
          </a:prstGeom>
          <a:noFill/>
          <a:ln/>
        </p:spPr>
        <p:txBody>
          <a:bodyPr wrap="square" lIns="635" tIns="635" rIns="635" bIns="635" rtlCol="0" anchor="ctr"/>
          <a:lstStyle/>
          <a:p>
            <a:pPr indent="0" marL="0">
              <a:buNone/>
            </a:pPr>
            <a:r>
              <a:rPr lang="en-US" sz="1400" dirty="0">
                <a:solidFill>
                  <a:schemeClr val="tx1"/>
                </a:solidFill>
              </a:rPr>
              <a:t>Pavement flooding below 20 cm</a:t>
            </a:r>
            <a:endParaRPr lang="en-US" sz="1400" dirty="0"/>
          </a:p>
        </p:txBody>
      </p:sp>
      <p:sp>
        <p:nvSpPr>
          <p:cNvPr id="35" name="P4 asset"/>
          <p:cNvSpPr txBox="1"/>
          <p:nvPr/>
        </p:nvSpPr>
        <p:spPr>
          <a:xfrm>
            <a:off x="9235440" y="4050792"/>
            <a:ext cx="2286000" cy="594360"/>
          </a:xfrm>
          <a:prstGeom prst="rect">
            <a:avLst/>
          </a:prstGeom>
          <a:noFill/>
          <a:ln/>
        </p:spPr>
        <p:txBody>
          <a:bodyPr wrap="square" lIns="635" tIns="635" rIns="635" bIns="635" rtlCol="0" anchor="ctr"/>
          <a:lstStyle/>
          <a:p>
            <a:pPr indent="0" marL="0">
              <a:buNone/>
            </a:pPr>
            <a:r>
              <a:rPr lang="en-US" sz="1400" b="1" dirty="0">
                <a:solidFill>
                  <a:schemeClr val="tx2"/>
                </a:solidFill>
              </a:rPr>
              <a:t>Patrol unit / drone</a:t>
            </a:r>
            <a:endParaRPr lang="en-US" sz="1400" dirty="0"/>
          </a:p>
        </p:txBody>
      </p:sp>
      <p:sp>
        <p:nvSpPr>
          <p:cNvPr id="36" name="output chip 1"/>
          <p:cNvSpPr/>
          <p:nvPr/>
        </p:nvSpPr>
        <p:spPr>
          <a:xfrm>
            <a:off x="548640" y="5120640"/>
            <a:ext cx="2606040" cy="822960"/>
          </a:xfrm>
          <a:prstGeom prst="roundRect">
            <a:avLst>
              <a:gd name="adj" fmla="val 8889"/>
            </a:avLst>
          </a:prstGeom>
          <a:solidFill>
            <a:srgbClr val="E3F1F2"/>
          </a:solidFill>
          <a:ln w="12700">
            <a:solidFill>
              <a:srgbClr val="E3F1F2"/>
            </a:solidFill>
            <a:prstDash val="solid"/>
          </a:ln>
        </p:spPr>
      </p:sp>
      <p:sp>
        <p:nvSpPr>
          <p:cNvPr id="37" name="output 1"/>
          <p:cNvSpPr txBox="1"/>
          <p:nvPr/>
        </p:nvSpPr>
        <p:spPr>
          <a:xfrm>
            <a:off x="685800" y="5120640"/>
            <a:ext cx="2331720" cy="822960"/>
          </a:xfrm>
          <a:prstGeom prst="rect">
            <a:avLst/>
          </a:prstGeom>
          <a:noFill/>
          <a:ln/>
        </p:spPr>
        <p:txBody>
          <a:bodyPr wrap="square" lIns="635" tIns="635" rIns="635" bIns="635" rtlCol="0" anchor="ctr"/>
          <a:lstStyle/>
          <a:p>
            <a:pPr algn="ctr" indent="0" marL="0">
              <a:buNone/>
            </a:pPr>
            <a:r>
              <a:rPr lang="en-US" sz="1600" dirty="0">
                <a:solidFill>
                  <a:schemeClr val="tx1"/>
                </a:solidFill>
              </a:rPr>
              <a:t>Water depth + source</a:t>
            </a:r>
            <a:endParaRPr lang="en-US" sz="1600" dirty="0"/>
          </a:p>
        </p:txBody>
      </p:sp>
      <p:sp>
        <p:nvSpPr>
          <p:cNvPr id="38" name="output chip 2"/>
          <p:cNvSpPr/>
          <p:nvPr/>
        </p:nvSpPr>
        <p:spPr>
          <a:xfrm>
            <a:off x="3355848" y="5120640"/>
            <a:ext cx="2606040" cy="822960"/>
          </a:xfrm>
          <a:prstGeom prst="roundRect">
            <a:avLst>
              <a:gd name="adj" fmla="val 8889"/>
            </a:avLst>
          </a:prstGeom>
          <a:solidFill>
            <a:srgbClr val="E3F1F2"/>
          </a:solidFill>
          <a:ln w="12700">
            <a:solidFill>
              <a:srgbClr val="E3F1F2"/>
            </a:solidFill>
            <a:prstDash val="solid"/>
          </a:ln>
        </p:spPr>
      </p:sp>
      <p:sp>
        <p:nvSpPr>
          <p:cNvPr id="39" name="output 2"/>
          <p:cNvSpPr txBox="1"/>
          <p:nvPr/>
        </p:nvSpPr>
        <p:spPr>
          <a:xfrm>
            <a:off x="3493008" y="5120640"/>
            <a:ext cx="2331720" cy="822960"/>
          </a:xfrm>
          <a:prstGeom prst="rect">
            <a:avLst/>
          </a:prstGeom>
          <a:noFill/>
          <a:ln/>
        </p:spPr>
        <p:txBody>
          <a:bodyPr wrap="square" lIns="635" tIns="635" rIns="635" bIns="635" rtlCol="0" anchor="ctr"/>
          <a:lstStyle/>
          <a:p>
            <a:pPr algn="ctr" indent="0" marL="0">
              <a:buNone/>
            </a:pPr>
            <a:r>
              <a:rPr lang="en-US" sz="1600" dirty="0">
                <a:solidFill>
                  <a:schemeClr val="tx1"/>
                </a:solidFill>
              </a:rPr>
              <a:t>Victims, trapped, medical</a:t>
            </a:r>
            <a:endParaRPr lang="en-US" sz="1600" dirty="0"/>
          </a:p>
        </p:txBody>
      </p:sp>
      <p:sp>
        <p:nvSpPr>
          <p:cNvPr id="40" name="output chip 3"/>
          <p:cNvSpPr/>
          <p:nvPr/>
        </p:nvSpPr>
        <p:spPr>
          <a:xfrm>
            <a:off x="6163056" y="5120640"/>
            <a:ext cx="2606040" cy="822960"/>
          </a:xfrm>
          <a:prstGeom prst="roundRect">
            <a:avLst>
              <a:gd name="adj" fmla="val 8889"/>
            </a:avLst>
          </a:prstGeom>
          <a:solidFill>
            <a:srgbClr val="E3F1F2"/>
          </a:solidFill>
          <a:ln w="12700">
            <a:solidFill>
              <a:srgbClr val="E3F1F2"/>
            </a:solidFill>
            <a:prstDash val="solid"/>
          </a:ln>
        </p:spPr>
      </p:sp>
      <p:sp>
        <p:nvSpPr>
          <p:cNvPr id="41" name="output 3"/>
          <p:cNvSpPr txBox="1"/>
          <p:nvPr/>
        </p:nvSpPr>
        <p:spPr>
          <a:xfrm>
            <a:off x="6300216" y="5120640"/>
            <a:ext cx="2331720" cy="822960"/>
          </a:xfrm>
          <a:prstGeom prst="rect">
            <a:avLst/>
          </a:prstGeom>
          <a:noFill/>
          <a:ln/>
        </p:spPr>
        <p:txBody>
          <a:bodyPr wrap="square" lIns="635" tIns="635" rIns="635" bIns="635" rtlCol="0" anchor="ctr"/>
          <a:lstStyle/>
          <a:p>
            <a:pPr algn="ctr" indent="0" marL="0">
              <a:buNone/>
            </a:pPr>
            <a:r>
              <a:rPr lang="en-US" sz="1600" dirty="0">
                <a:solidFill>
                  <a:schemeClr val="tx1"/>
                </a:solidFill>
              </a:rPr>
              <a:t>Rescue asset + safety advice</a:t>
            </a:r>
            <a:endParaRPr lang="en-US" sz="1600" dirty="0"/>
          </a:p>
        </p:txBody>
      </p:sp>
      <p:sp>
        <p:nvSpPr>
          <p:cNvPr id="42" name="output chip 4"/>
          <p:cNvSpPr/>
          <p:nvPr/>
        </p:nvSpPr>
        <p:spPr>
          <a:xfrm>
            <a:off x="8970264" y="5120640"/>
            <a:ext cx="2606040" cy="822960"/>
          </a:xfrm>
          <a:prstGeom prst="roundRect">
            <a:avLst>
              <a:gd name="adj" fmla="val 8889"/>
            </a:avLst>
          </a:prstGeom>
          <a:solidFill>
            <a:srgbClr val="E3F1F2"/>
          </a:solidFill>
          <a:ln w="12700">
            <a:solidFill>
              <a:srgbClr val="E3F1F2"/>
            </a:solidFill>
            <a:prstDash val="solid"/>
          </a:ln>
        </p:spPr>
      </p:sp>
      <p:sp>
        <p:nvSpPr>
          <p:cNvPr id="43" name="output 4"/>
          <p:cNvSpPr txBox="1"/>
          <p:nvPr/>
        </p:nvSpPr>
        <p:spPr>
          <a:xfrm>
            <a:off x="9107424" y="5120640"/>
            <a:ext cx="2331720" cy="822960"/>
          </a:xfrm>
          <a:prstGeom prst="rect">
            <a:avLst/>
          </a:prstGeom>
          <a:noFill/>
          <a:ln/>
        </p:spPr>
        <p:txBody>
          <a:bodyPr wrap="square" lIns="635" tIns="635" rIns="635" bIns="635" rtlCol="0" anchor="ctr"/>
          <a:lstStyle/>
          <a:p>
            <a:pPr algn="ctr" indent="0" marL="0">
              <a:buNone/>
            </a:pPr>
            <a:r>
              <a:rPr lang="en-US" sz="1600" dirty="0">
                <a:solidFill>
                  <a:schemeClr val="tx1"/>
                </a:solidFill>
              </a:rPr>
              <a:t>Human review flag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Choice of tools: free, multimodal, agent-ready</a:t>
            </a:r>
            <a:endParaRPr lang="en-US" sz="3400" dirty="0"/>
          </a:p>
        </p:txBody>
      </p:sp>
      <p:sp>
        <p:nvSpPr>
          <p:cNvPr id="4" name="tool card 1"/>
          <p:cNvSpPr/>
          <p:nvPr/>
        </p:nvSpPr>
        <p:spPr>
          <a:xfrm>
            <a:off x="548640" y="1371600"/>
            <a:ext cx="3520440" cy="2194560"/>
          </a:xfrm>
          <a:prstGeom prst="roundRect">
            <a:avLst>
              <a:gd name="adj" fmla="val 3333"/>
            </a:avLst>
          </a:prstGeom>
          <a:solidFill>
            <a:schemeClr val="bg2"/>
          </a:solidFill>
          <a:ln w="12700">
            <a:solidFill>
              <a:schemeClr val="bg2"/>
            </a:solidFill>
            <a:prstDash val="solid"/>
          </a:ln>
        </p:spPr>
      </p:sp>
      <p:sp>
        <p:nvSpPr>
          <p:cNvPr id="5" name="n8n (self-hosted) circle"/>
          <p:cNvSpPr/>
          <p:nvPr/>
        </p:nvSpPr>
        <p:spPr>
          <a:xfrm>
            <a:off x="777240" y="1600200"/>
            <a:ext cx="640080" cy="640080"/>
          </a:xfrm>
          <a:prstGeom prst="ellipse">
            <a:avLst/>
          </a:prstGeom>
          <a:solidFill>
            <a:schemeClr val="accent1"/>
          </a:solidFill>
          <a:ln w="12700">
            <a:solidFill>
              <a:schemeClr val="accent1"/>
            </a:solidFill>
            <a:prstDash val="solid"/>
          </a:ln>
        </p:spPr>
      </p:sp>
      <p:pic>
        <p:nvPicPr>
          <p:cNvPr id="6" name="n8n (self-hosted) icon"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7" name="tool name 1"/>
          <p:cNvSpPr txBox="1"/>
          <p:nvPr/>
        </p:nvSpPr>
        <p:spPr>
          <a:xfrm>
            <a:off x="155448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n8n (self-hosted)</a:t>
            </a:r>
            <a:endParaRPr lang="en-US" sz="1800" dirty="0"/>
          </a:p>
        </p:txBody>
      </p:sp>
      <p:sp>
        <p:nvSpPr>
          <p:cNvPr id="8" name="tool why 1"/>
          <p:cNvSpPr txBox="1"/>
          <p:nvPr/>
        </p:nvSpPr>
        <p:spPr>
          <a:xfrm>
            <a:off x="777240" y="237744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AI Agent and Agent-Tool nodes, output parsers, binary files; JSON export; no subscription</a:t>
            </a:r>
            <a:endParaRPr lang="en-US" sz="1500" dirty="0"/>
          </a:p>
        </p:txBody>
      </p:sp>
      <p:sp>
        <p:nvSpPr>
          <p:cNvPr id="9" name="tool card 2"/>
          <p:cNvSpPr/>
          <p:nvPr/>
        </p:nvSpPr>
        <p:spPr>
          <a:xfrm>
            <a:off x="4297680" y="1371600"/>
            <a:ext cx="3520440" cy="2194560"/>
          </a:xfrm>
          <a:prstGeom prst="roundRect">
            <a:avLst>
              <a:gd name="adj" fmla="val 3333"/>
            </a:avLst>
          </a:prstGeom>
          <a:solidFill>
            <a:schemeClr val="bg2"/>
          </a:solidFill>
          <a:ln w="12700">
            <a:solidFill>
              <a:schemeClr val="bg2"/>
            </a:solidFill>
            <a:prstDash val="solid"/>
          </a:ln>
        </p:spPr>
      </p:sp>
      <p:sp>
        <p:nvSpPr>
          <p:cNvPr id="10" name="Telegram bot circle"/>
          <p:cNvSpPr/>
          <p:nvPr/>
        </p:nvSpPr>
        <p:spPr>
          <a:xfrm>
            <a:off x="4526280" y="1600200"/>
            <a:ext cx="640080" cy="640080"/>
          </a:xfrm>
          <a:prstGeom prst="ellipse">
            <a:avLst/>
          </a:prstGeom>
          <a:solidFill>
            <a:schemeClr val="accent1"/>
          </a:solidFill>
          <a:ln w="12700">
            <a:solidFill>
              <a:schemeClr val="accent1"/>
            </a:solidFill>
            <a:prstDash val="solid"/>
          </a:ln>
        </p:spPr>
      </p:sp>
      <p:pic>
        <p:nvPicPr>
          <p:cNvPr id="11" name="Telegram bot icon" descr="preencoded.png">    </p:cNvPr>
          <p:cNvPicPr>
            <a:picLocks noChangeAspect="1"/>
          </p:cNvPicPr>
          <p:nvPr/>
        </p:nvPicPr>
        <p:blipFill>
          <a:blip r:embed="rId2"/>
          <a:stretch>
            <a:fillRect/>
          </a:stretch>
        </p:blipFill>
        <p:spPr>
          <a:xfrm>
            <a:off x="4686300" y="1760220"/>
            <a:ext cx="320040" cy="320040"/>
          </a:xfrm>
          <a:prstGeom prst="rect">
            <a:avLst/>
          </a:prstGeom>
        </p:spPr>
      </p:pic>
      <p:sp>
        <p:nvSpPr>
          <p:cNvPr id="12" name="tool name 2"/>
          <p:cNvSpPr txBox="1"/>
          <p:nvPr/>
        </p:nvSpPr>
        <p:spPr>
          <a:xfrm>
            <a:off x="530352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Telegram bot</a:t>
            </a:r>
            <a:endParaRPr lang="en-US" sz="1800" dirty="0"/>
          </a:p>
        </p:txBody>
      </p:sp>
      <p:sp>
        <p:nvSpPr>
          <p:cNvPr id="13" name="tool why 2"/>
          <p:cNvSpPr txBox="1"/>
          <p:nvPr/>
        </p:nvSpPr>
        <p:spPr>
          <a:xfrm>
            <a:off x="4526280" y="237744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Photo, voice, text, GPS and buttons for free; two-way chat for follow-up questions</a:t>
            </a:r>
            <a:endParaRPr lang="en-US" sz="1500" dirty="0"/>
          </a:p>
        </p:txBody>
      </p:sp>
      <p:sp>
        <p:nvSpPr>
          <p:cNvPr id="14" name="tool card 3"/>
          <p:cNvSpPr/>
          <p:nvPr/>
        </p:nvSpPr>
        <p:spPr>
          <a:xfrm>
            <a:off x="8046720" y="1371600"/>
            <a:ext cx="3520440" cy="2194560"/>
          </a:xfrm>
          <a:prstGeom prst="roundRect">
            <a:avLst>
              <a:gd name="adj" fmla="val 3333"/>
            </a:avLst>
          </a:prstGeom>
          <a:solidFill>
            <a:schemeClr val="bg2"/>
          </a:solidFill>
          <a:ln w="12700">
            <a:solidFill>
              <a:schemeClr val="bg2"/>
            </a:solidFill>
            <a:prstDash val="solid"/>
          </a:ln>
        </p:spPr>
      </p:sp>
      <p:sp>
        <p:nvSpPr>
          <p:cNvPr id="15" name="Groq + Google Gemini circle"/>
          <p:cNvSpPr/>
          <p:nvPr/>
        </p:nvSpPr>
        <p:spPr>
          <a:xfrm>
            <a:off x="8275320" y="1600200"/>
            <a:ext cx="640080" cy="640080"/>
          </a:xfrm>
          <a:prstGeom prst="ellipse">
            <a:avLst/>
          </a:prstGeom>
          <a:solidFill>
            <a:schemeClr val="accent1"/>
          </a:solidFill>
          <a:ln w="12700">
            <a:solidFill>
              <a:schemeClr val="accent1"/>
            </a:solidFill>
            <a:prstDash val="solid"/>
          </a:ln>
        </p:spPr>
      </p:sp>
      <p:pic>
        <p:nvPicPr>
          <p:cNvPr id="16" name="Groq + Google Gemini icon" descr="preencoded.png">    </p:cNvPr>
          <p:cNvPicPr>
            <a:picLocks noChangeAspect="1"/>
          </p:cNvPicPr>
          <p:nvPr/>
        </p:nvPicPr>
        <p:blipFill>
          <a:blip r:embed="rId3"/>
          <a:stretch>
            <a:fillRect/>
          </a:stretch>
        </p:blipFill>
        <p:spPr>
          <a:xfrm>
            <a:off x="8435340" y="1760220"/>
            <a:ext cx="320040" cy="320040"/>
          </a:xfrm>
          <a:prstGeom prst="rect">
            <a:avLst/>
          </a:prstGeom>
        </p:spPr>
      </p:pic>
      <p:sp>
        <p:nvSpPr>
          <p:cNvPr id="17" name="tool name 3"/>
          <p:cNvSpPr txBox="1"/>
          <p:nvPr/>
        </p:nvSpPr>
        <p:spPr>
          <a:xfrm>
            <a:off x="905256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Groq + Google Gemini</a:t>
            </a:r>
            <a:endParaRPr lang="en-US" sz="1800" dirty="0"/>
          </a:p>
        </p:txBody>
      </p:sp>
      <p:sp>
        <p:nvSpPr>
          <p:cNvPr id="18" name="tool why 3"/>
          <p:cNvSpPr txBox="1"/>
          <p:nvPr/>
        </p:nvSpPr>
        <p:spPr>
          <a:xfrm>
            <a:off x="8275320" y="237744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Free, fast, tool calling; two providers so each critical agent has a fallback</a:t>
            </a:r>
            <a:endParaRPr lang="en-US" sz="1500" dirty="0"/>
          </a:p>
        </p:txBody>
      </p:sp>
      <p:sp>
        <p:nvSpPr>
          <p:cNvPr id="19" name="tool card 4"/>
          <p:cNvSpPr/>
          <p:nvPr/>
        </p:nvSpPr>
        <p:spPr>
          <a:xfrm>
            <a:off x="548640" y="3794760"/>
            <a:ext cx="3520440" cy="2194560"/>
          </a:xfrm>
          <a:prstGeom prst="roundRect">
            <a:avLst>
              <a:gd name="adj" fmla="val 3333"/>
            </a:avLst>
          </a:prstGeom>
          <a:solidFill>
            <a:schemeClr val="bg2"/>
          </a:solidFill>
          <a:ln w="12700">
            <a:solidFill>
              <a:schemeClr val="bg2"/>
            </a:solidFill>
            <a:prstDash val="solid"/>
          </a:ln>
        </p:spPr>
      </p:sp>
      <p:sp>
        <p:nvSpPr>
          <p:cNvPr id="20" name="Gemini Transcribe + Whisper circle"/>
          <p:cNvSpPr/>
          <p:nvPr/>
        </p:nvSpPr>
        <p:spPr>
          <a:xfrm>
            <a:off x="777240" y="4023360"/>
            <a:ext cx="640080" cy="640080"/>
          </a:xfrm>
          <a:prstGeom prst="ellipse">
            <a:avLst/>
          </a:prstGeom>
          <a:solidFill>
            <a:schemeClr val="accent1"/>
          </a:solidFill>
          <a:ln w="12700">
            <a:solidFill>
              <a:schemeClr val="accent1"/>
            </a:solidFill>
            <a:prstDash val="solid"/>
          </a:ln>
        </p:spPr>
      </p:sp>
      <p:pic>
        <p:nvPicPr>
          <p:cNvPr id="21" name="Gemini Transcribe + Whisper icon" descr="preencoded.png">    </p:cNvPr>
          <p:cNvPicPr>
            <a:picLocks noChangeAspect="1"/>
          </p:cNvPicPr>
          <p:nvPr/>
        </p:nvPicPr>
        <p:blipFill>
          <a:blip r:embed="rId4"/>
          <a:stretch>
            <a:fillRect/>
          </a:stretch>
        </p:blipFill>
        <p:spPr>
          <a:xfrm>
            <a:off x="937260" y="4183380"/>
            <a:ext cx="320040" cy="320040"/>
          </a:xfrm>
          <a:prstGeom prst="rect">
            <a:avLst/>
          </a:prstGeom>
        </p:spPr>
      </p:pic>
      <p:sp>
        <p:nvSpPr>
          <p:cNvPr id="22" name="tool name 4"/>
          <p:cNvSpPr txBox="1"/>
          <p:nvPr/>
        </p:nvSpPr>
        <p:spPr>
          <a:xfrm>
            <a:off x="155448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Gemini Transcribe + Whisper</a:t>
            </a:r>
            <a:endParaRPr lang="en-US" sz="1800" dirty="0"/>
          </a:p>
        </p:txBody>
      </p:sp>
      <p:sp>
        <p:nvSpPr>
          <p:cNvPr id="23" name="tool why 4"/>
          <p:cNvSpPr txBox="1"/>
          <p:nvPr/>
        </p:nvSpPr>
        <p:spPr>
          <a:xfrm>
            <a:off x="777240" y="480060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Gemini keeps Tunisian Derja; Whisper is the backup engine</a:t>
            </a:r>
            <a:endParaRPr lang="en-US" sz="1500" dirty="0"/>
          </a:p>
        </p:txBody>
      </p:sp>
      <p:sp>
        <p:nvSpPr>
          <p:cNvPr id="24" name="tool card 5"/>
          <p:cNvSpPr/>
          <p:nvPr/>
        </p:nvSpPr>
        <p:spPr>
          <a:xfrm>
            <a:off x="4297680" y="3794760"/>
            <a:ext cx="3520440" cy="2194560"/>
          </a:xfrm>
          <a:prstGeom prst="roundRect">
            <a:avLst>
              <a:gd name="adj" fmla="val 3333"/>
            </a:avLst>
          </a:prstGeom>
          <a:solidFill>
            <a:schemeClr val="bg2"/>
          </a:solidFill>
          <a:ln w="12700">
            <a:solidFill>
              <a:schemeClr val="bg2"/>
            </a:solidFill>
            <a:prstDash val="solid"/>
          </a:ln>
        </p:spPr>
      </p:sp>
      <p:sp>
        <p:nvSpPr>
          <p:cNvPr id="25" name="Qdrant + e5 embeddings circle"/>
          <p:cNvSpPr/>
          <p:nvPr/>
        </p:nvSpPr>
        <p:spPr>
          <a:xfrm>
            <a:off x="4526280" y="4023360"/>
            <a:ext cx="640080" cy="640080"/>
          </a:xfrm>
          <a:prstGeom prst="ellipse">
            <a:avLst/>
          </a:prstGeom>
          <a:solidFill>
            <a:schemeClr val="accent1"/>
          </a:solidFill>
          <a:ln w="12700">
            <a:solidFill>
              <a:schemeClr val="accent1"/>
            </a:solidFill>
            <a:prstDash val="solid"/>
          </a:ln>
        </p:spPr>
      </p:sp>
      <p:pic>
        <p:nvPicPr>
          <p:cNvPr id="26" name="Qdrant + e5 embeddings icon" descr="preencoded.png">    </p:cNvPr>
          <p:cNvPicPr>
            <a:picLocks noChangeAspect="1"/>
          </p:cNvPicPr>
          <p:nvPr/>
        </p:nvPicPr>
        <p:blipFill>
          <a:blip r:embed="rId5"/>
          <a:stretch>
            <a:fillRect/>
          </a:stretch>
        </p:blipFill>
        <p:spPr>
          <a:xfrm>
            <a:off x="4686300" y="4183380"/>
            <a:ext cx="320040" cy="320040"/>
          </a:xfrm>
          <a:prstGeom prst="rect">
            <a:avLst/>
          </a:prstGeom>
        </p:spPr>
      </p:pic>
      <p:sp>
        <p:nvSpPr>
          <p:cNvPr id="27" name="tool name 5"/>
          <p:cNvSpPr txBox="1"/>
          <p:nvPr/>
        </p:nvSpPr>
        <p:spPr>
          <a:xfrm>
            <a:off x="530352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Qdrant + e5 embeddings</a:t>
            </a:r>
            <a:endParaRPr lang="en-US" sz="1800" dirty="0"/>
          </a:p>
        </p:txBody>
      </p:sp>
      <p:sp>
        <p:nvSpPr>
          <p:cNvPr id="28" name="tool why 5"/>
          <p:cNvSpPr txBox="1"/>
          <p:nvPr/>
        </p:nvSpPr>
        <p:spPr>
          <a:xfrm>
            <a:off x="4526280" y="480060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Managed vector store, native node; multilingual model won our benchmark</a:t>
            </a:r>
            <a:endParaRPr lang="en-US" sz="1500" dirty="0"/>
          </a:p>
        </p:txBody>
      </p:sp>
      <p:sp>
        <p:nvSpPr>
          <p:cNvPr id="29" name="tool card 6"/>
          <p:cNvSpPr/>
          <p:nvPr/>
        </p:nvSpPr>
        <p:spPr>
          <a:xfrm>
            <a:off x="8046720" y="3794760"/>
            <a:ext cx="3520440" cy="2194560"/>
          </a:xfrm>
          <a:prstGeom prst="roundRect">
            <a:avLst>
              <a:gd name="adj" fmla="val 3333"/>
            </a:avLst>
          </a:prstGeom>
          <a:solidFill>
            <a:schemeClr val="bg2"/>
          </a:solidFill>
          <a:ln w="12700">
            <a:solidFill>
              <a:schemeClr val="bg2"/>
            </a:solidFill>
            <a:prstDash val="solid"/>
          </a:ln>
        </p:spPr>
      </p:sp>
      <p:sp>
        <p:nvSpPr>
          <p:cNvPr id="30" name="n8n Data Tables circle"/>
          <p:cNvSpPr/>
          <p:nvPr/>
        </p:nvSpPr>
        <p:spPr>
          <a:xfrm>
            <a:off x="8275320" y="4023360"/>
            <a:ext cx="640080" cy="640080"/>
          </a:xfrm>
          <a:prstGeom prst="ellipse">
            <a:avLst/>
          </a:prstGeom>
          <a:solidFill>
            <a:schemeClr val="accent1"/>
          </a:solidFill>
          <a:ln w="12700">
            <a:solidFill>
              <a:schemeClr val="accent1"/>
            </a:solidFill>
            <a:prstDash val="solid"/>
          </a:ln>
        </p:spPr>
      </p:sp>
      <p:pic>
        <p:nvPicPr>
          <p:cNvPr id="31" name="n8n Data Tables icon" descr="preencoded.png">    </p:cNvPr>
          <p:cNvPicPr>
            <a:picLocks noChangeAspect="1"/>
          </p:cNvPicPr>
          <p:nvPr/>
        </p:nvPicPr>
        <p:blipFill>
          <a:blip r:embed="rId6"/>
          <a:stretch>
            <a:fillRect/>
          </a:stretch>
        </p:blipFill>
        <p:spPr>
          <a:xfrm>
            <a:off x="8435340" y="4183380"/>
            <a:ext cx="320040" cy="320040"/>
          </a:xfrm>
          <a:prstGeom prst="rect">
            <a:avLst/>
          </a:prstGeom>
        </p:spPr>
      </p:pic>
      <p:sp>
        <p:nvSpPr>
          <p:cNvPr id="32" name="tool name 6"/>
          <p:cNvSpPr txBox="1"/>
          <p:nvPr/>
        </p:nvSpPr>
        <p:spPr>
          <a:xfrm>
            <a:off x="905256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n8n Data Tables</a:t>
            </a:r>
            <a:endParaRPr lang="en-US" sz="1800" dirty="0"/>
          </a:p>
        </p:txBody>
      </p:sp>
      <p:sp>
        <p:nvSpPr>
          <p:cNvPr id="33" name="tool why 6"/>
          <p:cNvSpPr txBox="1"/>
          <p:nvPr/>
        </p:nvSpPr>
        <p:spPr>
          <a:xfrm>
            <a:off x="8275320" y="4800600"/>
            <a:ext cx="3108960" cy="1097280"/>
          </a:xfrm>
          <a:prstGeom prst="rect">
            <a:avLst/>
          </a:prstGeom>
          <a:noFill/>
          <a:ln/>
        </p:spPr>
        <p:txBody>
          <a:bodyPr wrap="square" lIns="635" tIns="635" rIns="635" bIns="635" rtlCol="0" anchor="t"/>
          <a:lstStyle/>
          <a:p>
            <a:pPr indent="0" marL="0">
              <a:buNone/>
            </a:pPr>
            <a:r>
              <a:rPr lang="en-US" sz="1500" dirty="0">
                <a:solidFill>
                  <a:schemeClr val="tx2"/>
                </a:solidFill>
              </a:rPr>
              <a:t>Dispatcher board and incident memory inside n8n; one row per incident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One orchestrator, four specialist agents, no router</a:t>
            </a:r>
            <a:endParaRPr lang="en-US" sz="3400" dirty="0"/>
          </a:p>
        </p:txBody>
      </p:sp>
      <p:pic>
        <p:nvPicPr>
          <p:cNvPr id="4" name="architecture diagram" descr="C:\Users\aymen\AppData\Local\Temp\claude\c--Users-aymen-Desktop-CrisisLink-5DS\09bbd2db-695f-4fa5-9e0d-78c735f147ce\scratchpad\img\arch_v3.png">    </p:cNvPr>
          <p:cNvPicPr>
            <a:picLocks noChangeAspect="1"/>
          </p:cNvPicPr>
          <p:nvPr/>
        </p:nvPicPr>
        <p:blipFill>
          <a:blip r:embed="rId1"/>
          <a:stretch>
            <a:fillRect/>
          </a:stretch>
        </p:blipFill>
        <p:spPr>
          <a:xfrm>
            <a:off x="548640" y="1280160"/>
            <a:ext cx="7589520" cy="4807758"/>
          </a:xfrm>
          <a:prstGeom prst="rect">
            <a:avLst/>
          </a:prstGeom>
        </p:spPr>
      </p:pic>
      <p:sp>
        <p:nvSpPr>
          <p:cNvPr id="5" name="stat card 1"/>
          <p:cNvSpPr/>
          <p:nvPr/>
        </p:nvSpPr>
        <p:spPr>
          <a:xfrm>
            <a:off x="8458200" y="1371600"/>
            <a:ext cx="3182112" cy="1417320"/>
          </a:xfrm>
          <a:prstGeom prst="roundRect">
            <a:avLst>
              <a:gd name="adj" fmla="val 5161"/>
            </a:avLst>
          </a:prstGeom>
          <a:solidFill>
            <a:schemeClr val="bg2"/>
          </a:solidFill>
          <a:ln w="12700">
            <a:solidFill>
              <a:schemeClr val="bg2"/>
            </a:solidFill>
            <a:prstDash val="solid"/>
          </a:ln>
        </p:spPr>
      </p:sp>
      <p:sp>
        <p:nvSpPr>
          <p:cNvPr id="6" name="stat 1"/>
          <p:cNvSpPr txBox="1"/>
          <p:nvPr/>
        </p:nvSpPr>
        <p:spPr>
          <a:xfrm>
            <a:off x="8641080" y="1463040"/>
            <a:ext cx="1097280" cy="1188720"/>
          </a:xfrm>
          <a:prstGeom prst="rect">
            <a:avLst/>
          </a:prstGeom>
          <a:noFill/>
          <a:ln/>
        </p:spPr>
        <p:txBody>
          <a:bodyPr wrap="square" lIns="635" tIns="635" rIns="635" bIns="635" rtlCol="0" anchor="ctr"/>
          <a:lstStyle/>
          <a:p>
            <a:pPr indent="0" marL="0">
              <a:buNone/>
            </a:pPr>
            <a:r>
              <a:rPr lang="en-US" sz="5400" b="1" dirty="0">
                <a:solidFill>
                  <a:schemeClr val="accent1"/>
                </a:solidFill>
                <a:latin typeface="Arial" pitchFamily="34" charset="0"/>
                <a:ea typeface="Arial" pitchFamily="34" charset="-122"/>
                <a:cs typeface="Arial" pitchFamily="34" charset="-120"/>
              </a:rPr>
              <a:t>5</a:t>
            </a:r>
            <a:endParaRPr lang="en-US" sz="5400" dirty="0"/>
          </a:p>
        </p:txBody>
      </p:sp>
      <p:sp>
        <p:nvSpPr>
          <p:cNvPr id="7" name="stat label 1"/>
          <p:cNvSpPr txBox="1"/>
          <p:nvPr/>
        </p:nvSpPr>
        <p:spPr>
          <a:xfrm>
            <a:off x="9692640" y="1508760"/>
            <a:ext cx="1828800" cy="1143000"/>
          </a:xfrm>
          <a:prstGeom prst="rect">
            <a:avLst/>
          </a:prstGeom>
          <a:noFill/>
          <a:ln/>
        </p:spPr>
        <p:txBody>
          <a:bodyPr wrap="square" lIns="635" tIns="635" rIns="635" bIns="635" rtlCol="0" anchor="ctr"/>
          <a:lstStyle/>
          <a:p>
            <a:pPr indent="0" marL="0">
              <a:buNone/>
            </a:pPr>
            <a:r>
              <a:rPr lang="en-US" sz="1500" dirty="0">
                <a:solidFill>
                  <a:schemeClr val="tx1"/>
                </a:solidFill>
              </a:rPr>
              <a:t>agents, each with its own model and tools</a:t>
            </a:r>
            <a:endParaRPr lang="en-US" sz="1500" dirty="0"/>
          </a:p>
        </p:txBody>
      </p:sp>
      <p:sp>
        <p:nvSpPr>
          <p:cNvPr id="8" name="stat card 2"/>
          <p:cNvSpPr/>
          <p:nvPr/>
        </p:nvSpPr>
        <p:spPr>
          <a:xfrm>
            <a:off x="8458200" y="2971800"/>
            <a:ext cx="3182112" cy="1417320"/>
          </a:xfrm>
          <a:prstGeom prst="roundRect">
            <a:avLst>
              <a:gd name="adj" fmla="val 5161"/>
            </a:avLst>
          </a:prstGeom>
          <a:solidFill>
            <a:schemeClr val="bg2"/>
          </a:solidFill>
          <a:ln w="12700">
            <a:solidFill>
              <a:schemeClr val="bg2"/>
            </a:solidFill>
            <a:prstDash val="solid"/>
          </a:ln>
        </p:spPr>
      </p:sp>
      <p:sp>
        <p:nvSpPr>
          <p:cNvPr id="9" name="stat 2"/>
          <p:cNvSpPr txBox="1"/>
          <p:nvPr/>
        </p:nvSpPr>
        <p:spPr>
          <a:xfrm>
            <a:off x="8641080" y="3063240"/>
            <a:ext cx="1097280" cy="1188720"/>
          </a:xfrm>
          <a:prstGeom prst="rect">
            <a:avLst/>
          </a:prstGeom>
          <a:noFill/>
          <a:ln/>
        </p:spPr>
        <p:txBody>
          <a:bodyPr wrap="square" lIns="635" tIns="635" rIns="635" bIns="635" rtlCol="0" anchor="ctr"/>
          <a:lstStyle/>
          <a:p>
            <a:pPr indent="0" marL="0">
              <a:buNone/>
            </a:pPr>
            <a:r>
              <a:rPr lang="en-US" sz="5400" b="1" dirty="0">
                <a:solidFill>
                  <a:schemeClr val="accent1"/>
                </a:solidFill>
                <a:latin typeface="Arial" pitchFamily="34" charset="0"/>
                <a:ea typeface="Arial" pitchFamily="34" charset="-122"/>
                <a:cs typeface="Arial" pitchFamily="34" charset="-120"/>
              </a:rPr>
              <a:t>11</a:t>
            </a:r>
            <a:endParaRPr lang="en-US" sz="5400" dirty="0"/>
          </a:p>
        </p:txBody>
      </p:sp>
      <p:sp>
        <p:nvSpPr>
          <p:cNvPr id="10" name="stat label 2"/>
          <p:cNvSpPr txBox="1"/>
          <p:nvPr/>
        </p:nvSpPr>
        <p:spPr>
          <a:xfrm>
            <a:off x="9692640" y="3108960"/>
            <a:ext cx="1828800" cy="1143000"/>
          </a:xfrm>
          <a:prstGeom prst="rect">
            <a:avLst/>
          </a:prstGeom>
          <a:noFill/>
          <a:ln/>
        </p:spPr>
        <p:txBody>
          <a:bodyPr wrap="square" lIns="635" tIns="635" rIns="635" bIns="635" rtlCol="0" anchor="ctr"/>
          <a:lstStyle/>
          <a:p>
            <a:pPr indent="0" marL="0">
              <a:buNone/>
            </a:pPr>
            <a:r>
              <a:rPr lang="en-US" sz="1500" dirty="0">
                <a:solidFill>
                  <a:schemeClr val="tx1"/>
                </a:solidFill>
              </a:rPr>
              <a:t>tools available to the orchestrator</a:t>
            </a:r>
            <a:endParaRPr lang="en-US" sz="1500" dirty="0"/>
          </a:p>
        </p:txBody>
      </p:sp>
      <p:sp>
        <p:nvSpPr>
          <p:cNvPr id="11" name="stat card 3"/>
          <p:cNvSpPr/>
          <p:nvPr/>
        </p:nvSpPr>
        <p:spPr>
          <a:xfrm>
            <a:off x="8458200" y="4572000"/>
            <a:ext cx="3182112" cy="1417320"/>
          </a:xfrm>
          <a:prstGeom prst="roundRect">
            <a:avLst>
              <a:gd name="adj" fmla="val 5161"/>
            </a:avLst>
          </a:prstGeom>
          <a:solidFill>
            <a:schemeClr val="bg2"/>
          </a:solidFill>
          <a:ln w="12700">
            <a:solidFill>
              <a:schemeClr val="bg2"/>
            </a:solidFill>
            <a:prstDash val="solid"/>
          </a:ln>
        </p:spPr>
      </p:sp>
      <p:sp>
        <p:nvSpPr>
          <p:cNvPr id="12" name="stat 3"/>
          <p:cNvSpPr txBox="1"/>
          <p:nvPr/>
        </p:nvSpPr>
        <p:spPr>
          <a:xfrm>
            <a:off x="8641080" y="4663440"/>
            <a:ext cx="1097280" cy="1188720"/>
          </a:xfrm>
          <a:prstGeom prst="rect">
            <a:avLst/>
          </a:prstGeom>
          <a:noFill/>
          <a:ln/>
        </p:spPr>
        <p:txBody>
          <a:bodyPr wrap="square" lIns="635" tIns="635" rIns="635" bIns="635" rtlCol="0" anchor="ctr"/>
          <a:lstStyle/>
          <a:p>
            <a:pPr indent="0" marL="0">
              <a:buNone/>
            </a:pPr>
            <a:r>
              <a:rPr lang="en-US" sz="5400" b="1" dirty="0">
                <a:solidFill>
                  <a:schemeClr val="accent1"/>
                </a:solidFill>
                <a:latin typeface="Arial" pitchFamily="34" charset="0"/>
                <a:ea typeface="Arial" pitchFamily="34" charset="-122"/>
                <a:cs typeface="Arial" pitchFamily="34" charset="-120"/>
              </a:rPr>
              <a:t>0</a:t>
            </a:r>
            <a:endParaRPr lang="en-US" sz="5400" dirty="0"/>
          </a:p>
        </p:txBody>
      </p:sp>
      <p:sp>
        <p:nvSpPr>
          <p:cNvPr id="13" name="stat label 3"/>
          <p:cNvSpPr txBox="1"/>
          <p:nvPr/>
        </p:nvSpPr>
        <p:spPr>
          <a:xfrm>
            <a:off x="9692640" y="4709160"/>
            <a:ext cx="1828800" cy="1143000"/>
          </a:xfrm>
          <a:prstGeom prst="rect">
            <a:avLst/>
          </a:prstGeom>
          <a:noFill/>
          <a:ln/>
        </p:spPr>
        <p:txBody>
          <a:bodyPr wrap="square" lIns="635" tIns="635" rIns="635" bIns="635" rtlCol="0" anchor="ctr"/>
          <a:lstStyle/>
          <a:p>
            <a:pPr indent="0" marL="0">
              <a:buNone/>
            </a:pPr>
            <a:r>
              <a:rPr lang="en-US" sz="1500" dirty="0">
                <a:solidFill>
                  <a:schemeClr val="tx1"/>
                </a:solidFill>
              </a:rPr>
              <a:t>Switch or IF nodes in the main flow</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How the agents talk to each other for one report</a:t>
            </a:r>
            <a:endParaRPr lang="en-US" sz="3400" dirty="0"/>
          </a:p>
        </p:txBody>
      </p:sp>
      <p:sp>
        <p:nvSpPr>
          <p:cNvPr id="4" name="step card 1"/>
          <p:cNvSpPr/>
          <p:nvPr/>
        </p:nvSpPr>
        <p:spPr>
          <a:xfrm>
            <a:off x="548640" y="1417320"/>
            <a:ext cx="2084832" cy="3246120"/>
          </a:xfrm>
          <a:prstGeom prst="roundRect">
            <a:avLst>
              <a:gd name="adj" fmla="val 3509"/>
            </a:avLst>
          </a:prstGeom>
          <a:solidFill>
            <a:schemeClr val="bg2"/>
          </a:solidFill>
          <a:ln w="12700">
            <a:solidFill>
              <a:schemeClr val="bg2"/>
            </a:solidFill>
            <a:prstDash val="solid"/>
          </a:ln>
        </p:spPr>
      </p:sp>
      <p:sp>
        <p:nvSpPr>
          <p:cNvPr id="5" name="step dot 1"/>
          <p:cNvSpPr/>
          <p:nvPr/>
        </p:nvSpPr>
        <p:spPr>
          <a:xfrm>
            <a:off x="731520" y="1600200"/>
            <a:ext cx="594360" cy="594360"/>
          </a:xfrm>
          <a:prstGeom prst="ellipse">
            <a:avLst/>
          </a:prstGeom>
          <a:solidFill>
            <a:srgbClr val="0E7C86"/>
          </a:solidFill>
          <a:ln w="12700">
            <a:solidFill>
              <a:srgbClr val="0E7C86"/>
            </a:solidFill>
            <a:prstDash val="solid"/>
          </a:ln>
        </p:spPr>
      </p:sp>
      <p:sp>
        <p:nvSpPr>
          <p:cNvPr id="6" name="step number 1"/>
          <p:cNvSpPr txBox="1"/>
          <p:nvPr/>
        </p:nvSpPr>
        <p:spPr>
          <a:xfrm>
            <a:off x="731520" y="1600200"/>
            <a:ext cx="594360" cy="594360"/>
          </a:xfrm>
          <a:prstGeom prst="rect">
            <a:avLst/>
          </a:prstGeom>
          <a:noFill/>
          <a:ln/>
        </p:spPr>
        <p:txBody>
          <a:bodyPr wrap="square" lIns="635" tIns="635" rIns="635" bIns="635" rtlCol="0" anchor="ctr"/>
          <a:lstStyle/>
          <a:p>
            <a:pPr algn="ctr" indent="0" marL="0">
              <a:buNone/>
            </a:pPr>
            <a:r>
              <a:rPr lang="en-US" sz="2000" b="1" dirty="0">
                <a:solidFill>
                  <a:srgbClr val="FFFFFF"/>
                </a:solidFill>
              </a:rPr>
              <a:t>1</a:t>
            </a:r>
            <a:endParaRPr lang="en-US" sz="2000" dirty="0"/>
          </a:p>
        </p:txBody>
      </p:sp>
      <p:sp>
        <p:nvSpPr>
          <p:cNvPr id="7" name="step title 1"/>
          <p:cNvSpPr txBox="1"/>
          <p:nvPr/>
        </p:nvSpPr>
        <p:spPr>
          <a:xfrm>
            <a:off x="731520" y="2331720"/>
            <a:ext cx="1783080" cy="685800"/>
          </a:xfrm>
          <a:prstGeom prst="rect">
            <a:avLst/>
          </a:prstGeom>
          <a:noFill/>
          <a:ln/>
        </p:spPr>
        <p:txBody>
          <a:bodyPr wrap="square" lIns="635" tIns="635" rIns="635" bIns="635" rtlCol="0" anchor="t"/>
          <a:lstStyle/>
          <a:p>
            <a:pPr indent="0" marL="0">
              <a:buNone/>
            </a:pPr>
            <a:r>
              <a:rPr lang="en-US" sz="1700" b="1" dirty="0">
                <a:solidFill>
                  <a:schemeClr val="tx1"/>
                </a:solidFill>
              </a:rPr>
              <a:t>Understand + acknowledge</a:t>
            </a:r>
            <a:endParaRPr lang="en-US" sz="1700" dirty="0"/>
          </a:p>
        </p:txBody>
      </p:sp>
      <p:sp>
        <p:nvSpPr>
          <p:cNvPr id="8" name="step text 1"/>
          <p:cNvSpPr txBox="1"/>
          <p:nvPr/>
        </p:nvSpPr>
        <p:spPr>
          <a:xfrm>
            <a:off x="731520" y="3063240"/>
            <a:ext cx="1783080" cy="1508760"/>
          </a:xfrm>
          <a:prstGeom prst="rect">
            <a:avLst/>
          </a:prstGeom>
          <a:noFill/>
          <a:ln/>
        </p:spPr>
        <p:txBody>
          <a:bodyPr wrap="square" lIns="635" tIns="635" rIns="635" bIns="635" rtlCol="0" anchor="t"/>
          <a:lstStyle/>
          <a:p>
            <a:pPr indent="0" marL="0">
              <a:buNone/>
            </a:pPr>
            <a:r>
              <a:rPr lang="en-US" sz="1400" dirty="0">
                <a:solidFill>
                  <a:schemeClr val="tx2"/>
                </a:solidFill>
              </a:rPr>
              <a:t>Orchestrator reads the message, replies "report received", loads the open incident</a:t>
            </a:r>
            <a:endParaRPr lang="en-US" sz="1400" dirty="0"/>
          </a:p>
        </p:txBody>
      </p:sp>
      <p:sp>
        <p:nvSpPr>
          <p:cNvPr id="9" name="step card 2"/>
          <p:cNvSpPr/>
          <p:nvPr/>
        </p:nvSpPr>
        <p:spPr>
          <a:xfrm>
            <a:off x="2816352" y="1417320"/>
            <a:ext cx="2084832" cy="3246120"/>
          </a:xfrm>
          <a:prstGeom prst="roundRect">
            <a:avLst>
              <a:gd name="adj" fmla="val 3509"/>
            </a:avLst>
          </a:prstGeom>
          <a:solidFill>
            <a:schemeClr val="bg2"/>
          </a:solidFill>
          <a:ln w="12700">
            <a:solidFill>
              <a:schemeClr val="bg2"/>
            </a:solidFill>
            <a:prstDash val="solid"/>
          </a:ln>
        </p:spPr>
      </p:sp>
      <p:sp>
        <p:nvSpPr>
          <p:cNvPr id="10" name="step dot 2"/>
          <p:cNvSpPr/>
          <p:nvPr/>
        </p:nvSpPr>
        <p:spPr>
          <a:xfrm>
            <a:off x="2999232" y="1600200"/>
            <a:ext cx="594360" cy="594360"/>
          </a:xfrm>
          <a:prstGeom prst="ellipse">
            <a:avLst/>
          </a:prstGeom>
          <a:solidFill>
            <a:srgbClr val="0E7C86"/>
          </a:solidFill>
          <a:ln w="12700">
            <a:solidFill>
              <a:srgbClr val="0E7C86"/>
            </a:solidFill>
            <a:prstDash val="solid"/>
          </a:ln>
        </p:spPr>
      </p:sp>
      <p:sp>
        <p:nvSpPr>
          <p:cNvPr id="11" name="step number 2"/>
          <p:cNvSpPr txBox="1"/>
          <p:nvPr/>
        </p:nvSpPr>
        <p:spPr>
          <a:xfrm>
            <a:off x="2999232" y="1600200"/>
            <a:ext cx="594360" cy="594360"/>
          </a:xfrm>
          <a:prstGeom prst="rect">
            <a:avLst/>
          </a:prstGeom>
          <a:noFill/>
          <a:ln/>
        </p:spPr>
        <p:txBody>
          <a:bodyPr wrap="square" lIns="635" tIns="635" rIns="635" bIns="635" rtlCol="0" anchor="ctr"/>
          <a:lstStyle/>
          <a:p>
            <a:pPr algn="ctr" indent="0" marL="0">
              <a:buNone/>
            </a:pPr>
            <a:r>
              <a:rPr lang="en-US" sz="2000" b="1" dirty="0">
                <a:solidFill>
                  <a:srgbClr val="FFFFFF"/>
                </a:solidFill>
              </a:rPr>
              <a:t>2</a:t>
            </a:r>
            <a:endParaRPr lang="en-US" sz="2000" dirty="0"/>
          </a:p>
        </p:txBody>
      </p:sp>
      <p:sp>
        <p:nvSpPr>
          <p:cNvPr id="12" name="step title 2"/>
          <p:cNvSpPr txBox="1"/>
          <p:nvPr/>
        </p:nvSpPr>
        <p:spPr>
          <a:xfrm>
            <a:off x="2999232" y="2331720"/>
            <a:ext cx="1783080" cy="685800"/>
          </a:xfrm>
          <a:prstGeom prst="rect">
            <a:avLst/>
          </a:prstGeom>
          <a:noFill/>
          <a:ln/>
        </p:spPr>
        <p:txBody>
          <a:bodyPr wrap="square" lIns="635" tIns="635" rIns="635" bIns="635" rtlCol="0" anchor="t"/>
          <a:lstStyle/>
          <a:p>
            <a:pPr indent="0" marL="0">
              <a:buNone/>
            </a:pPr>
            <a:r>
              <a:rPr lang="en-US" sz="1700" b="1" dirty="0">
                <a:solidFill>
                  <a:schemeClr val="tx1"/>
                </a:solidFill>
              </a:rPr>
              <a:t>Delegate in parallel</a:t>
            </a:r>
            <a:endParaRPr lang="en-US" sz="1700" dirty="0"/>
          </a:p>
        </p:txBody>
      </p:sp>
      <p:sp>
        <p:nvSpPr>
          <p:cNvPr id="13" name="step text 2"/>
          <p:cNvSpPr txBox="1"/>
          <p:nvPr/>
        </p:nvSpPr>
        <p:spPr>
          <a:xfrm>
            <a:off x="2999232" y="3063240"/>
            <a:ext cx="1783080" cy="1508760"/>
          </a:xfrm>
          <a:prstGeom prst="rect">
            <a:avLst/>
          </a:prstGeom>
          <a:noFill/>
          <a:ln/>
        </p:spPr>
        <p:txBody>
          <a:bodyPr wrap="square" lIns="635" tIns="635" rIns="635" bIns="635" rtlCol="0" anchor="t"/>
          <a:lstStyle/>
          <a:p>
            <a:pPr indent="0" marL="0">
              <a:buNone/>
            </a:pPr>
            <a:r>
              <a:rPr lang="en-US" sz="1400" dirty="0">
                <a:solidFill>
                  <a:schemeClr val="tx2"/>
                </a:solidFill>
              </a:rPr>
              <a:t>Vision Agent (photo) and Distress Agent (text / voice) answer with typed JSON</a:t>
            </a:r>
            <a:endParaRPr lang="en-US" sz="1400" dirty="0"/>
          </a:p>
        </p:txBody>
      </p:sp>
      <p:sp>
        <p:nvSpPr>
          <p:cNvPr id="14" name="step card 3"/>
          <p:cNvSpPr/>
          <p:nvPr/>
        </p:nvSpPr>
        <p:spPr>
          <a:xfrm>
            <a:off x="5084064" y="1417320"/>
            <a:ext cx="2084832" cy="3246120"/>
          </a:xfrm>
          <a:prstGeom prst="roundRect">
            <a:avLst>
              <a:gd name="adj" fmla="val 3509"/>
            </a:avLst>
          </a:prstGeom>
          <a:solidFill>
            <a:schemeClr val="bg2"/>
          </a:solidFill>
          <a:ln w="12700">
            <a:solidFill>
              <a:schemeClr val="bg2"/>
            </a:solidFill>
            <a:prstDash val="solid"/>
          </a:ln>
        </p:spPr>
      </p:sp>
      <p:sp>
        <p:nvSpPr>
          <p:cNvPr id="15" name="step dot 3"/>
          <p:cNvSpPr/>
          <p:nvPr/>
        </p:nvSpPr>
        <p:spPr>
          <a:xfrm>
            <a:off x="5266944" y="1600200"/>
            <a:ext cx="594360" cy="594360"/>
          </a:xfrm>
          <a:prstGeom prst="ellipse">
            <a:avLst/>
          </a:prstGeom>
          <a:solidFill>
            <a:srgbClr val="0E7C86"/>
          </a:solidFill>
          <a:ln w="12700">
            <a:solidFill>
              <a:srgbClr val="0E7C86"/>
            </a:solidFill>
            <a:prstDash val="solid"/>
          </a:ln>
        </p:spPr>
      </p:sp>
      <p:sp>
        <p:nvSpPr>
          <p:cNvPr id="16" name="step number 3"/>
          <p:cNvSpPr txBox="1"/>
          <p:nvPr/>
        </p:nvSpPr>
        <p:spPr>
          <a:xfrm>
            <a:off x="5266944" y="1600200"/>
            <a:ext cx="594360" cy="594360"/>
          </a:xfrm>
          <a:prstGeom prst="rect">
            <a:avLst/>
          </a:prstGeom>
          <a:noFill/>
          <a:ln/>
        </p:spPr>
        <p:txBody>
          <a:bodyPr wrap="square" lIns="635" tIns="635" rIns="635" bIns="635" rtlCol="0" anchor="ctr"/>
          <a:lstStyle/>
          <a:p>
            <a:pPr algn="ctr" indent="0" marL="0">
              <a:buNone/>
            </a:pPr>
            <a:r>
              <a:rPr lang="en-US" sz="2000" b="1" dirty="0">
                <a:solidFill>
                  <a:srgbClr val="FFFFFF"/>
                </a:solidFill>
              </a:rPr>
              <a:t>3</a:t>
            </a:r>
            <a:endParaRPr lang="en-US" sz="2000" dirty="0"/>
          </a:p>
        </p:txBody>
      </p:sp>
      <p:sp>
        <p:nvSpPr>
          <p:cNvPr id="17" name="step title 3"/>
          <p:cNvSpPr txBox="1"/>
          <p:nvPr/>
        </p:nvSpPr>
        <p:spPr>
          <a:xfrm>
            <a:off x="5266944" y="2331720"/>
            <a:ext cx="1783080" cy="685800"/>
          </a:xfrm>
          <a:prstGeom prst="rect">
            <a:avLst/>
          </a:prstGeom>
          <a:noFill/>
          <a:ln/>
        </p:spPr>
        <p:txBody>
          <a:bodyPr wrap="square" lIns="635" tIns="635" rIns="635" bIns="635" rtlCol="0" anchor="t"/>
          <a:lstStyle/>
          <a:p>
            <a:pPr indent="0" marL="0">
              <a:buNone/>
            </a:pPr>
            <a:r>
              <a:rPr lang="en-US" sz="1700" b="1" dirty="0">
                <a:solidFill>
                  <a:schemeClr val="tx1"/>
                </a:solidFill>
              </a:rPr>
              <a:t>Consult protocols</a:t>
            </a:r>
            <a:endParaRPr lang="en-US" sz="1700" dirty="0"/>
          </a:p>
        </p:txBody>
      </p:sp>
      <p:sp>
        <p:nvSpPr>
          <p:cNvPr id="18" name="step text 3"/>
          <p:cNvSpPr txBox="1"/>
          <p:nvPr/>
        </p:nvSpPr>
        <p:spPr>
          <a:xfrm>
            <a:off x="5266944" y="3063240"/>
            <a:ext cx="1783080" cy="1508760"/>
          </a:xfrm>
          <a:prstGeom prst="rect">
            <a:avLst/>
          </a:prstGeom>
          <a:noFill/>
          <a:ln/>
        </p:spPr>
        <p:txBody>
          <a:bodyPr wrap="square" lIns="635" tIns="635" rIns="635" bIns="635" rtlCol="0" anchor="t"/>
          <a:lstStyle/>
          <a:p>
            <a:pPr indent="0" marL="0">
              <a:buNone/>
            </a:pPr>
            <a:r>
              <a:rPr lang="en-US" sz="1400" dirty="0">
                <a:solidFill>
                  <a:schemeClr val="tx2"/>
                </a:solidFill>
              </a:rPr>
              <a:t>Protocol Agent searches the knowledge base and quotes tier, asset, advice</a:t>
            </a:r>
            <a:endParaRPr lang="en-US" sz="1400" dirty="0"/>
          </a:p>
        </p:txBody>
      </p:sp>
      <p:sp>
        <p:nvSpPr>
          <p:cNvPr id="19" name="step card 4"/>
          <p:cNvSpPr/>
          <p:nvPr/>
        </p:nvSpPr>
        <p:spPr>
          <a:xfrm>
            <a:off x="7351776" y="1417320"/>
            <a:ext cx="2084832" cy="3246120"/>
          </a:xfrm>
          <a:prstGeom prst="roundRect">
            <a:avLst>
              <a:gd name="adj" fmla="val 3509"/>
            </a:avLst>
          </a:prstGeom>
          <a:solidFill>
            <a:srgbClr val="FBE3DF"/>
          </a:solidFill>
          <a:ln w="12700">
            <a:solidFill>
              <a:srgbClr val="FBE3DF"/>
            </a:solidFill>
            <a:prstDash val="solid"/>
          </a:ln>
        </p:spPr>
      </p:sp>
      <p:sp>
        <p:nvSpPr>
          <p:cNvPr id="20" name="step dot 4"/>
          <p:cNvSpPr/>
          <p:nvPr/>
        </p:nvSpPr>
        <p:spPr>
          <a:xfrm>
            <a:off x="7534656" y="1600200"/>
            <a:ext cx="594360" cy="594360"/>
          </a:xfrm>
          <a:prstGeom prst="ellipse">
            <a:avLst/>
          </a:prstGeom>
          <a:solidFill>
            <a:srgbClr val="C0392B"/>
          </a:solidFill>
          <a:ln w="12700">
            <a:solidFill>
              <a:srgbClr val="C0392B"/>
            </a:solidFill>
            <a:prstDash val="solid"/>
          </a:ln>
        </p:spPr>
      </p:sp>
      <p:sp>
        <p:nvSpPr>
          <p:cNvPr id="21" name="step number 4"/>
          <p:cNvSpPr txBox="1"/>
          <p:nvPr/>
        </p:nvSpPr>
        <p:spPr>
          <a:xfrm>
            <a:off x="7534656" y="1600200"/>
            <a:ext cx="594360" cy="594360"/>
          </a:xfrm>
          <a:prstGeom prst="rect">
            <a:avLst/>
          </a:prstGeom>
          <a:noFill/>
          <a:ln/>
        </p:spPr>
        <p:txBody>
          <a:bodyPr wrap="square" lIns="635" tIns="635" rIns="635" bIns="635" rtlCol="0" anchor="ctr"/>
          <a:lstStyle/>
          <a:p>
            <a:pPr algn="ctr" indent="0" marL="0">
              <a:buNone/>
            </a:pPr>
            <a:r>
              <a:rPr lang="en-US" sz="2000" b="1" dirty="0">
                <a:solidFill>
                  <a:srgbClr val="FFFFFF"/>
                </a:solidFill>
              </a:rPr>
              <a:t>4</a:t>
            </a:r>
            <a:endParaRPr lang="en-US" sz="2000" dirty="0"/>
          </a:p>
        </p:txBody>
      </p:sp>
      <p:sp>
        <p:nvSpPr>
          <p:cNvPr id="22" name="step title 4"/>
          <p:cNvSpPr txBox="1"/>
          <p:nvPr/>
        </p:nvSpPr>
        <p:spPr>
          <a:xfrm>
            <a:off x="7534656" y="2331720"/>
            <a:ext cx="1783080" cy="685800"/>
          </a:xfrm>
          <a:prstGeom prst="rect">
            <a:avLst/>
          </a:prstGeom>
          <a:noFill/>
          <a:ln/>
        </p:spPr>
        <p:txBody>
          <a:bodyPr wrap="square" lIns="635" tIns="635" rIns="635" bIns="635" rtlCol="0" anchor="t"/>
          <a:lstStyle/>
          <a:p>
            <a:pPr indent="0" marL="0">
              <a:buNone/>
            </a:pPr>
            <a:r>
              <a:rPr lang="en-US" sz="1700" b="1" dirty="0">
                <a:solidFill>
                  <a:schemeClr val="tx1"/>
                </a:solidFill>
              </a:rPr>
              <a:t>Safety review</a:t>
            </a:r>
            <a:endParaRPr lang="en-US" sz="1700" dirty="0"/>
          </a:p>
        </p:txBody>
      </p:sp>
      <p:sp>
        <p:nvSpPr>
          <p:cNvPr id="23" name="step text 4"/>
          <p:cNvSpPr txBox="1"/>
          <p:nvPr/>
        </p:nvSpPr>
        <p:spPr>
          <a:xfrm>
            <a:off x="7534656" y="3063240"/>
            <a:ext cx="1783080" cy="1508760"/>
          </a:xfrm>
          <a:prstGeom prst="rect">
            <a:avLst/>
          </a:prstGeom>
          <a:noFill/>
          <a:ln/>
        </p:spPr>
        <p:txBody>
          <a:bodyPr wrap="square" lIns="635" tIns="635" rIns="635" bIns="635" rtlCol="0" anchor="t"/>
          <a:lstStyle/>
          <a:p>
            <a:pPr indent="0" marL="0">
              <a:buNone/>
            </a:pPr>
            <a:r>
              <a:rPr lang="en-US" sz="1400" dirty="0">
                <a:solidFill>
                  <a:schemeClr val="tx2"/>
                </a:solidFill>
              </a:rPr>
              <a:t>Safety Officer checks the draft with deterministic rules: can only raise</a:t>
            </a:r>
            <a:endParaRPr lang="en-US" sz="1400" dirty="0"/>
          </a:p>
        </p:txBody>
      </p:sp>
      <p:sp>
        <p:nvSpPr>
          <p:cNvPr id="24" name="step card 5"/>
          <p:cNvSpPr/>
          <p:nvPr/>
        </p:nvSpPr>
        <p:spPr>
          <a:xfrm>
            <a:off x="9619488" y="1417320"/>
            <a:ext cx="2084832" cy="3246120"/>
          </a:xfrm>
          <a:prstGeom prst="roundRect">
            <a:avLst>
              <a:gd name="adj" fmla="val 3509"/>
            </a:avLst>
          </a:prstGeom>
          <a:solidFill>
            <a:schemeClr val="bg2"/>
          </a:solidFill>
          <a:ln w="12700">
            <a:solidFill>
              <a:schemeClr val="bg2"/>
            </a:solidFill>
            <a:prstDash val="solid"/>
          </a:ln>
        </p:spPr>
      </p:sp>
      <p:sp>
        <p:nvSpPr>
          <p:cNvPr id="25" name="step dot 5"/>
          <p:cNvSpPr/>
          <p:nvPr/>
        </p:nvSpPr>
        <p:spPr>
          <a:xfrm>
            <a:off x="9802368" y="1600200"/>
            <a:ext cx="594360" cy="594360"/>
          </a:xfrm>
          <a:prstGeom prst="ellipse">
            <a:avLst/>
          </a:prstGeom>
          <a:solidFill>
            <a:srgbClr val="0E7C86"/>
          </a:solidFill>
          <a:ln w="12700">
            <a:solidFill>
              <a:srgbClr val="0E7C86"/>
            </a:solidFill>
            <a:prstDash val="solid"/>
          </a:ln>
        </p:spPr>
      </p:sp>
      <p:sp>
        <p:nvSpPr>
          <p:cNvPr id="26" name="step number 5"/>
          <p:cNvSpPr txBox="1"/>
          <p:nvPr/>
        </p:nvSpPr>
        <p:spPr>
          <a:xfrm>
            <a:off x="9802368" y="1600200"/>
            <a:ext cx="594360" cy="594360"/>
          </a:xfrm>
          <a:prstGeom prst="rect">
            <a:avLst/>
          </a:prstGeom>
          <a:noFill/>
          <a:ln/>
        </p:spPr>
        <p:txBody>
          <a:bodyPr wrap="square" lIns="635" tIns="635" rIns="635" bIns="635" rtlCol="0" anchor="ctr"/>
          <a:lstStyle/>
          <a:p>
            <a:pPr algn="ctr" indent="0" marL="0">
              <a:buNone/>
            </a:pPr>
            <a:r>
              <a:rPr lang="en-US" sz="2000" b="1" dirty="0">
                <a:solidFill>
                  <a:srgbClr val="FFFFFF"/>
                </a:solidFill>
              </a:rPr>
              <a:t>5</a:t>
            </a:r>
            <a:endParaRPr lang="en-US" sz="2000" dirty="0"/>
          </a:p>
        </p:txBody>
      </p:sp>
      <p:sp>
        <p:nvSpPr>
          <p:cNvPr id="27" name="step title 5"/>
          <p:cNvSpPr txBox="1"/>
          <p:nvPr/>
        </p:nvSpPr>
        <p:spPr>
          <a:xfrm>
            <a:off x="9802368" y="2331720"/>
            <a:ext cx="1783080" cy="685800"/>
          </a:xfrm>
          <a:prstGeom prst="rect">
            <a:avLst/>
          </a:prstGeom>
          <a:noFill/>
          <a:ln/>
        </p:spPr>
        <p:txBody>
          <a:bodyPr wrap="square" lIns="635" tIns="635" rIns="635" bIns="635" rtlCol="0" anchor="t"/>
          <a:lstStyle/>
          <a:p>
            <a:pPr indent="0" marL="0">
              <a:buNone/>
            </a:pPr>
            <a:r>
              <a:rPr lang="en-US" sz="1700" b="1" dirty="0">
                <a:solidFill>
                  <a:schemeClr val="tx1"/>
                </a:solidFill>
              </a:rPr>
              <a:t>Save + reply</a:t>
            </a:r>
            <a:endParaRPr lang="en-US" sz="1700" dirty="0"/>
          </a:p>
        </p:txBody>
      </p:sp>
      <p:sp>
        <p:nvSpPr>
          <p:cNvPr id="28" name="step text 5"/>
          <p:cNvSpPr txBox="1"/>
          <p:nvPr/>
        </p:nvSpPr>
        <p:spPr>
          <a:xfrm>
            <a:off x="9802368" y="3063240"/>
            <a:ext cx="1783080" cy="1508760"/>
          </a:xfrm>
          <a:prstGeom prst="rect">
            <a:avLst/>
          </a:prstGeom>
          <a:noFill/>
          <a:ln/>
        </p:spPr>
        <p:txBody>
          <a:bodyPr wrap="square" lIns="635" tIns="635" rIns="635" bIns="635" rtlCol="0" anchor="t"/>
          <a:lstStyle/>
          <a:p>
            <a:pPr indent="0" marL="0">
              <a:buNone/>
            </a:pPr>
            <a:r>
              <a:rPr lang="en-US" sz="1400" dirty="0">
                <a:solidFill>
                  <a:schemeClr val="tx2"/>
                </a:solidFill>
              </a:rPr>
              <a:t>Board row upserted (incident fused); ticket sent to the citizen</a:t>
            </a:r>
            <a:endParaRPr lang="en-US" sz="1400" dirty="0"/>
          </a:p>
        </p:txBody>
      </p:sp>
      <p:sp>
        <p:nvSpPr>
          <p:cNvPr id="29" name="a2a box"/>
          <p:cNvSpPr/>
          <p:nvPr/>
        </p:nvSpPr>
        <p:spPr>
          <a:xfrm>
            <a:off x="548640" y="4892040"/>
            <a:ext cx="5486400" cy="1280160"/>
          </a:xfrm>
          <a:prstGeom prst="roundRect">
            <a:avLst>
              <a:gd name="adj" fmla="val 5714"/>
            </a:avLst>
          </a:prstGeom>
          <a:solidFill>
            <a:srgbClr val="E3F1F2"/>
          </a:solidFill>
          <a:ln w="12700">
            <a:solidFill>
              <a:srgbClr val="E3F1F2"/>
            </a:solidFill>
            <a:prstDash val="solid"/>
          </a:ln>
        </p:spPr>
      </p:sp>
      <p:sp>
        <p:nvSpPr>
          <p:cNvPr id="30" name="a2a text"/>
          <p:cNvSpPr txBox="1"/>
          <p:nvPr/>
        </p:nvSpPr>
        <p:spPr>
          <a:xfrm>
            <a:off x="777240" y="4983480"/>
            <a:ext cx="5029200" cy="1097280"/>
          </a:xfrm>
          <a:prstGeom prst="rect">
            <a:avLst/>
          </a:prstGeom>
          <a:noFill/>
          <a:ln/>
        </p:spPr>
        <p:txBody>
          <a:bodyPr wrap="square" lIns="635" tIns="635" rIns="635" bIns="635" rtlCol="0" anchor="ctr"/>
          <a:lstStyle/>
          <a:p>
            <a:pPr indent="0" marL="0">
              <a:buNone/>
            </a:pPr>
            <a:r>
              <a:rPr lang="en-US" sz="1500" b="1" dirty="0">
                <a:solidFill>
                  <a:srgbClr val="0E7C86"/>
                </a:solidFill>
              </a:rPr>
              <a:t>Agent-to-agent contract: </a:t>
            </a:r>
            <a:pPr indent="0" marL="0">
              <a:buNone/>
            </a:pPr>
            <a:r>
              <a:rPr lang="en-US" sz="1500" dirty="0">
                <a:solidFill>
                  <a:srgbClr val="0B1F33"/>
                </a:solidFill>
              </a:rPr>
              <a:t>request in natural language, answer as JSON validated by a schema; errors become human-review flags</a:t>
            </a:r>
            <a:endParaRPr lang="en-US" sz="1500" dirty="0"/>
          </a:p>
        </p:txBody>
      </p:sp>
      <p:sp>
        <p:nvSpPr>
          <p:cNvPr id="31" name="memory box"/>
          <p:cNvSpPr/>
          <p:nvPr/>
        </p:nvSpPr>
        <p:spPr>
          <a:xfrm>
            <a:off x="6263640" y="4892040"/>
            <a:ext cx="5376672" cy="1280160"/>
          </a:xfrm>
          <a:prstGeom prst="roundRect">
            <a:avLst>
              <a:gd name="adj" fmla="val 5714"/>
            </a:avLst>
          </a:prstGeom>
          <a:solidFill>
            <a:srgbClr val="E3F1F2"/>
          </a:solidFill>
          <a:ln w="12700">
            <a:solidFill>
              <a:srgbClr val="E3F1F2"/>
            </a:solidFill>
            <a:prstDash val="solid"/>
          </a:ln>
        </p:spPr>
      </p:sp>
      <p:sp>
        <p:nvSpPr>
          <p:cNvPr id="32" name="memory text"/>
          <p:cNvSpPr txBox="1"/>
          <p:nvPr/>
        </p:nvSpPr>
        <p:spPr>
          <a:xfrm>
            <a:off x="6492240" y="4983480"/>
            <a:ext cx="4937760" cy="1097280"/>
          </a:xfrm>
          <a:prstGeom prst="rect">
            <a:avLst/>
          </a:prstGeom>
          <a:noFill/>
          <a:ln/>
        </p:spPr>
        <p:txBody>
          <a:bodyPr wrap="square" lIns="635" tIns="635" rIns="635" bIns="635" rtlCol="0" anchor="ctr"/>
          <a:lstStyle/>
          <a:p>
            <a:pPr indent="0" marL="0">
              <a:buNone/>
            </a:pPr>
            <a:r>
              <a:rPr lang="en-US" sz="1500" b="1" dirty="0">
                <a:solidFill>
                  <a:srgbClr val="0E7C86"/>
                </a:solidFill>
              </a:rPr>
              <a:t>Incident memory: </a:t>
            </a:r>
            <a:pPr indent="0" marL="0">
              <a:buNone/>
            </a:pPr>
            <a:r>
              <a:rPr lang="en-US" sz="1500" dirty="0">
                <a:solidFill>
                  <a:srgbClr val="0B1F33"/>
                </a:solidFill>
              </a:rPr>
              <a:t>same citizen within 30 min = one incident; merge keeps the deepest depth and every danger flag</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Why agents, and why this fits a flood emergency</a:t>
            </a:r>
            <a:endParaRPr lang="en-US" sz="3400" dirty="0"/>
          </a:p>
        </p:txBody>
      </p:sp>
      <p:sp>
        <p:nvSpPr>
          <p:cNvPr id="4" name="v2 card"/>
          <p:cNvSpPr/>
          <p:nvPr/>
        </p:nvSpPr>
        <p:spPr>
          <a:xfrm>
            <a:off x="548640" y="1371600"/>
            <a:ext cx="3657600" cy="3291840"/>
          </a:xfrm>
          <a:prstGeom prst="roundRect">
            <a:avLst>
              <a:gd name="adj" fmla="val 2222"/>
            </a:avLst>
          </a:prstGeom>
          <a:solidFill>
            <a:schemeClr val="bg2"/>
          </a:solidFill>
          <a:ln w="12700">
            <a:solidFill>
              <a:schemeClr val="bg2"/>
            </a:solidFill>
            <a:prstDash val="solid"/>
          </a:ln>
        </p:spPr>
      </p:sp>
      <p:sp>
        <p:nvSpPr>
          <p:cNvPr id="5" name="v2 title"/>
          <p:cNvSpPr txBox="1"/>
          <p:nvPr/>
        </p:nvSpPr>
        <p:spPr>
          <a:xfrm>
            <a:off x="822960" y="1508760"/>
            <a:ext cx="3108960" cy="457200"/>
          </a:xfrm>
          <a:prstGeom prst="rect">
            <a:avLst/>
          </a:prstGeom>
          <a:noFill/>
          <a:ln/>
        </p:spPr>
        <p:txBody>
          <a:bodyPr wrap="square" lIns="635" tIns="635" rIns="635" bIns="635" rtlCol="0" anchor="t"/>
          <a:lstStyle/>
          <a:p>
            <a:pPr indent="0" marL="0">
              <a:buNone/>
            </a:pPr>
            <a:r>
              <a:rPr lang="en-US" sz="2000" b="1" dirty="0">
                <a:solidFill>
                  <a:schemeClr val="accent6"/>
                </a:solidFill>
              </a:rPr>
              <a:t>v2: pipeline</a:t>
            </a:r>
            <a:endParaRPr lang="en-US" sz="2000" dirty="0"/>
          </a:p>
        </p:txBody>
      </p:sp>
      <p:sp>
        <p:nvSpPr>
          <p:cNvPr id="6" name="v2 list"/>
          <p:cNvSpPr txBox="1"/>
          <p:nvPr/>
        </p:nvSpPr>
        <p:spPr>
          <a:xfrm>
            <a:off x="822960" y="2057400"/>
            <a:ext cx="3108960" cy="246888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2"/>
                </a:solidFill>
              </a:rPr>
              <a:t>53 nodes</a:t>
            </a:r>
            <a:endParaRPr lang="en-US" sz="1600" dirty="0"/>
          </a:p>
          <a:p>
            <a:pPr marL="342900" indent="-342900">
              <a:spcAft>
                <a:spcPts val="800"/>
              </a:spcAft>
              <a:buSzPct val="100000"/>
              <a:buChar char="•"/>
            </a:pPr>
            <a:r>
              <a:rPr lang="en-US" sz="1600" dirty="0">
                <a:solidFill>
                  <a:schemeClr val="tx2"/>
                </a:solidFill>
              </a:rPr>
              <a:t>Switch router + IF fallbacks</a:t>
            </a:r>
            <a:endParaRPr lang="en-US" sz="1600" dirty="0"/>
          </a:p>
          <a:p>
            <a:pPr marL="342900" indent="-342900">
              <a:spcAft>
                <a:spcPts val="800"/>
              </a:spcAft>
              <a:buSzPct val="100000"/>
              <a:buChar char="•"/>
            </a:pPr>
            <a:r>
              <a:rPr lang="en-US" sz="1600" dirty="0">
                <a:solidFill>
                  <a:schemeClr val="tx2"/>
                </a:solidFill>
              </a:rPr>
              <a:t>3 agents at fixed positions</a:t>
            </a:r>
            <a:endParaRPr lang="en-US" sz="1600" dirty="0"/>
          </a:p>
          <a:p>
            <a:pPr marL="342900" indent="-342900">
              <a:spcAft>
                <a:spcPts val="800"/>
              </a:spcAft>
              <a:buSzPct val="100000"/>
              <a:buChar char="•"/>
            </a:pPr>
            <a:r>
              <a:rPr lang="en-US" sz="1600" dirty="0">
                <a:solidFill>
                  <a:schemeClr val="tx2"/>
                </a:solidFill>
              </a:rPr>
              <a:t>Control flow decides</a:t>
            </a:r>
            <a:endParaRPr lang="en-US" sz="1600" dirty="0"/>
          </a:p>
        </p:txBody>
      </p:sp>
      <p:pic>
        <p:nvPicPr>
          <p:cNvPr id="7" name="v2 to v3 arrow" descr="preencoded.png">    </p:cNvPr>
          <p:cNvPicPr>
            <a:picLocks noChangeAspect="1"/>
          </p:cNvPicPr>
          <p:nvPr/>
        </p:nvPicPr>
        <p:blipFill>
          <a:blip r:embed="rId1"/>
          <a:stretch>
            <a:fillRect/>
          </a:stretch>
        </p:blipFill>
        <p:spPr>
          <a:xfrm>
            <a:off x="4389120" y="2743200"/>
            <a:ext cx="502920" cy="502920"/>
          </a:xfrm>
          <a:prstGeom prst="rect">
            <a:avLst/>
          </a:prstGeom>
        </p:spPr>
      </p:pic>
      <p:sp>
        <p:nvSpPr>
          <p:cNvPr id="8" name="v3 card"/>
          <p:cNvSpPr/>
          <p:nvPr/>
        </p:nvSpPr>
        <p:spPr>
          <a:xfrm>
            <a:off x="5074920" y="1371600"/>
            <a:ext cx="3657600" cy="3291840"/>
          </a:xfrm>
          <a:prstGeom prst="roundRect">
            <a:avLst>
              <a:gd name="adj" fmla="val 2222"/>
            </a:avLst>
          </a:prstGeom>
          <a:solidFill>
            <a:srgbClr val="E3F1F2"/>
          </a:solidFill>
          <a:ln w="12700">
            <a:solidFill>
              <a:srgbClr val="E3F1F2"/>
            </a:solidFill>
            <a:prstDash val="solid"/>
          </a:ln>
        </p:spPr>
      </p:sp>
      <p:sp>
        <p:nvSpPr>
          <p:cNvPr id="9" name="v3 title"/>
          <p:cNvSpPr txBox="1"/>
          <p:nvPr/>
        </p:nvSpPr>
        <p:spPr>
          <a:xfrm>
            <a:off x="5349240" y="1508760"/>
            <a:ext cx="3108960" cy="457200"/>
          </a:xfrm>
          <a:prstGeom prst="rect">
            <a:avLst/>
          </a:prstGeom>
          <a:noFill/>
          <a:ln/>
        </p:spPr>
        <p:txBody>
          <a:bodyPr wrap="square" lIns="635" tIns="635" rIns="635" bIns="635" rtlCol="0" anchor="t"/>
          <a:lstStyle/>
          <a:p>
            <a:pPr indent="0" marL="0">
              <a:buNone/>
            </a:pPr>
            <a:r>
              <a:rPr lang="en-US" sz="2000" b="1" dirty="0">
                <a:solidFill>
                  <a:schemeClr val="accent1"/>
                </a:solidFill>
              </a:rPr>
              <a:t>v3: agentic</a:t>
            </a:r>
            <a:endParaRPr lang="en-US" sz="2000" dirty="0"/>
          </a:p>
        </p:txBody>
      </p:sp>
      <p:sp>
        <p:nvSpPr>
          <p:cNvPr id="10" name="v3 list"/>
          <p:cNvSpPr txBox="1"/>
          <p:nvPr/>
        </p:nvSpPr>
        <p:spPr>
          <a:xfrm>
            <a:off x="5349240" y="2057400"/>
            <a:ext cx="3200400" cy="246888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32 nodes, trigger + orchestrator</a:t>
            </a:r>
            <a:endParaRPr lang="en-US" sz="1600" dirty="0"/>
          </a:p>
          <a:p>
            <a:pPr marL="342900" indent="-342900">
              <a:spcAft>
                <a:spcPts val="800"/>
              </a:spcAft>
              <a:buSzPct val="100000"/>
              <a:buChar char="•"/>
            </a:pPr>
            <a:r>
              <a:rPr lang="en-US" sz="1600" dirty="0">
                <a:solidFill>
                  <a:schemeClr val="tx1"/>
                </a:solidFill>
              </a:rPr>
              <a:t>5 agents, agent-to-agent calls</a:t>
            </a:r>
            <a:endParaRPr lang="en-US" sz="1600" dirty="0"/>
          </a:p>
          <a:p>
            <a:pPr marL="342900" indent="-342900">
              <a:spcAft>
                <a:spcPts val="800"/>
              </a:spcAft>
              <a:buSzPct val="100000"/>
              <a:buChar char="•"/>
            </a:pPr>
            <a:r>
              <a:rPr lang="en-US" sz="1600" dirty="0">
                <a:solidFill>
                  <a:schemeClr val="tx1"/>
                </a:solidFill>
              </a:rPr>
              <a:t>Agents decide; code lives in tools</a:t>
            </a:r>
            <a:endParaRPr lang="en-US" sz="1600" dirty="0"/>
          </a:p>
          <a:p>
            <a:pPr marL="342900" indent="-342900">
              <a:spcAft>
                <a:spcPts val="800"/>
              </a:spcAft>
              <a:buSzPct val="100000"/>
              <a:buChar char="•"/>
            </a:pPr>
            <a:r>
              <a:rPr lang="en-US" sz="1600" dirty="0">
                <a:solidFill>
                  <a:schemeClr val="tx1"/>
                </a:solidFill>
              </a:rPr>
              <a:t>Safety Officer before any reply</a:t>
            </a:r>
            <a:endParaRPr lang="en-US" sz="1600" dirty="0"/>
          </a:p>
        </p:txBody>
      </p:sp>
      <p:sp>
        <p:nvSpPr>
          <p:cNvPr id="11" name="fit header"/>
          <p:cNvSpPr txBox="1"/>
          <p:nvPr/>
        </p:nvSpPr>
        <p:spPr>
          <a:xfrm>
            <a:off x="9098280" y="1371600"/>
            <a:ext cx="2560320" cy="411480"/>
          </a:xfrm>
          <a:prstGeom prst="rect">
            <a:avLst/>
          </a:prstGeom>
          <a:noFill/>
          <a:ln/>
        </p:spPr>
        <p:txBody>
          <a:bodyPr wrap="square" lIns="635" tIns="635" rIns="635" bIns="635" rtlCol="0" anchor="t"/>
          <a:lstStyle/>
          <a:p>
            <a:pPr indent="0" marL="0">
              <a:buNone/>
            </a:pPr>
            <a:r>
              <a:rPr lang="en-US" sz="1700" b="1" dirty="0">
                <a:solidFill>
                  <a:schemeClr val="tx1"/>
                </a:solidFill>
              </a:rPr>
              <a:t>Fit with the use case</a:t>
            </a:r>
            <a:endParaRPr lang="en-US" sz="1700" dirty="0"/>
          </a:p>
        </p:txBody>
      </p:sp>
      <p:sp>
        <p:nvSpPr>
          <p:cNvPr id="12" name="fit 1"/>
          <p:cNvSpPr txBox="1"/>
          <p:nvPr/>
        </p:nvSpPr>
        <p:spPr>
          <a:xfrm>
            <a:off x="9098280" y="1874520"/>
            <a:ext cx="2560320" cy="658368"/>
          </a:xfrm>
          <a:prstGeom prst="rect">
            <a:avLst/>
          </a:prstGeom>
          <a:noFill/>
          <a:ln/>
        </p:spPr>
        <p:txBody>
          <a:bodyPr wrap="square" lIns="635" tIns="635" rIns="635" bIns="635" rtlCol="0" anchor="t"/>
          <a:lstStyle/>
          <a:p>
            <a:pPr indent="0" marL="0">
              <a:buNone/>
            </a:pPr>
            <a:r>
              <a:rPr lang="en-US" sz="1400" b="1" dirty="0">
                <a:solidFill>
                  <a:srgbClr val="0B1F33"/>
                </a:solidFill>
              </a:rPr>
              <a:t>Inputs arrive in any order</a:t>
            </a:r>
            <a:endParaRPr lang="en-US" sz="1400" dirty="0"/>
          </a:p>
          <a:p>
            <a:pPr indent="0" marL="0">
              <a:buNone/>
            </a:pPr>
            <a:r>
              <a:rPr lang="en-US" sz="1400" dirty="0">
                <a:solidFill>
                  <a:srgbClr val="0E7C86"/>
                </a:solidFill>
              </a:rPr>
              <a:t>Orchestrator plans each time</a:t>
            </a:r>
            <a:endParaRPr lang="en-US" sz="1400" dirty="0"/>
          </a:p>
        </p:txBody>
      </p:sp>
      <p:sp>
        <p:nvSpPr>
          <p:cNvPr id="13" name="fit 2"/>
          <p:cNvSpPr txBox="1"/>
          <p:nvPr/>
        </p:nvSpPr>
        <p:spPr>
          <a:xfrm>
            <a:off x="9098280" y="2587752"/>
            <a:ext cx="2560320" cy="658368"/>
          </a:xfrm>
          <a:prstGeom prst="rect">
            <a:avLst/>
          </a:prstGeom>
          <a:noFill/>
          <a:ln/>
        </p:spPr>
        <p:txBody>
          <a:bodyPr wrap="square" lIns="635" tIns="635" rIns="635" bIns="635" rtlCol="0" anchor="t"/>
          <a:lstStyle/>
          <a:p>
            <a:pPr indent="0" marL="0">
              <a:buNone/>
            </a:pPr>
            <a:r>
              <a:rPr lang="en-US" sz="1400" b="1" dirty="0">
                <a:solidFill>
                  <a:srgbClr val="0B1F33"/>
                </a:solidFill>
              </a:rPr>
              <a:t>Each modality needs its own model</a:t>
            </a:r>
            <a:endParaRPr lang="en-US" sz="1400" dirty="0"/>
          </a:p>
          <a:p>
            <a:pPr indent="0" marL="0">
              <a:buNone/>
            </a:pPr>
            <a:r>
              <a:rPr lang="en-US" sz="1400" dirty="0">
                <a:solidFill>
                  <a:srgbClr val="0E7C86"/>
                </a:solidFill>
              </a:rPr>
              <a:t>One specialist per competence</a:t>
            </a:r>
            <a:endParaRPr lang="en-US" sz="1400" dirty="0"/>
          </a:p>
        </p:txBody>
      </p:sp>
      <p:sp>
        <p:nvSpPr>
          <p:cNvPr id="14" name="fit 3"/>
          <p:cNvSpPr txBox="1"/>
          <p:nvPr/>
        </p:nvSpPr>
        <p:spPr>
          <a:xfrm>
            <a:off x="9098280" y="3300984"/>
            <a:ext cx="2560320" cy="658368"/>
          </a:xfrm>
          <a:prstGeom prst="rect">
            <a:avLst/>
          </a:prstGeom>
          <a:noFill/>
          <a:ln/>
        </p:spPr>
        <p:txBody>
          <a:bodyPr wrap="square" lIns="635" tIns="635" rIns="635" bIns="635" rtlCol="0" anchor="t"/>
          <a:lstStyle/>
          <a:p>
            <a:pPr indent="0" marL="0">
              <a:buNone/>
            </a:pPr>
            <a:r>
              <a:rPr lang="en-US" sz="1400" b="1" dirty="0">
                <a:solidFill>
                  <a:srgbClr val="0B1F33"/>
                </a:solidFill>
              </a:rPr>
              <a:t>Reports are incomplete</a:t>
            </a:r>
            <a:endParaRPr lang="en-US" sz="1400" dirty="0"/>
          </a:p>
          <a:p>
            <a:pPr indent="0" marL="0">
              <a:buNone/>
            </a:pPr>
            <a:r>
              <a:rPr lang="en-US" sz="1400" dirty="0">
                <a:solidFill>
                  <a:srgbClr val="0E7C86"/>
                </a:solidFill>
              </a:rPr>
              <a:t>Memory + one follow-up question</a:t>
            </a:r>
            <a:endParaRPr lang="en-US" sz="1400" dirty="0"/>
          </a:p>
        </p:txBody>
      </p:sp>
      <p:sp>
        <p:nvSpPr>
          <p:cNvPr id="15" name="fit 4"/>
          <p:cNvSpPr txBox="1"/>
          <p:nvPr/>
        </p:nvSpPr>
        <p:spPr>
          <a:xfrm>
            <a:off x="9098280" y="4014216"/>
            <a:ext cx="2560320" cy="658368"/>
          </a:xfrm>
          <a:prstGeom prst="rect">
            <a:avLst/>
          </a:prstGeom>
          <a:noFill/>
          <a:ln/>
        </p:spPr>
        <p:txBody>
          <a:bodyPr wrap="square" lIns="635" tIns="635" rIns="635" bIns="635" rtlCol="0" anchor="t"/>
          <a:lstStyle/>
          <a:p>
            <a:pPr indent="0" marL="0">
              <a:buNone/>
            </a:pPr>
            <a:r>
              <a:rPr lang="en-US" sz="1400" b="1" dirty="0">
                <a:solidFill>
                  <a:srgbClr val="0B1F33"/>
                </a:solidFill>
              </a:rPr>
              <a:t>A wrong grade can cost a life</a:t>
            </a:r>
            <a:endParaRPr lang="en-US" sz="1400" dirty="0"/>
          </a:p>
          <a:p>
            <a:pPr indent="0" marL="0">
              <a:buNone/>
            </a:pPr>
            <a:r>
              <a:rPr lang="en-US" sz="1400" dirty="0">
                <a:solidFill>
                  <a:srgbClr val="0E7C86"/>
                </a:solidFill>
              </a:rPr>
              <a:t>Rules tool can only raise</a:t>
            </a:r>
            <a:endParaRPr lang="en-US" sz="1400" dirty="0"/>
          </a:p>
        </p:txBody>
      </p:sp>
      <p:sp>
        <p:nvSpPr>
          <p:cNvPr id="16" name="tradeoff band"/>
          <p:cNvSpPr/>
          <p:nvPr/>
        </p:nvSpPr>
        <p:spPr>
          <a:xfrm>
            <a:off x="548640" y="4937760"/>
            <a:ext cx="11094415" cy="1188720"/>
          </a:xfrm>
          <a:prstGeom prst="roundRect">
            <a:avLst>
              <a:gd name="adj" fmla="val 6154"/>
            </a:avLst>
          </a:prstGeom>
          <a:solidFill>
            <a:schemeClr val="tx1"/>
          </a:solidFill>
          <a:ln w="12700">
            <a:solidFill>
              <a:schemeClr val="tx1"/>
            </a:solidFill>
            <a:prstDash val="solid"/>
          </a:ln>
        </p:spPr>
      </p:sp>
      <p:sp>
        <p:nvSpPr>
          <p:cNvPr id="17" name="tradeoff text"/>
          <p:cNvSpPr txBox="1"/>
          <p:nvPr/>
        </p:nvSpPr>
        <p:spPr>
          <a:xfrm>
            <a:off x="868680" y="5029200"/>
            <a:ext cx="10454335" cy="1005840"/>
          </a:xfrm>
          <a:prstGeom prst="rect">
            <a:avLst/>
          </a:prstGeom>
          <a:noFill/>
          <a:ln/>
        </p:spPr>
        <p:txBody>
          <a:bodyPr wrap="square" lIns="635" tIns="635" rIns="635" bIns="635" rtlCol="0" anchor="ctr"/>
          <a:lstStyle/>
          <a:p>
            <a:pPr indent="0" marL="0">
              <a:buNone/>
            </a:pPr>
            <a:r>
              <a:rPr lang="en-US" sz="1700" b="1" dirty="0">
                <a:solidFill>
                  <a:srgbClr val="F2A541"/>
                </a:solidFill>
              </a:rPr>
              <a:t>Trade-off we accept: </a:t>
            </a:r>
            <a:pPr indent="0" marL="0">
              <a:buNone/>
            </a:pPr>
            <a:r>
              <a:rPr lang="en-US" sz="1700" dirty="0">
                <a:solidFill>
                  <a:srgbClr val="FFFFFF"/>
                </a:solidFill>
              </a:rPr>
              <a:t>more model calls and less predictable plans, bounded by step limits (15 for the orchestrator) and a mandatory Safety Officer call.</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Choice of LLMs: one model per agent</a:t>
            </a:r>
            <a:endParaRPr lang="en-US" sz="3400" dirty="0"/>
          </a:p>
        </p:txBody>
      </p:sp>
      <p:graphicFrame>
        <p:nvGraphicFramePr>
          <p:cNvPr id="9" name="model table"/>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1828800"/>
                <a:gridCol w="1965960"/>
                <a:gridCol w="1783080"/>
                <a:gridCol w="22860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Agent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Fallback</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Triage Orchestrator</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3.5 Flash</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3.1 Flash-Lite</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Long tool-using plans need a large token budget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Vision Agent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Qwen 3.8 27B (Groq)</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3.5 Flash-Lite</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Free, multimodal, tools; about 4 s per photo</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Distress Agent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gpt-oss-120b (Groq)</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8/8 cases, 100% field accuracy (prompt V4)</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Protocol Agent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gpt-oss-20b (Groq)</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Narrow task: search and quote</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Safety Officer</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3.5 Flash-Lite</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gpt-oss-20b</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Different family reviews the orchestrator</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rgbClr val="0B1F33"/>
                          </a:solidFill>
                          <a:latin typeface="Calibri" pitchFamily="34" charset="0"/>
                          <a:ea typeface="Calibri" pitchFamily="34" charset="-122"/>
                          <a:cs typeface="Calibri" pitchFamily="34" charset="-120"/>
                        </a:rPr>
                        <a:t>Speech-to-text</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3.5 Transcribe</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Whisper large-v3</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Calibri" pitchFamily="34" charset="0"/>
                          <a:ea typeface="Calibri" pitchFamily="34" charset="-122"/>
                          <a:cs typeface="Calibri" pitchFamily="34" charset="-120"/>
                        </a:rPr>
                        <a:t>Gemini kept the Derja safety words</a:t>
                      </a:r>
                      <a:endParaRPr lang="en-US" sz="14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5" name="tpm card"/>
          <p:cNvSpPr/>
          <p:nvPr/>
        </p:nvSpPr>
        <p:spPr>
          <a:xfrm>
            <a:off x="8686800" y="1325880"/>
            <a:ext cx="2953512" cy="2194560"/>
          </a:xfrm>
          <a:prstGeom prst="roundRect">
            <a:avLst>
              <a:gd name="adj" fmla="val 3333"/>
            </a:avLst>
          </a:prstGeom>
          <a:solidFill>
            <a:schemeClr val="tx1"/>
          </a:solidFill>
          <a:ln w="12700">
            <a:solidFill>
              <a:schemeClr val="tx1"/>
            </a:solidFill>
            <a:prstDash val="solid"/>
          </a:ln>
        </p:spPr>
      </p:sp>
      <p:sp>
        <p:nvSpPr>
          <p:cNvPr id="6" name="tpm number"/>
          <p:cNvSpPr txBox="1"/>
          <p:nvPr/>
        </p:nvSpPr>
        <p:spPr>
          <a:xfrm>
            <a:off x="8869680" y="1417320"/>
            <a:ext cx="2651760" cy="914400"/>
          </a:xfrm>
          <a:prstGeom prst="rect">
            <a:avLst/>
          </a:prstGeom>
          <a:noFill/>
          <a:ln/>
        </p:spPr>
        <p:txBody>
          <a:bodyPr wrap="square" lIns="635" tIns="635" rIns="635" bIns="635" rtlCol="0" anchor="t"/>
          <a:lstStyle/>
          <a:p>
            <a:pPr indent="0" marL="0">
              <a:buNone/>
            </a:pPr>
            <a:r>
              <a:rPr lang="en-US" sz="4800" b="1" dirty="0">
                <a:solidFill>
                  <a:srgbClr val="F2A541"/>
                </a:solidFill>
                <a:latin typeface="Arial" pitchFamily="34" charset="0"/>
                <a:ea typeface="Arial" pitchFamily="34" charset="-122"/>
                <a:cs typeface="Arial" pitchFamily="34" charset="-120"/>
              </a:rPr>
              <a:t>8,000</a:t>
            </a:r>
            <a:endParaRPr lang="en-US" sz="4800" dirty="0"/>
          </a:p>
        </p:txBody>
      </p:sp>
      <p:sp>
        <p:nvSpPr>
          <p:cNvPr id="7" name="tpm label"/>
          <p:cNvSpPr txBox="1"/>
          <p:nvPr/>
        </p:nvSpPr>
        <p:spPr>
          <a:xfrm>
            <a:off x="8869680" y="2331720"/>
            <a:ext cx="2651760" cy="1097280"/>
          </a:xfrm>
          <a:prstGeom prst="rect">
            <a:avLst/>
          </a:prstGeom>
          <a:noFill/>
          <a:ln/>
        </p:spPr>
        <p:txBody>
          <a:bodyPr wrap="square" lIns="635" tIns="635" rIns="635" bIns="635" rtlCol="0" anchor="t"/>
          <a:lstStyle/>
          <a:p>
            <a:pPr indent="0" marL="0">
              <a:buNone/>
            </a:pPr>
            <a:r>
              <a:rPr lang="en-US" sz="1500" dirty="0">
                <a:solidFill>
                  <a:srgbClr val="FFFFFF"/>
                </a:solidFill>
              </a:rPr>
              <a:t>tokens per minute per Groq model (measured on our key)</a:t>
            </a:r>
            <a:endParaRPr lang="en-US" sz="1500" dirty="0"/>
          </a:p>
        </p:txBody>
      </p:sp>
      <p:sp>
        <p:nvSpPr>
          <p:cNvPr id="8" name="temp card"/>
          <p:cNvSpPr/>
          <p:nvPr/>
        </p:nvSpPr>
        <p:spPr>
          <a:xfrm>
            <a:off x="8686800" y="3703320"/>
            <a:ext cx="2953512" cy="2103120"/>
          </a:xfrm>
          <a:prstGeom prst="roundRect">
            <a:avLst>
              <a:gd name="adj" fmla="val 3478"/>
            </a:avLst>
          </a:prstGeom>
          <a:solidFill>
            <a:schemeClr val="bg2"/>
          </a:solidFill>
          <a:ln w="12700">
            <a:solidFill>
              <a:schemeClr val="bg2"/>
            </a:solidFill>
            <a:prstDash val="solid"/>
          </a:ln>
        </p:spPr>
      </p:sp>
      <p:sp>
        <p:nvSpPr>
          <p:cNvPr id="9" name="temp text"/>
          <p:cNvSpPr txBox="1"/>
          <p:nvPr/>
        </p:nvSpPr>
        <p:spPr>
          <a:xfrm>
            <a:off x="8869680" y="3840480"/>
            <a:ext cx="2651760" cy="1828800"/>
          </a:xfrm>
          <a:prstGeom prst="rect">
            <a:avLst/>
          </a:prstGeom>
          <a:noFill/>
          <a:ln/>
        </p:spPr>
        <p:txBody>
          <a:bodyPr wrap="square" lIns="635" tIns="635" rIns="635" bIns="635" rtlCol="0" anchor="t"/>
          <a:lstStyle/>
          <a:p>
            <a:pPr indent="0" marL="0">
              <a:buNone/>
            </a:pPr>
            <a:r>
              <a:rPr lang="en-US" sz="1500" b="1" dirty="0">
                <a:solidFill>
                  <a:srgbClr val="0E7C86"/>
                </a:solidFill>
              </a:rPr>
              <a:t>Temperature 0.1</a:t>
            </a:r>
            <a:endParaRPr lang="en-US" sz="1500" dirty="0"/>
          </a:p>
          <a:p>
            <a:pPr indent="0" marL="0">
              <a:buNone/>
            </a:pPr>
            <a:r>
              <a:rPr lang="en-US" sz="1500" dirty="0">
                <a:solidFill>
                  <a:srgbClr val="1B3A57"/>
                </a:solidFill>
              </a:rPr>
              <a:t>Reproducible triage; Whisper at 0. Provider-agnostic: only the model sub-nodes change.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Vision Agent: depth from known objects</a:t>
            </a:r>
            <a:endParaRPr lang="en-US" sz="3400" dirty="0"/>
          </a:p>
        </p:txBody>
      </p:sp>
      <p:sp>
        <p:nvSpPr>
          <p:cNvPr id="4" name="vision method"/>
          <p:cNvSpPr txBox="1"/>
          <p:nvPr/>
        </p:nvSpPr>
        <p:spPr>
          <a:xfrm>
            <a:off x="548640" y="1371600"/>
            <a:ext cx="4114800" cy="3017520"/>
          </a:xfrm>
          <a:prstGeom prst="rect">
            <a:avLst/>
          </a:prstGeom>
          <a:noFill/>
          <a:ln/>
        </p:spPr>
        <p:txBody>
          <a:bodyPr wrap="square" lIns="635" tIns="635" rIns="635" bIns="635" rtlCol="0" anchor="t"/>
          <a:lstStyle/>
          <a:p>
            <a:pPr marL="342900" indent="-342900">
              <a:spcAft>
                <a:spcPts val="800"/>
              </a:spcAft>
              <a:buSzPct val="100000"/>
              <a:buFont typeface="+mj-lt"/>
              <a:buAutoNum type="arabicPeriod" startAt="1"/>
            </a:pPr>
            <a:r>
              <a:rPr lang="en-US" sz="1600" dirty="0">
                <a:solidFill>
                  <a:schemeClr val="tx1"/>
                </a:solidFill>
              </a:rPr>
              <a:t>Is it a flood? (pool, sea, puddle are not)</a:t>
            </a:r>
            <a:endParaRPr lang="en-US" sz="1600" dirty="0"/>
          </a:p>
          <a:p>
            <a:pPr marL="342900" indent="-342900">
              <a:spcAft>
                <a:spcPts val="800"/>
              </a:spcAft>
              <a:buSzPct val="100000"/>
              <a:buFont typeface="+mj-lt"/>
              <a:buAutoNum type="arabicPeriod" startAt="1"/>
            </a:pPr>
            <a:r>
              <a:rPr lang="en-US" sz="1600" dirty="0">
                <a:solidFill>
                  <a:schemeClr val="tx1"/>
                </a:solidFill>
              </a:rPr>
              <a:t>List visible anchors; look up each height with the tool</a:t>
            </a:r>
            <a:endParaRPr lang="en-US" sz="1600" dirty="0"/>
          </a:p>
          <a:p>
            <a:pPr marL="342900" indent="-342900">
              <a:spcAft>
                <a:spcPts val="800"/>
              </a:spcAft>
              <a:buSzPct val="100000"/>
              <a:buFont typeface="+mj-lt"/>
              <a:buAutoNum type="arabicPeriod" startAt="1"/>
            </a:pPr>
            <a:r>
              <a:rPr lang="en-US" sz="1600" dirty="0">
                <a:solidFill>
                  <a:schemeClr val="tx1"/>
                </a:solidFill>
              </a:rPr>
              <a:t>Convert the best anchor to a depth interval</a:t>
            </a:r>
            <a:endParaRPr lang="en-US" sz="1600" dirty="0"/>
          </a:p>
          <a:p>
            <a:pPr marL="342900" indent="-342900">
              <a:spcAft>
                <a:spcPts val="800"/>
              </a:spcAft>
              <a:buSzPct val="100000"/>
              <a:buFont typeface="+mj-lt"/>
              <a:buAutoNum type="arabicPeriod" startAt="1"/>
            </a:pPr>
            <a:r>
              <a:rPr lang="en-US" sz="1600" dirty="0">
                <a:solidFill>
                  <a:schemeClr val="tx1"/>
                </a:solidFill>
              </a:rPr>
              <a:t>When unsure, report the deeper interval</a:t>
            </a:r>
            <a:endParaRPr lang="en-US" sz="1600" dirty="0"/>
          </a:p>
          <a:p>
            <a:pPr marL="342900" indent="-342900">
              <a:spcAft>
                <a:spcPts val="800"/>
              </a:spcAft>
              <a:buSzPct val="100000"/>
              <a:buFont typeface="+mj-lt"/>
              <a:buAutoNum type="arabicPeriod" startAt="1"/>
            </a:pPr>
            <a:r>
              <a:rPr lang="en-US" sz="1600" dirty="0">
                <a:solidFill>
                  <a:schemeClr val="tx1"/>
                </a:solidFill>
              </a:rPr>
              <a:t>No anchor visible: no depth, low confidence</a:t>
            </a:r>
            <a:endParaRPr lang="en-US" sz="1600" dirty="0"/>
          </a:p>
        </p:txBody>
      </p:sp>
      <p:graphicFrame>
        <p:nvGraphicFramePr>
          <p:cNvPr id="5" name="vision error chart" descr=""/>
          <p:cNvGraphicFramePr/>
          <p:nvPr/>
        </p:nvGraphicFramePr>
        <p:xfrm>
          <a:off x="4937760" y="1280160"/>
          <a:ext cx="6702552" cy="3291840"/>
        </p:xfrm>
        <a:graphic xmlns:a="http://schemas.openxmlformats.org/drawingml/2006/main">
          <a:graphicData uri="http://schemas.openxmlformats.org/drawingml/2006/chart">
            <c:chart xmlns:c="http://schemas.openxmlformats.org/drawingml/2006/chart" r:id="rId1"/>
          </a:graphicData>
        </a:graphic>
      </p:graphicFrame>
      <p:sp>
        <p:nvSpPr>
          <p:cNvPr id="6" name="vision stat 1"/>
          <p:cNvSpPr/>
          <p:nvPr/>
        </p:nvSpPr>
        <p:spPr>
          <a:xfrm>
            <a:off x="548640" y="4754880"/>
            <a:ext cx="2606040" cy="1371600"/>
          </a:xfrm>
          <a:prstGeom prst="roundRect">
            <a:avLst>
              <a:gd name="adj" fmla="val 5333"/>
            </a:avLst>
          </a:prstGeom>
          <a:solidFill>
            <a:srgbClr val="E3F1F2"/>
          </a:solidFill>
          <a:ln w="12700">
            <a:solidFill>
              <a:srgbClr val="E3F1F2"/>
            </a:solidFill>
            <a:prstDash val="solid"/>
          </a:ln>
        </p:spPr>
      </p:sp>
      <p:sp>
        <p:nvSpPr>
          <p:cNvPr id="7" name="vision stat value 1"/>
          <p:cNvSpPr txBox="1"/>
          <p:nvPr/>
        </p:nvSpPr>
        <p:spPr>
          <a:xfrm>
            <a:off x="685800" y="4800600"/>
            <a:ext cx="2331720" cy="640080"/>
          </a:xfrm>
          <a:prstGeom prst="rect">
            <a:avLst/>
          </a:prstGeom>
          <a:noFill/>
          <a:ln/>
        </p:spPr>
        <p:txBody>
          <a:bodyPr wrap="square" lIns="635" tIns="635" rIns="635" bIns="635" rtlCol="0" anchor="t"/>
          <a:lstStyle/>
          <a:p>
            <a:pPr algn="ctr" indent="0" marL="0">
              <a:buNone/>
            </a:pPr>
            <a:r>
              <a:rPr lang="en-US" sz="2600" b="1" dirty="0">
                <a:solidFill>
                  <a:srgbClr val="0E7C86"/>
                </a:solidFill>
                <a:latin typeface="Arial" pitchFamily="34" charset="0"/>
                <a:ea typeface="Arial" pitchFamily="34" charset="-122"/>
                <a:cs typeface="Arial" pitchFamily="34" charset="-120"/>
              </a:rPr>
              <a:t>55% to 29%</a:t>
            </a:r>
            <a:endParaRPr lang="en-US" sz="2600" dirty="0"/>
          </a:p>
        </p:txBody>
      </p:sp>
      <p:sp>
        <p:nvSpPr>
          <p:cNvPr id="8" name="vision stat label 1"/>
          <p:cNvSpPr txBox="1"/>
          <p:nvPr/>
        </p:nvSpPr>
        <p:spPr>
          <a:xfrm>
            <a:off x="685800" y="5440680"/>
            <a:ext cx="2331720" cy="594360"/>
          </a:xfrm>
          <a:prstGeom prst="rect">
            <a:avLst/>
          </a:prstGeom>
          <a:noFill/>
          <a:ln/>
        </p:spPr>
        <p:txBody>
          <a:bodyPr wrap="square" lIns="635" tIns="635" rIns="635" bIns="635" rtlCol="0" anchor="t"/>
          <a:lstStyle/>
          <a:p>
            <a:pPr algn="ctr" indent="0" marL="0">
              <a:buNone/>
            </a:pPr>
            <a:r>
              <a:rPr lang="en-US" sz="1400" dirty="0">
                <a:solidFill>
                  <a:schemeClr val="tx2"/>
                </a:solidFill>
              </a:rPr>
              <a:t>photos under-estimated (V1 to V2)</a:t>
            </a:r>
            <a:endParaRPr lang="en-US" sz="1400" dirty="0"/>
          </a:p>
        </p:txBody>
      </p:sp>
      <p:sp>
        <p:nvSpPr>
          <p:cNvPr id="9" name="vision stat 2"/>
          <p:cNvSpPr/>
          <p:nvPr/>
        </p:nvSpPr>
        <p:spPr>
          <a:xfrm>
            <a:off x="3355848" y="4754880"/>
            <a:ext cx="2606040" cy="1371600"/>
          </a:xfrm>
          <a:prstGeom prst="roundRect">
            <a:avLst>
              <a:gd name="adj" fmla="val 5333"/>
            </a:avLst>
          </a:prstGeom>
          <a:solidFill>
            <a:srgbClr val="E3F1F2"/>
          </a:solidFill>
          <a:ln w="12700">
            <a:solidFill>
              <a:srgbClr val="E3F1F2"/>
            </a:solidFill>
            <a:prstDash val="solid"/>
          </a:ln>
        </p:spPr>
      </p:sp>
      <p:sp>
        <p:nvSpPr>
          <p:cNvPr id="10" name="vision stat value 2"/>
          <p:cNvSpPr txBox="1"/>
          <p:nvPr/>
        </p:nvSpPr>
        <p:spPr>
          <a:xfrm>
            <a:off x="3493008" y="4800600"/>
            <a:ext cx="2331720" cy="640080"/>
          </a:xfrm>
          <a:prstGeom prst="rect">
            <a:avLst/>
          </a:prstGeom>
          <a:noFill/>
          <a:ln/>
        </p:spPr>
        <p:txBody>
          <a:bodyPr wrap="square" lIns="635" tIns="635" rIns="635" bIns="635" rtlCol="0" anchor="t"/>
          <a:lstStyle/>
          <a:p>
            <a:pPr algn="ctr" indent="0" marL="0">
              <a:buNone/>
            </a:pPr>
            <a:r>
              <a:rPr lang="en-US" sz="2600" b="1" dirty="0">
                <a:solidFill>
                  <a:srgbClr val="0E7C86"/>
                </a:solidFill>
                <a:latin typeface="Arial" pitchFamily="34" charset="0"/>
                <a:ea typeface="Arial" pitchFamily="34" charset="-122"/>
                <a:cs typeface="Arial" pitchFamily="34" charset="-120"/>
              </a:rPr>
              <a:t>23 to 5 cm</a:t>
            </a:r>
            <a:endParaRPr lang="en-US" sz="2600" dirty="0"/>
          </a:p>
        </p:txBody>
      </p:sp>
      <p:sp>
        <p:nvSpPr>
          <p:cNvPr id="11" name="vision stat label 2"/>
          <p:cNvSpPr txBox="1"/>
          <p:nvPr/>
        </p:nvSpPr>
        <p:spPr>
          <a:xfrm>
            <a:off x="3493008" y="5440680"/>
            <a:ext cx="2331720" cy="594360"/>
          </a:xfrm>
          <a:prstGeom prst="rect">
            <a:avLst/>
          </a:prstGeom>
          <a:noFill/>
          <a:ln/>
        </p:spPr>
        <p:txBody>
          <a:bodyPr wrap="square" lIns="635" tIns="635" rIns="635" bIns="635" rtlCol="0" anchor="t"/>
          <a:lstStyle/>
          <a:p>
            <a:pPr algn="ctr" indent="0" marL="0">
              <a:buNone/>
            </a:pPr>
            <a:r>
              <a:rPr lang="en-US" sz="1400" dirty="0">
                <a:solidFill>
                  <a:schemeClr val="tx2"/>
                </a:solidFill>
              </a:rPr>
              <a:t>mean error on severe floods</a:t>
            </a:r>
            <a:endParaRPr lang="en-US" sz="1400" dirty="0"/>
          </a:p>
        </p:txBody>
      </p:sp>
      <p:sp>
        <p:nvSpPr>
          <p:cNvPr id="12" name="vision stat 3"/>
          <p:cNvSpPr/>
          <p:nvPr/>
        </p:nvSpPr>
        <p:spPr>
          <a:xfrm>
            <a:off x="6163056" y="4754880"/>
            <a:ext cx="2606040" cy="1371600"/>
          </a:xfrm>
          <a:prstGeom prst="roundRect">
            <a:avLst>
              <a:gd name="adj" fmla="val 5333"/>
            </a:avLst>
          </a:prstGeom>
          <a:solidFill>
            <a:srgbClr val="E3F1F2"/>
          </a:solidFill>
          <a:ln w="12700">
            <a:solidFill>
              <a:srgbClr val="E3F1F2"/>
            </a:solidFill>
            <a:prstDash val="solid"/>
          </a:ln>
        </p:spPr>
      </p:sp>
      <p:sp>
        <p:nvSpPr>
          <p:cNvPr id="13" name="vision stat value 3"/>
          <p:cNvSpPr txBox="1"/>
          <p:nvPr/>
        </p:nvSpPr>
        <p:spPr>
          <a:xfrm>
            <a:off x="6300216" y="4800600"/>
            <a:ext cx="2331720" cy="640080"/>
          </a:xfrm>
          <a:prstGeom prst="rect">
            <a:avLst/>
          </a:prstGeom>
          <a:noFill/>
          <a:ln/>
        </p:spPr>
        <p:txBody>
          <a:bodyPr wrap="square" lIns="635" tIns="635" rIns="635" bIns="635" rtlCol="0" anchor="t"/>
          <a:lstStyle/>
          <a:p>
            <a:pPr algn="ctr" indent="0" marL="0">
              <a:buNone/>
            </a:pPr>
            <a:r>
              <a:rPr lang="en-US" sz="2600" b="1" dirty="0">
                <a:solidFill>
                  <a:srgbClr val="0E7C86"/>
                </a:solidFill>
                <a:latin typeface="Arial" pitchFamily="34" charset="0"/>
                <a:ea typeface="Arial" pitchFamily="34" charset="-122"/>
                <a:cs typeface="Arial" pitchFamily="34" charset="-120"/>
              </a:rPr>
              <a:t>0</a:t>
            </a:r>
            <a:endParaRPr lang="en-US" sz="2600" dirty="0"/>
          </a:p>
        </p:txBody>
      </p:sp>
      <p:sp>
        <p:nvSpPr>
          <p:cNvPr id="14" name="vision stat label 3"/>
          <p:cNvSpPr txBox="1"/>
          <p:nvPr/>
        </p:nvSpPr>
        <p:spPr>
          <a:xfrm>
            <a:off x="6300216" y="5440680"/>
            <a:ext cx="2331720" cy="594360"/>
          </a:xfrm>
          <a:prstGeom prst="rect">
            <a:avLst/>
          </a:prstGeom>
          <a:noFill/>
          <a:ln/>
        </p:spPr>
        <p:txBody>
          <a:bodyPr wrap="square" lIns="635" tIns="635" rIns="635" bIns="635" rtlCol="0" anchor="t"/>
          <a:lstStyle/>
          <a:p>
            <a:pPr algn="ctr" indent="0" marL="0">
              <a:buNone/>
            </a:pPr>
            <a:r>
              <a:rPr lang="en-US" sz="1400" dirty="0">
                <a:solidFill>
                  <a:schemeClr val="tx2"/>
                </a:solidFill>
              </a:rPr>
              <a:t>severe photos graded P3/P4</a:t>
            </a:r>
            <a:endParaRPr lang="en-US" sz="1400" dirty="0"/>
          </a:p>
        </p:txBody>
      </p:sp>
      <p:sp>
        <p:nvSpPr>
          <p:cNvPr id="15" name="vision stat 4"/>
          <p:cNvSpPr/>
          <p:nvPr/>
        </p:nvSpPr>
        <p:spPr>
          <a:xfrm>
            <a:off x="8970264" y="4754880"/>
            <a:ext cx="2606040" cy="1371600"/>
          </a:xfrm>
          <a:prstGeom prst="roundRect">
            <a:avLst>
              <a:gd name="adj" fmla="val 5333"/>
            </a:avLst>
          </a:prstGeom>
          <a:solidFill>
            <a:srgbClr val="FDF1E1"/>
          </a:solidFill>
          <a:ln w="12700">
            <a:solidFill>
              <a:srgbClr val="FDF1E1"/>
            </a:solidFill>
            <a:prstDash val="solid"/>
          </a:ln>
        </p:spPr>
      </p:sp>
      <p:sp>
        <p:nvSpPr>
          <p:cNvPr id="16" name="vision stat value 4"/>
          <p:cNvSpPr txBox="1"/>
          <p:nvPr/>
        </p:nvSpPr>
        <p:spPr>
          <a:xfrm>
            <a:off x="9107424" y="4800600"/>
            <a:ext cx="2331720" cy="640080"/>
          </a:xfrm>
          <a:prstGeom prst="rect">
            <a:avLst/>
          </a:prstGeom>
          <a:noFill/>
          <a:ln/>
        </p:spPr>
        <p:txBody>
          <a:bodyPr wrap="square" lIns="635" tIns="635" rIns="635" bIns="635" rtlCol="0" anchor="t"/>
          <a:lstStyle/>
          <a:p>
            <a:pPr algn="ctr" indent="0" marL="0">
              <a:buNone/>
            </a:pPr>
            <a:r>
              <a:rPr lang="en-US" sz="2600" b="1" dirty="0">
                <a:solidFill>
                  <a:srgbClr val="B9770E"/>
                </a:solidFill>
                <a:latin typeface="Arial" pitchFamily="34" charset="0"/>
                <a:ea typeface="Arial" pitchFamily="34" charset="-122"/>
                <a:cs typeface="Arial" pitchFamily="34" charset="-120"/>
              </a:rPr>
              <a:t>25%</a:t>
            </a:r>
            <a:endParaRPr lang="en-US" sz="2600" dirty="0"/>
          </a:p>
        </p:txBody>
      </p:sp>
      <p:sp>
        <p:nvSpPr>
          <p:cNvPr id="17" name="vision stat label 4"/>
          <p:cNvSpPr txBox="1"/>
          <p:nvPr/>
        </p:nvSpPr>
        <p:spPr>
          <a:xfrm>
            <a:off x="9107424" y="5440680"/>
            <a:ext cx="2331720" cy="594360"/>
          </a:xfrm>
          <a:prstGeom prst="rect">
            <a:avLst/>
          </a:prstGeom>
          <a:noFill/>
          <a:ln/>
        </p:spPr>
        <p:txBody>
          <a:bodyPr wrap="square" lIns="635" tIns="635" rIns="635" bIns="635" rtlCol="0" anchor="t"/>
          <a:lstStyle/>
          <a:p>
            <a:pPr algn="ctr" indent="0" marL="0">
              <a:buNone/>
            </a:pPr>
            <a:r>
              <a:rPr lang="en-US" sz="1400" dirty="0">
                <a:solidFill>
                  <a:schemeClr val="tx2"/>
                </a:solidFill>
              </a:rPr>
              <a:t>estimates inside the labelled range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Distress Agent: from Derja speech to facts</a:t>
            </a:r>
            <a:endParaRPr lang="en-US" sz="3400" dirty="0"/>
          </a:p>
        </p:txBody>
      </p:sp>
      <p:sp>
        <p:nvSpPr>
          <p:cNvPr id="4" name="asr card"/>
          <p:cNvSpPr/>
          <p:nvPr/>
        </p:nvSpPr>
        <p:spPr>
          <a:xfrm>
            <a:off x="548640" y="1325880"/>
            <a:ext cx="6766560" cy="2331720"/>
          </a:xfrm>
          <a:prstGeom prst="roundRect">
            <a:avLst>
              <a:gd name="adj" fmla="val 3137"/>
            </a:avLst>
          </a:prstGeom>
          <a:solidFill>
            <a:schemeClr val="bg2"/>
          </a:solidFill>
          <a:ln w="12700">
            <a:solidFill>
              <a:schemeClr val="bg2"/>
            </a:solidFill>
            <a:prstDash val="solid"/>
          </a:ln>
        </p:spPr>
      </p:sp>
      <p:sp>
        <p:nvSpPr>
          <p:cNvPr id="5" name="asr title"/>
          <p:cNvSpPr txBox="1"/>
          <p:nvPr/>
        </p:nvSpPr>
        <p:spPr>
          <a:xfrm>
            <a:off x="777240" y="1417320"/>
            <a:ext cx="6309360" cy="411480"/>
          </a:xfrm>
          <a:prstGeom prst="rect">
            <a:avLst/>
          </a:prstGeom>
          <a:noFill/>
          <a:ln/>
        </p:spPr>
        <p:txBody>
          <a:bodyPr wrap="square" lIns="635" tIns="635" rIns="635" bIns="635" rtlCol="0" anchor="t"/>
          <a:lstStyle/>
          <a:p>
            <a:pPr indent="0" marL="0">
              <a:buNone/>
            </a:pPr>
            <a:r>
              <a:rPr lang="en-US" sz="1700" b="1" dirty="0">
                <a:solidFill>
                  <a:schemeClr val="tx1"/>
                </a:solidFill>
              </a:rPr>
              <a:t>Same Derja voice note, two speech engines</a:t>
            </a:r>
            <a:endParaRPr lang="en-US" sz="1700" dirty="0"/>
          </a:p>
        </p:txBody>
      </p:sp>
      <p:sp>
        <p:nvSpPr>
          <p:cNvPr id="6" name="whisper label"/>
          <p:cNvSpPr txBox="1"/>
          <p:nvPr/>
        </p:nvSpPr>
        <p:spPr>
          <a:xfrm>
            <a:off x="777240" y="1920240"/>
            <a:ext cx="1188720" cy="411480"/>
          </a:xfrm>
          <a:prstGeom prst="rect">
            <a:avLst/>
          </a:prstGeom>
          <a:noFill/>
          <a:ln/>
        </p:spPr>
        <p:txBody>
          <a:bodyPr wrap="square" lIns="635" tIns="635" rIns="635" bIns="635" rtlCol="0" anchor="t"/>
          <a:lstStyle/>
          <a:p>
            <a:pPr indent="0" marL="0">
              <a:buNone/>
            </a:pPr>
            <a:r>
              <a:rPr lang="en-US" sz="1500" b="1" dirty="0">
                <a:solidFill>
                  <a:schemeClr val="accent5"/>
                </a:solidFill>
              </a:rPr>
              <a:t>Whisper</a:t>
            </a:r>
            <a:endParaRPr lang="en-US" sz="1500" dirty="0"/>
          </a:p>
        </p:txBody>
      </p:sp>
      <p:sp>
        <p:nvSpPr>
          <p:cNvPr id="7" name="whisper transcript"/>
          <p:cNvSpPr txBox="1"/>
          <p:nvPr/>
        </p:nvSpPr>
        <p:spPr>
          <a:xfrm>
            <a:off x="1783080" y="1874520"/>
            <a:ext cx="5303520" cy="502920"/>
          </a:xfrm>
          <a:prstGeom prst="rect">
            <a:avLst/>
          </a:prstGeom>
          <a:noFill/>
          <a:ln/>
        </p:spPr>
        <p:txBody>
          <a:bodyPr wrap="square" lIns="635" tIns="635" rIns="635" bIns="635" rtlCol="0" anchor="t"/>
          <a:lstStyle/>
          <a:p>
            <a:pPr rtl="1" algn="r" indent="0" marL="0">
              <a:buNone/>
            </a:pPr>
            <a:r>
              <a:rPr lang="ar-TN" altLang="en-US" sz="1500" dirty="0">
                <a:solidFill>
                  <a:schemeClr val="tx1"/>
                </a:solidFill>
              </a:rPr>
              <a:t>عسلامة الموصل فوق الكرابة في نهجنا فمامرة كبيرة معانا في الدار مانجمش تخرج</a:t>
            </a:r>
            <a:endParaRPr lang="ar-TN" sz="1500" dirty="0"/>
          </a:p>
        </p:txBody>
      </p:sp>
      <p:sp>
        <p:nvSpPr>
          <p:cNvPr id="8" name="whisper effect"/>
          <p:cNvSpPr txBox="1"/>
          <p:nvPr/>
        </p:nvSpPr>
        <p:spPr>
          <a:xfrm>
            <a:off x="1783080" y="2331720"/>
            <a:ext cx="5303520" cy="365760"/>
          </a:xfrm>
          <a:prstGeom prst="rect">
            <a:avLst/>
          </a:prstGeom>
          <a:noFill/>
          <a:ln/>
        </p:spPr>
        <p:txBody>
          <a:bodyPr wrap="square" lIns="635" tIns="635" rIns="635" bIns="635" rtlCol="0" anchor="t"/>
          <a:lstStyle/>
          <a:p>
            <a:pPr indent="0" marL="0">
              <a:buNone/>
            </a:pPr>
            <a:r>
              <a:rPr lang="en-US" sz="1300" i="1" dirty="0">
                <a:solidFill>
                  <a:schemeClr val="accent5"/>
                </a:solidFill>
              </a:rPr>
              <a:t>"water reached" became "Mosul"; the old woman was lost: P2</a:t>
            </a:r>
            <a:endParaRPr lang="en-US" sz="1300" dirty="0"/>
          </a:p>
        </p:txBody>
      </p:sp>
      <p:sp>
        <p:nvSpPr>
          <p:cNvPr id="9" name="gemini label"/>
          <p:cNvSpPr txBox="1"/>
          <p:nvPr/>
        </p:nvSpPr>
        <p:spPr>
          <a:xfrm>
            <a:off x="777240" y="2743200"/>
            <a:ext cx="1188720" cy="411480"/>
          </a:xfrm>
          <a:prstGeom prst="rect">
            <a:avLst/>
          </a:prstGeom>
          <a:noFill/>
          <a:ln/>
        </p:spPr>
        <p:txBody>
          <a:bodyPr wrap="square" lIns="635" tIns="635" rIns="635" bIns="635" rtlCol="0" anchor="t"/>
          <a:lstStyle/>
          <a:p>
            <a:pPr indent="0" marL="0">
              <a:buNone/>
            </a:pPr>
            <a:r>
              <a:rPr lang="en-US" sz="1500" b="1" dirty="0">
                <a:solidFill>
                  <a:schemeClr val="accent4"/>
                </a:solidFill>
              </a:rPr>
              <a:t>Gemini</a:t>
            </a:r>
            <a:endParaRPr lang="en-US" sz="1500" dirty="0"/>
          </a:p>
        </p:txBody>
      </p:sp>
      <p:sp>
        <p:nvSpPr>
          <p:cNvPr id="10" name="gemini transcript"/>
          <p:cNvSpPr txBox="1"/>
          <p:nvPr/>
        </p:nvSpPr>
        <p:spPr>
          <a:xfrm>
            <a:off x="1783080" y="2697480"/>
            <a:ext cx="5303520" cy="502920"/>
          </a:xfrm>
          <a:prstGeom prst="rect">
            <a:avLst/>
          </a:prstGeom>
          <a:noFill/>
          <a:ln/>
        </p:spPr>
        <p:txBody>
          <a:bodyPr wrap="square" lIns="635" tIns="635" rIns="635" bIns="635" rtlCol="0" anchor="t"/>
          <a:lstStyle/>
          <a:p>
            <a:pPr rtl="1" algn="r" indent="0" marL="0">
              <a:buNone/>
            </a:pPr>
            <a:r>
              <a:rPr lang="ar-TN" altLang="en-US" sz="1500" dirty="0">
                <a:solidFill>
                  <a:schemeClr val="tx1"/>
                </a:solidFill>
              </a:rPr>
              <a:t>الماء وصل فوق الكرهبه في نهجنا فما مرا كبيره معنا في الدار ماجمتش تخرج عاونونا</a:t>
            </a:r>
            <a:endParaRPr lang="ar-TN" sz="1500" dirty="0"/>
          </a:p>
        </p:txBody>
      </p:sp>
      <p:sp>
        <p:nvSpPr>
          <p:cNvPr id="11" name="gemini effect"/>
          <p:cNvSpPr txBox="1"/>
          <p:nvPr/>
        </p:nvSpPr>
        <p:spPr>
          <a:xfrm>
            <a:off x="1783080" y="3154680"/>
            <a:ext cx="5303520" cy="365760"/>
          </a:xfrm>
          <a:prstGeom prst="rect">
            <a:avLst/>
          </a:prstGeom>
          <a:noFill/>
          <a:ln/>
        </p:spPr>
        <p:txBody>
          <a:bodyPr wrap="square" lIns="635" tIns="635" rIns="635" bIns="635" rtlCol="0" anchor="t"/>
          <a:lstStyle/>
          <a:p>
            <a:pPr indent="0" marL="0">
              <a:buNone/>
            </a:pPr>
            <a:r>
              <a:rPr lang="en-US" sz="1300" i="1" dirty="0">
                <a:solidFill>
                  <a:schemeClr val="accent4"/>
                </a:solidFill>
              </a:rPr>
              <a:t>every safety word kept: water above the car, elderly woman, cannot get out</a:t>
            </a:r>
            <a:endParaRPr lang="en-US" sz="1300" dirty="0"/>
          </a:p>
        </p:txBody>
      </p:sp>
      <p:sp>
        <p:nvSpPr>
          <p:cNvPr id="12" name="transcribe_voice circle"/>
          <p:cNvSpPr/>
          <p:nvPr/>
        </p:nvSpPr>
        <p:spPr>
          <a:xfrm>
            <a:off x="548640" y="3886200"/>
            <a:ext cx="594360" cy="594360"/>
          </a:xfrm>
          <a:prstGeom prst="ellipse">
            <a:avLst/>
          </a:prstGeom>
          <a:solidFill>
            <a:schemeClr val="accent1"/>
          </a:solidFill>
          <a:ln w="12700">
            <a:solidFill>
              <a:schemeClr val="accent1"/>
            </a:solidFill>
            <a:prstDash val="solid"/>
          </a:ln>
        </p:spPr>
      </p:sp>
      <p:pic>
        <p:nvPicPr>
          <p:cNvPr id="13" name="transcribe_voice icon" descr="preencoded.png">    </p:cNvPr>
          <p:cNvPicPr>
            <a:picLocks noChangeAspect="1"/>
          </p:cNvPicPr>
          <p:nvPr/>
        </p:nvPicPr>
        <p:blipFill>
          <a:blip r:embed="rId1"/>
          <a:stretch>
            <a:fillRect/>
          </a:stretch>
        </p:blipFill>
        <p:spPr>
          <a:xfrm>
            <a:off x="697230" y="4034790"/>
            <a:ext cx="297180" cy="297180"/>
          </a:xfrm>
          <a:prstGeom prst="rect">
            <a:avLst/>
          </a:prstGeom>
        </p:spPr>
      </p:pic>
      <p:sp>
        <p:nvSpPr>
          <p:cNvPr id="14" name="distress tool 1"/>
          <p:cNvSpPr txBox="1"/>
          <p:nvPr/>
        </p:nvSpPr>
        <p:spPr>
          <a:xfrm>
            <a:off x="1280160" y="3931920"/>
            <a:ext cx="6035040" cy="548640"/>
          </a:xfrm>
          <a:prstGeom prst="rect">
            <a:avLst/>
          </a:prstGeom>
          <a:noFill/>
          <a:ln/>
        </p:spPr>
        <p:txBody>
          <a:bodyPr wrap="square" lIns="635" tIns="635" rIns="635" bIns="635" rtlCol="0" anchor="ctr"/>
          <a:lstStyle/>
          <a:p>
            <a:pPr indent="0" marL="0">
              <a:buNone/>
            </a:pPr>
            <a:r>
              <a:rPr lang="en-US" sz="1500" b="1" dirty="0">
                <a:solidFill>
                  <a:srgbClr val="0B1F33"/>
                </a:solidFill>
                <a:latin typeface="Courier New" pitchFamily="34" charset="0"/>
                <a:ea typeface="Courier New" pitchFamily="34" charset="-122"/>
                <a:cs typeface="Courier New" pitchFamily="34" charset="-120"/>
              </a:rPr>
              <a:t>transcribe_voice  </a:t>
            </a:r>
            <a:pPr indent="0" marL="0">
              <a:buNone/>
            </a:pPr>
            <a:r>
              <a:rPr lang="en-US" sz="1500" dirty="0">
                <a:solidFill>
                  <a:srgbClr val="1B3A57"/>
                </a:solidFill>
              </a:rPr>
              <a:t>Gemini first, Whisper backup: the agent chooses</a:t>
            </a:r>
            <a:endParaRPr lang="en-US" sz="1500" dirty="0"/>
          </a:p>
        </p:txBody>
      </p:sp>
      <p:sp>
        <p:nvSpPr>
          <p:cNvPr id="15" name="convert_level_to_cm circle"/>
          <p:cNvSpPr/>
          <p:nvPr/>
        </p:nvSpPr>
        <p:spPr>
          <a:xfrm>
            <a:off x="548640" y="4663440"/>
            <a:ext cx="594360" cy="594360"/>
          </a:xfrm>
          <a:prstGeom prst="ellipse">
            <a:avLst/>
          </a:prstGeom>
          <a:solidFill>
            <a:schemeClr val="accent1"/>
          </a:solidFill>
          <a:ln w="12700">
            <a:solidFill>
              <a:schemeClr val="accent1"/>
            </a:solidFill>
            <a:prstDash val="solid"/>
          </a:ln>
        </p:spPr>
      </p:sp>
      <p:pic>
        <p:nvPicPr>
          <p:cNvPr id="16" name="convert_level_to_cm icon" descr="preencoded.png">    </p:cNvPr>
          <p:cNvPicPr>
            <a:picLocks noChangeAspect="1"/>
          </p:cNvPicPr>
          <p:nvPr/>
        </p:nvPicPr>
        <p:blipFill>
          <a:blip r:embed="rId2"/>
          <a:stretch>
            <a:fillRect/>
          </a:stretch>
        </p:blipFill>
        <p:spPr>
          <a:xfrm>
            <a:off x="697230" y="4812030"/>
            <a:ext cx="297180" cy="297180"/>
          </a:xfrm>
          <a:prstGeom prst="rect">
            <a:avLst/>
          </a:prstGeom>
        </p:spPr>
      </p:pic>
      <p:sp>
        <p:nvSpPr>
          <p:cNvPr id="17" name="distress tool 2"/>
          <p:cNvSpPr txBox="1"/>
          <p:nvPr/>
        </p:nvSpPr>
        <p:spPr>
          <a:xfrm>
            <a:off x="1280160" y="4709160"/>
            <a:ext cx="6035040" cy="548640"/>
          </a:xfrm>
          <a:prstGeom prst="rect">
            <a:avLst/>
          </a:prstGeom>
          <a:noFill/>
          <a:ln/>
        </p:spPr>
        <p:txBody>
          <a:bodyPr wrap="square" lIns="635" tIns="635" rIns="635" bIns="635" rtlCol="0" anchor="ctr"/>
          <a:lstStyle/>
          <a:p>
            <a:pPr indent="0" marL="0">
              <a:buNone/>
            </a:pPr>
            <a:r>
              <a:rPr lang="en-US" sz="1500" b="1" dirty="0">
                <a:solidFill>
                  <a:srgbClr val="0B1F33"/>
                </a:solidFill>
                <a:latin typeface="Courier New" pitchFamily="34" charset="0"/>
                <a:ea typeface="Courier New" pitchFamily="34" charset="-122"/>
                <a:cs typeface="Courier New" pitchFamily="34" charset="-120"/>
              </a:rPr>
              <a:t>convert_level_to_cm  </a:t>
            </a:r>
            <a:pPr indent="0" marL="0">
              <a:buNone/>
            </a:pPr>
            <a:r>
              <a:rPr lang="en-US" sz="1500" dirty="0">
                <a:solidFill>
                  <a:srgbClr val="1B3A57"/>
                </a:solidFill>
              </a:rPr>
              <a:t>"above the car" = 150 cm, "knee" = 50 cm</a:t>
            </a:r>
            <a:endParaRPr lang="en-US" sz="1500" dirty="0"/>
          </a:p>
        </p:txBody>
      </p:sp>
      <p:sp>
        <p:nvSpPr>
          <p:cNvPr id="18" name="ask_citizen circle"/>
          <p:cNvSpPr/>
          <p:nvPr/>
        </p:nvSpPr>
        <p:spPr>
          <a:xfrm>
            <a:off x="548640" y="5440680"/>
            <a:ext cx="594360" cy="594360"/>
          </a:xfrm>
          <a:prstGeom prst="ellipse">
            <a:avLst/>
          </a:prstGeom>
          <a:solidFill>
            <a:schemeClr val="accent1"/>
          </a:solidFill>
          <a:ln w="12700">
            <a:solidFill>
              <a:schemeClr val="accent1"/>
            </a:solidFill>
            <a:prstDash val="solid"/>
          </a:ln>
        </p:spPr>
      </p:sp>
      <p:pic>
        <p:nvPicPr>
          <p:cNvPr id="19" name="ask_citizen icon" descr="preencoded.png">    </p:cNvPr>
          <p:cNvPicPr>
            <a:picLocks noChangeAspect="1"/>
          </p:cNvPicPr>
          <p:nvPr/>
        </p:nvPicPr>
        <p:blipFill>
          <a:blip r:embed="rId3"/>
          <a:stretch>
            <a:fillRect/>
          </a:stretch>
        </p:blipFill>
        <p:spPr>
          <a:xfrm>
            <a:off x="697230" y="5589270"/>
            <a:ext cx="297180" cy="297180"/>
          </a:xfrm>
          <a:prstGeom prst="rect">
            <a:avLst/>
          </a:prstGeom>
        </p:spPr>
      </p:pic>
      <p:sp>
        <p:nvSpPr>
          <p:cNvPr id="20" name="distress tool 3"/>
          <p:cNvSpPr txBox="1"/>
          <p:nvPr/>
        </p:nvSpPr>
        <p:spPr>
          <a:xfrm>
            <a:off x="1280160" y="5486400"/>
            <a:ext cx="6035040" cy="548640"/>
          </a:xfrm>
          <a:prstGeom prst="rect">
            <a:avLst/>
          </a:prstGeom>
          <a:noFill/>
          <a:ln/>
        </p:spPr>
        <p:txBody>
          <a:bodyPr wrap="square" lIns="635" tIns="635" rIns="635" bIns="635" rtlCol="0" anchor="ctr"/>
          <a:lstStyle/>
          <a:p>
            <a:pPr indent="0" marL="0">
              <a:buNone/>
            </a:pPr>
            <a:r>
              <a:rPr lang="en-US" sz="1500" b="1" dirty="0">
                <a:solidFill>
                  <a:srgbClr val="0B1F33"/>
                </a:solidFill>
                <a:latin typeface="Courier New" pitchFamily="34" charset="0"/>
                <a:ea typeface="Courier New" pitchFamily="34" charset="-122"/>
                <a:cs typeface="Courier New" pitchFamily="34" charset="-120"/>
              </a:rPr>
              <a:t>ask_citizen  </a:t>
            </a:r>
            <a:pPr indent="0" marL="0">
              <a:buNone/>
            </a:pPr>
            <a:r>
              <a:rPr lang="en-US" sz="1500" dirty="0">
                <a:solidFill>
                  <a:srgbClr val="1B3A57"/>
                </a:solidFill>
              </a:rPr>
              <a:t>One question, in the citizen's language, if facts are missing</a:t>
            </a:r>
            <a:endParaRPr lang="en-US" sz="1500" dirty="0"/>
          </a:p>
        </p:txBody>
      </p:sp>
      <p:graphicFrame>
        <p:nvGraphicFramePr>
          <p:cNvPr id="21" name="extractor chart" descr=""/>
          <p:cNvGraphicFramePr/>
          <p:nvPr/>
        </p:nvGraphicFramePr>
        <p:xfrm>
          <a:off x="7589520" y="1325880"/>
          <a:ext cx="4050792" cy="3657600"/>
        </p:xfrm>
        <a:graphic xmlns:a="http://schemas.openxmlformats.org/drawingml/2006/main">
          <a:graphicData uri="http://schemas.openxmlformats.org/drawingml/2006/chart">
            <c:chart xmlns:c="http://schemas.openxmlformats.org/drawingml/2006/chart" r:id="rId4"/>
          </a:graphicData>
        </a:graphic>
      </p:graphicFrame>
      <p:sp>
        <p:nvSpPr>
          <p:cNvPr id="22" name="cases card"/>
          <p:cNvSpPr/>
          <p:nvPr/>
        </p:nvSpPr>
        <p:spPr>
          <a:xfrm>
            <a:off x="7589520" y="5166360"/>
            <a:ext cx="4050792" cy="960120"/>
          </a:xfrm>
          <a:prstGeom prst="roundRect">
            <a:avLst>
              <a:gd name="adj" fmla="val 7619"/>
            </a:avLst>
          </a:prstGeom>
          <a:solidFill>
            <a:srgbClr val="E3F1F2"/>
          </a:solidFill>
          <a:ln w="12700">
            <a:solidFill>
              <a:srgbClr val="E3F1F2"/>
            </a:solidFill>
            <a:prstDash val="solid"/>
          </a:ln>
        </p:spPr>
      </p:sp>
      <p:sp>
        <p:nvSpPr>
          <p:cNvPr id="23" name="cases text"/>
          <p:cNvSpPr txBox="1"/>
          <p:nvPr/>
        </p:nvSpPr>
        <p:spPr>
          <a:xfrm>
            <a:off x="7726680" y="5212080"/>
            <a:ext cx="3794760" cy="868680"/>
          </a:xfrm>
          <a:prstGeom prst="rect">
            <a:avLst/>
          </a:prstGeom>
          <a:noFill/>
          <a:ln/>
        </p:spPr>
        <p:txBody>
          <a:bodyPr wrap="square" lIns="635" tIns="635" rIns="635" bIns="635" rtlCol="0" anchor="ctr"/>
          <a:lstStyle/>
          <a:p>
            <a:pPr indent="0" marL="0">
              <a:buNone/>
            </a:pPr>
            <a:r>
              <a:rPr lang="en-US" sz="1700" b="1" dirty="0">
                <a:solidFill>
                  <a:srgbClr val="0E7C86"/>
                </a:solidFill>
              </a:rPr>
              <a:t>6/8 to 8/8 </a:t>
            </a:r>
            <a:pPr indent="0" marL="0">
              <a:buNone/>
            </a:pPr>
            <a:r>
              <a:rPr lang="en-US" sz="1700" dirty="0">
                <a:solidFill>
                  <a:srgbClr val="0B1F33"/>
                </a:solidFill>
              </a:rPr>
              <a:t>cases fully correct (V2 to V4)</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Prompt engineering, fixed on real failures</a:t>
            </a:r>
            <a:endParaRPr lang="en-US" sz="3400" dirty="0"/>
          </a:p>
        </p:txBody>
      </p:sp>
      <p:sp>
        <p:nvSpPr>
          <p:cNvPr id="4" name="technique chip 1"/>
          <p:cNvSpPr/>
          <p:nvPr/>
        </p:nvSpPr>
        <p:spPr>
          <a:xfrm>
            <a:off x="548640" y="1371600"/>
            <a:ext cx="2194560" cy="685800"/>
          </a:xfrm>
          <a:prstGeom prst="roundRect">
            <a:avLst>
              <a:gd name="adj" fmla="val 13333"/>
            </a:avLst>
          </a:prstGeom>
          <a:solidFill>
            <a:srgbClr val="E3F1F2"/>
          </a:solidFill>
          <a:ln w="12700">
            <a:solidFill>
              <a:srgbClr val="E3F1F2"/>
            </a:solidFill>
            <a:prstDash val="solid"/>
          </a:ln>
        </p:spPr>
      </p:sp>
      <p:sp>
        <p:nvSpPr>
          <p:cNvPr id="5" name="technique 1"/>
          <p:cNvSpPr txBox="1"/>
          <p:nvPr/>
        </p:nvSpPr>
        <p:spPr>
          <a:xfrm>
            <a:off x="640080" y="137160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Role prompting</a:t>
            </a:r>
            <a:endParaRPr lang="en-US" sz="1400" dirty="0"/>
          </a:p>
        </p:txBody>
      </p:sp>
      <p:sp>
        <p:nvSpPr>
          <p:cNvPr id="6" name="technique chip 2"/>
          <p:cNvSpPr/>
          <p:nvPr/>
        </p:nvSpPr>
        <p:spPr>
          <a:xfrm>
            <a:off x="2880360" y="1371600"/>
            <a:ext cx="2194560" cy="685800"/>
          </a:xfrm>
          <a:prstGeom prst="roundRect">
            <a:avLst>
              <a:gd name="adj" fmla="val 13333"/>
            </a:avLst>
          </a:prstGeom>
          <a:solidFill>
            <a:srgbClr val="E3F1F2"/>
          </a:solidFill>
          <a:ln w="12700">
            <a:solidFill>
              <a:srgbClr val="E3F1F2"/>
            </a:solidFill>
            <a:prstDash val="solid"/>
          </a:ln>
        </p:spPr>
      </p:sp>
      <p:sp>
        <p:nvSpPr>
          <p:cNvPr id="7" name="technique 2"/>
          <p:cNvSpPr txBox="1"/>
          <p:nvPr/>
        </p:nvSpPr>
        <p:spPr>
          <a:xfrm>
            <a:off x="2971800" y="137160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Reasoning before numbers</a:t>
            </a:r>
            <a:endParaRPr lang="en-US" sz="1400" dirty="0"/>
          </a:p>
        </p:txBody>
      </p:sp>
      <p:sp>
        <p:nvSpPr>
          <p:cNvPr id="8" name="technique chip 3"/>
          <p:cNvSpPr/>
          <p:nvPr/>
        </p:nvSpPr>
        <p:spPr>
          <a:xfrm>
            <a:off x="548640" y="2240280"/>
            <a:ext cx="2194560" cy="685800"/>
          </a:xfrm>
          <a:prstGeom prst="roundRect">
            <a:avLst>
              <a:gd name="adj" fmla="val 13333"/>
            </a:avLst>
          </a:prstGeom>
          <a:solidFill>
            <a:srgbClr val="E3F1F2"/>
          </a:solidFill>
          <a:ln w="12700">
            <a:solidFill>
              <a:srgbClr val="E3F1F2"/>
            </a:solidFill>
            <a:prstDash val="solid"/>
          </a:ln>
        </p:spPr>
      </p:sp>
      <p:sp>
        <p:nvSpPr>
          <p:cNvPr id="9" name="technique 3"/>
          <p:cNvSpPr txBox="1"/>
          <p:nvPr/>
        </p:nvSpPr>
        <p:spPr>
          <a:xfrm>
            <a:off x="640080" y="224028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JSON Schema output</a:t>
            </a:r>
            <a:endParaRPr lang="en-US" sz="1400" dirty="0"/>
          </a:p>
        </p:txBody>
      </p:sp>
      <p:sp>
        <p:nvSpPr>
          <p:cNvPr id="10" name="technique chip 4"/>
          <p:cNvSpPr/>
          <p:nvPr/>
        </p:nvSpPr>
        <p:spPr>
          <a:xfrm>
            <a:off x="2880360" y="2240280"/>
            <a:ext cx="2194560" cy="685800"/>
          </a:xfrm>
          <a:prstGeom prst="roundRect">
            <a:avLst>
              <a:gd name="adj" fmla="val 13333"/>
            </a:avLst>
          </a:prstGeom>
          <a:solidFill>
            <a:srgbClr val="E3F1F2"/>
          </a:solidFill>
          <a:ln w="12700">
            <a:solidFill>
              <a:srgbClr val="E3F1F2"/>
            </a:solidFill>
            <a:prstDash val="solid"/>
          </a:ln>
        </p:spPr>
      </p:sp>
      <p:sp>
        <p:nvSpPr>
          <p:cNvPr id="11" name="technique 4"/>
          <p:cNvSpPr txBox="1"/>
          <p:nvPr/>
        </p:nvSpPr>
        <p:spPr>
          <a:xfrm>
            <a:off x="2971800" y="224028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Few-shot (Derja, French)</a:t>
            </a:r>
            <a:endParaRPr lang="en-US" sz="1400" dirty="0"/>
          </a:p>
        </p:txBody>
      </p:sp>
      <p:sp>
        <p:nvSpPr>
          <p:cNvPr id="12" name="technique chip 5"/>
          <p:cNvSpPr/>
          <p:nvPr/>
        </p:nvSpPr>
        <p:spPr>
          <a:xfrm>
            <a:off x="548640" y="3108960"/>
            <a:ext cx="2194560" cy="685800"/>
          </a:xfrm>
          <a:prstGeom prst="roundRect">
            <a:avLst>
              <a:gd name="adj" fmla="val 13333"/>
            </a:avLst>
          </a:prstGeom>
          <a:solidFill>
            <a:srgbClr val="E3F1F2"/>
          </a:solidFill>
          <a:ln w="12700">
            <a:solidFill>
              <a:srgbClr val="E3F1F2"/>
            </a:solidFill>
            <a:prstDash val="solid"/>
          </a:ln>
        </p:spPr>
      </p:sp>
      <p:sp>
        <p:nvSpPr>
          <p:cNvPr id="13" name="technique 5"/>
          <p:cNvSpPr txBox="1"/>
          <p:nvPr/>
        </p:nvSpPr>
        <p:spPr>
          <a:xfrm>
            <a:off x="640080" y="310896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Domain lexicon</a:t>
            </a:r>
            <a:endParaRPr lang="en-US" sz="1400" dirty="0"/>
          </a:p>
        </p:txBody>
      </p:sp>
      <p:sp>
        <p:nvSpPr>
          <p:cNvPr id="14" name="technique chip 6"/>
          <p:cNvSpPr/>
          <p:nvPr/>
        </p:nvSpPr>
        <p:spPr>
          <a:xfrm>
            <a:off x="2880360" y="3108960"/>
            <a:ext cx="2194560" cy="685800"/>
          </a:xfrm>
          <a:prstGeom prst="roundRect">
            <a:avLst>
              <a:gd name="adj" fmla="val 13333"/>
            </a:avLst>
          </a:prstGeom>
          <a:solidFill>
            <a:srgbClr val="E3F1F2"/>
          </a:solidFill>
          <a:ln w="12700">
            <a:solidFill>
              <a:srgbClr val="E3F1F2"/>
            </a:solidFill>
            <a:prstDash val="solid"/>
          </a:ln>
        </p:spPr>
      </p:sp>
      <p:sp>
        <p:nvSpPr>
          <p:cNvPr id="15" name="technique 6"/>
          <p:cNvSpPr txBox="1"/>
          <p:nvPr/>
        </p:nvSpPr>
        <p:spPr>
          <a:xfrm>
            <a:off x="2971800" y="310896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Negative constraints</a:t>
            </a:r>
            <a:endParaRPr lang="en-US" sz="1400" dirty="0"/>
          </a:p>
        </p:txBody>
      </p:sp>
      <p:sp>
        <p:nvSpPr>
          <p:cNvPr id="16" name="technique chip 7"/>
          <p:cNvSpPr/>
          <p:nvPr/>
        </p:nvSpPr>
        <p:spPr>
          <a:xfrm>
            <a:off x="548640" y="3977640"/>
            <a:ext cx="2194560" cy="685800"/>
          </a:xfrm>
          <a:prstGeom prst="roundRect">
            <a:avLst>
              <a:gd name="adj" fmla="val 13333"/>
            </a:avLst>
          </a:prstGeom>
          <a:solidFill>
            <a:srgbClr val="E3F1F2"/>
          </a:solidFill>
          <a:ln w="12700">
            <a:solidFill>
              <a:srgbClr val="E3F1F2"/>
            </a:solidFill>
            <a:prstDash val="solid"/>
          </a:ln>
        </p:spPr>
      </p:sp>
      <p:sp>
        <p:nvSpPr>
          <p:cNvPr id="17" name="technique 7"/>
          <p:cNvSpPr txBox="1"/>
          <p:nvPr/>
        </p:nvSpPr>
        <p:spPr>
          <a:xfrm>
            <a:off x="640080" y="397764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Life-safety bias</a:t>
            </a:r>
            <a:endParaRPr lang="en-US" sz="1400" dirty="0"/>
          </a:p>
        </p:txBody>
      </p:sp>
      <p:sp>
        <p:nvSpPr>
          <p:cNvPr id="18" name="technique chip 8"/>
          <p:cNvSpPr/>
          <p:nvPr/>
        </p:nvSpPr>
        <p:spPr>
          <a:xfrm>
            <a:off x="2880360" y="3977640"/>
            <a:ext cx="2194560" cy="685800"/>
          </a:xfrm>
          <a:prstGeom prst="roundRect">
            <a:avLst>
              <a:gd name="adj" fmla="val 13333"/>
            </a:avLst>
          </a:prstGeom>
          <a:solidFill>
            <a:srgbClr val="E3F1F2"/>
          </a:solidFill>
          <a:ln w="12700">
            <a:solidFill>
              <a:srgbClr val="E3F1F2"/>
            </a:solidFill>
            <a:prstDash val="solid"/>
          </a:ln>
        </p:spPr>
      </p:sp>
      <p:sp>
        <p:nvSpPr>
          <p:cNvPr id="19" name="technique 8"/>
          <p:cNvSpPr txBox="1"/>
          <p:nvPr/>
        </p:nvSpPr>
        <p:spPr>
          <a:xfrm>
            <a:off x="2971800" y="397764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Injection guard</a:t>
            </a:r>
            <a:endParaRPr lang="en-US" sz="1400" dirty="0"/>
          </a:p>
        </p:txBody>
      </p:sp>
      <p:sp>
        <p:nvSpPr>
          <p:cNvPr id="20" name="technique chip 9"/>
          <p:cNvSpPr/>
          <p:nvPr/>
        </p:nvSpPr>
        <p:spPr>
          <a:xfrm>
            <a:off x="548640" y="4846320"/>
            <a:ext cx="2194560" cy="685800"/>
          </a:xfrm>
          <a:prstGeom prst="roundRect">
            <a:avLst>
              <a:gd name="adj" fmla="val 13333"/>
            </a:avLst>
          </a:prstGeom>
          <a:solidFill>
            <a:srgbClr val="E3F1F2"/>
          </a:solidFill>
          <a:ln w="12700">
            <a:solidFill>
              <a:srgbClr val="E3F1F2"/>
            </a:solidFill>
            <a:prstDash val="solid"/>
          </a:ln>
        </p:spPr>
      </p:sp>
      <p:sp>
        <p:nvSpPr>
          <p:cNvPr id="21" name="technique 9"/>
          <p:cNvSpPr txBox="1"/>
          <p:nvPr/>
        </p:nvSpPr>
        <p:spPr>
          <a:xfrm>
            <a:off x="640080" y="484632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Tool-use rules</a:t>
            </a:r>
            <a:endParaRPr lang="en-US" sz="1400" dirty="0"/>
          </a:p>
        </p:txBody>
      </p:sp>
      <p:sp>
        <p:nvSpPr>
          <p:cNvPr id="22" name="technique chip 10"/>
          <p:cNvSpPr/>
          <p:nvPr/>
        </p:nvSpPr>
        <p:spPr>
          <a:xfrm>
            <a:off x="2880360" y="4846320"/>
            <a:ext cx="2194560" cy="685800"/>
          </a:xfrm>
          <a:prstGeom prst="roundRect">
            <a:avLst>
              <a:gd name="adj" fmla="val 13333"/>
            </a:avLst>
          </a:prstGeom>
          <a:solidFill>
            <a:srgbClr val="E3F1F2"/>
          </a:solidFill>
          <a:ln w="12700">
            <a:solidFill>
              <a:srgbClr val="E3F1F2"/>
            </a:solidFill>
            <a:prstDash val="solid"/>
          </a:ln>
        </p:spPr>
      </p:sp>
      <p:sp>
        <p:nvSpPr>
          <p:cNvPr id="23" name="technique 10"/>
          <p:cNvSpPr txBox="1"/>
          <p:nvPr/>
        </p:nvSpPr>
        <p:spPr>
          <a:xfrm>
            <a:off x="2971800" y="4846320"/>
            <a:ext cx="2011680" cy="685800"/>
          </a:xfrm>
          <a:prstGeom prst="rect">
            <a:avLst/>
          </a:prstGeom>
          <a:noFill/>
          <a:ln/>
        </p:spPr>
        <p:txBody>
          <a:bodyPr wrap="square" lIns="635" tIns="635" rIns="635" bIns="635" rtlCol="0" anchor="ctr"/>
          <a:lstStyle/>
          <a:p>
            <a:pPr algn="ctr" indent="0" marL="0">
              <a:buNone/>
            </a:pPr>
            <a:r>
              <a:rPr lang="en-US" sz="1400" b="1" dirty="0">
                <a:solidFill>
                  <a:schemeClr val="accent1"/>
                </a:solidFill>
              </a:rPr>
              <a:t>Temperature 0.1</a:t>
            </a:r>
            <a:endParaRPr lang="en-US" sz="1400" dirty="0"/>
          </a:p>
        </p:txBody>
      </p:sp>
      <p:sp>
        <p:nvSpPr>
          <p:cNvPr id="24" name="story title"/>
          <p:cNvSpPr txBox="1"/>
          <p:nvPr/>
        </p:nvSpPr>
        <p:spPr>
          <a:xfrm>
            <a:off x="5486400" y="1325880"/>
            <a:ext cx="6126480" cy="457200"/>
          </a:xfrm>
          <a:prstGeom prst="rect">
            <a:avLst/>
          </a:prstGeom>
          <a:noFill/>
          <a:ln/>
        </p:spPr>
        <p:txBody>
          <a:bodyPr wrap="square" lIns="635" tIns="635" rIns="635" bIns="635" rtlCol="0" anchor="t"/>
          <a:lstStyle/>
          <a:p>
            <a:pPr indent="0" marL="0">
              <a:buNone/>
            </a:pPr>
            <a:r>
              <a:rPr lang="en-US" sz="1900" b="1" dirty="0">
                <a:solidFill>
                  <a:schemeClr val="tx1"/>
                </a:solidFill>
              </a:rPr>
              <a:t>The ask_citizen story (Distress Agent V5)</a:t>
            </a:r>
            <a:endParaRPr lang="en-US" sz="1900" dirty="0"/>
          </a:p>
        </p:txBody>
      </p:sp>
      <p:sp>
        <p:nvSpPr>
          <p:cNvPr id="25" name="story card 1"/>
          <p:cNvSpPr/>
          <p:nvPr/>
        </p:nvSpPr>
        <p:spPr>
          <a:xfrm>
            <a:off x="5486400" y="1920240"/>
            <a:ext cx="6153912" cy="1207008"/>
          </a:xfrm>
          <a:prstGeom prst="roundRect">
            <a:avLst>
              <a:gd name="adj" fmla="val 6061"/>
            </a:avLst>
          </a:prstGeom>
          <a:solidFill>
            <a:schemeClr val="bg2"/>
          </a:solidFill>
          <a:ln w="12700">
            <a:solidFill>
              <a:schemeClr val="bg2"/>
            </a:solidFill>
            <a:prstDash val="solid"/>
          </a:ln>
        </p:spPr>
      </p:sp>
      <p:sp>
        <p:nvSpPr>
          <p:cNvPr id="26" name="test chip 1"/>
          <p:cNvSpPr/>
          <p:nvPr/>
        </p:nvSpPr>
        <p:spPr>
          <a:xfrm>
            <a:off x="5623560" y="2194560"/>
            <a:ext cx="868680" cy="640080"/>
          </a:xfrm>
          <a:prstGeom prst="roundRect">
            <a:avLst>
              <a:gd name="adj" fmla="val 11429"/>
            </a:avLst>
          </a:prstGeom>
          <a:solidFill>
            <a:srgbClr val="C0392B"/>
          </a:solidFill>
          <a:ln w="12700">
            <a:solidFill>
              <a:srgbClr val="C0392B"/>
            </a:solidFill>
            <a:prstDash val="solid"/>
          </a:ln>
        </p:spPr>
      </p:sp>
      <p:sp>
        <p:nvSpPr>
          <p:cNvPr id="27" name="test id 1"/>
          <p:cNvSpPr txBox="1"/>
          <p:nvPr/>
        </p:nvSpPr>
        <p:spPr>
          <a:xfrm>
            <a:off x="5623560" y="2194560"/>
            <a:ext cx="868680" cy="640080"/>
          </a:xfrm>
          <a:prstGeom prst="rect">
            <a:avLst/>
          </a:prstGeom>
          <a:noFill/>
          <a:ln/>
        </p:spPr>
        <p:txBody>
          <a:bodyPr wrap="square" lIns="635" tIns="635" rIns="635" bIns="635" rtlCol="0" anchor="ctr"/>
          <a:lstStyle/>
          <a:p>
            <a:pPr algn="ctr" indent="0" marL="0">
              <a:buNone/>
            </a:pPr>
            <a:r>
              <a:rPr lang="en-US" sz="1700" b="1" dirty="0">
                <a:solidFill>
                  <a:srgbClr val="FFFFFF"/>
                </a:solidFill>
              </a:rPr>
              <a:t>#73</a:t>
            </a:r>
            <a:endParaRPr lang="en-US" sz="1700" dirty="0"/>
          </a:p>
        </p:txBody>
      </p:sp>
      <p:sp>
        <p:nvSpPr>
          <p:cNvPr id="28" name="story text 1"/>
          <p:cNvSpPr txBox="1"/>
          <p:nvPr/>
        </p:nvSpPr>
        <p:spPr>
          <a:xfrm>
            <a:off x="6675120" y="1993392"/>
            <a:ext cx="4846320" cy="1078992"/>
          </a:xfrm>
          <a:prstGeom prst="rect">
            <a:avLst/>
          </a:prstGeom>
          <a:noFill/>
          <a:ln/>
        </p:spPr>
        <p:txBody>
          <a:bodyPr wrap="square" lIns="635" tIns="635" rIns="635" bIns="635" rtlCol="0" anchor="ctr"/>
          <a:lstStyle/>
          <a:p>
            <a:pPr indent="0" marL="0">
              <a:buNone/>
            </a:pPr>
            <a:r>
              <a:rPr lang="en-US" sz="1400" dirty="0">
                <a:solidFill>
                  <a:srgbClr val="0B1F33"/>
                </a:solidFill>
              </a:rPr>
              <a:t>Wrote the question into an output field, never called the tool: nothing sent</a:t>
            </a:r>
            <a:endParaRPr lang="en-US" sz="1400" dirty="0"/>
          </a:p>
          <a:p>
            <a:pPr indent="0" marL="0">
              <a:buNone/>
            </a:pPr>
            <a:r>
              <a:rPr lang="en-US" sz="1400" b="1" dirty="0">
                <a:solidFill>
                  <a:srgbClr val="0E7C86"/>
                </a:solidFill>
              </a:rPr>
              <a:t>Removed the field: only the tool reaches the citizen</a:t>
            </a:r>
            <a:endParaRPr lang="en-US" sz="1400" dirty="0"/>
          </a:p>
        </p:txBody>
      </p:sp>
      <p:sp>
        <p:nvSpPr>
          <p:cNvPr id="29" name="story card 2"/>
          <p:cNvSpPr/>
          <p:nvPr/>
        </p:nvSpPr>
        <p:spPr>
          <a:xfrm>
            <a:off x="5486400" y="3291840"/>
            <a:ext cx="6153912" cy="1207008"/>
          </a:xfrm>
          <a:prstGeom prst="roundRect">
            <a:avLst>
              <a:gd name="adj" fmla="val 6061"/>
            </a:avLst>
          </a:prstGeom>
          <a:solidFill>
            <a:schemeClr val="bg2"/>
          </a:solidFill>
          <a:ln w="12700">
            <a:solidFill>
              <a:schemeClr val="bg2"/>
            </a:solidFill>
            <a:prstDash val="solid"/>
          </a:ln>
        </p:spPr>
      </p:sp>
      <p:sp>
        <p:nvSpPr>
          <p:cNvPr id="30" name="test chip 2"/>
          <p:cNvSpPr/>
          <p:nvPr/>
        </p:nvSpPr>
        <p:spPr>
          <a:xfrm>
            <a:off x="5623560" y="3566160"/>
            <a:ext cx="868680" cy="640080"/>
          </a:xfrm>
          <a:prstGeom prst="roundRect">
            <a:avLst>
              <a:gd name="adj" fmla="val 11429"/>
            </a:avLst>
          </a:prstGeom>
          <a:solidFill>
            <a:srgbClr val="E67E22"/>
          </a:solidFill>
          <a:ln w="12700">
            <a:solidFill>
              <a:srgbClr val="E67E22"/>
            </a:solidFill>
            <a:prstDash val="solid"/>
          </a:ln>
        </p:spPr>
      </p:sp>
      <p:sp>
        <p:nvSpPr>
          <p:cNvPr id="31" name="test id 2"/>
          <p:cNvSpPr txBox="1"/>
          <p:nvPr/>
        </p:nvSpPr>
        <p:spPr>
          <a:xfrm>
            <a:off x="5623560" y="3566160"/>
            <a:ext cx="868680" cy="640080"/>
          </a:xfrm>
          <a:prstGeom prst="rect">
            <a:avLst/>
          </a:prstGeom>
          <a:noFill/>
          <a:ln/>
        </p:spPr>
        <p:txBody>
          <a:bodyPr wrap="square" lIns="635" tIns="635" rIns="635" bIns="635" rtlCol="0" anchor="ctr"/>
          <a:lstStyle/>
          <a:p>
            <a:pPr algn="ctr" indent="0" marL="0">
              <a:buNone/>
            </a:pPr>
            <a:r>
              <a:rPr lang="en-US" sz="1700" b="1" dirty="0">
                <a:solidFill>
                  <a:srgbClr val="FFFFFF"/>
                </a:solidFill>
              </a:rPr>
              <a:t>#78</a:t>
            </a:r>
            <a:endParaRPr lang="en-US" sz="1700" dirty="0"/>
          </a:p>
        </p:txBody>
      </p:sp>
      <p:sp>
        <p:nvSpPr>
          <p:cNvPr id="32" name="story text 2"/>
          <p:cNvSpPr txBox="1"/>
          <p:nvPr/>
        </p:nvSpPr>
        <p:spPr>
          <a:xfrm>
            <a:off x="6675120" y="3364992"/>
            <a:ext cx="4846320" cy="1078992"/>
          </a:xfrm>
          <a:prstGeom prst="rect">
            <a:avLst/>
          </a:prstGeom>
          <a:noFill/>
          <a:ln/>
        </p:spPr>
        <p:txBody>
          <a:bodyPr wrap="square" lIns="635" tIns="635" rIns="635" bIns="635" rtlCol="0" anchor="ctr"/>
          <a:lstStyle/>
          <a:p>
            <a:pPr indent="0" marL="0">
              <a:buNone/>
            </a:pPr>
            <a:r>
              <a:rPr lang="en-US" sz="1400" dirty="0">
                <a:solidFill>
                  <a:srgbClr val="0B1F33"/>
                </a:solidFill>
              </a:rPr>
              <a:t>Called the tool, then stopped "awaiting the citizen's response"</a:t>
            </a:r>
            <a:endParaRPr lang="en-US" sz="1400" dirty="0"/>
          </a:p>
          <a:p>
            <a:pPr indent="0" marL="0">
              <a:buNone/>
            </a:pPr>
            <a:r>
              <a:rPr lang="en-US" sz="1400" b="1" dirty="0">
                <a:solidFill>
                  <a:srgbClr val="0E7C86"/>
                </a:solidFill>
              </a:rPr>
              <a:t>Stated the call is fire-and-forget: return JSON now</a:t>
            </a:r>
            <a:endParaRPr lang="en-US" sz="1400" dirty="0"/>
          </a:p>
        </p:txBody>
      </p:sp>
      <p:sp>
        <p:nvSpPr>
          <p:cNvPr id="33" name="story card 3"/>
          <p:cNvSpPr/>
          <p:nvPr/>
        </p:nvSpPr>
        <p:spPr>
          <a:xfrm>
            <a:off x="5486400" y="4663440"/>
            <a:ext cx="6153912" cy="1207008"/>
          </a:xfrm>
          <a:prstGeom prst="roundRect">
            <a:avLst>
              <a:gd name="adj" fmla="val 6061"/>
            </a:avLst>
          </a:prstGeom>
          <a:solidFill>
            <a:schemeClr val="bg2"/>
          </a:solidFill>
          <a:ln w="12700">
            <a:solidFill>
              <a:schemeClr val="bg2"/>
            </a:solidFill>
            <a:prstDash val="solid"/>
          </a:ln>
        </p:spPr>
      </p:sp>
      <p:sp>
        <p:nvSpPr>
          <p:cNvPr id="34" name="test chip 3"/>
          <p:cNvSpPr/>
          <p:nvPr/>
        </p:nvSpPr>
        <p:spPr>
          <a:xfrm>
            <a:off x="5623560" y="4937760"/>
            <a:ext cx="868680" cy="640080"/>
          </a:xfrm>
          <a:prstGeom prst="roundRect">
            <a:avLst>
              <a:gd name="adj" fmla="val 11429"/>
            </a:avLst>
          </a:prstGeom>
          <a:solidFill>
            <a:srgbClr val="2A9D5C"/>
          </a:solidFill>
          <a:ln w="12700">
            <a:solidFill>
              <a:srgbClr val="2A9D5C"/>
            </a:solidFill>
            <a:prstDash val="solid"/>
          </a:ln>
        </p:spPr>
      </p:sp>
      <p:sp>
        <p:nvSpPr>
          <p:cNvPr id="35" name="test id 3"/>
          <p:cNvSpPr txBox="1"/>
          <p:nvPr/>
        </p:nvSpPr>
        <p:spPr>
          <a:xfrm>
            <a:off x="5623560" y="4937760"/>
            <a:ext cx="868680" cy="640080"/>
          </a:xfrm>
          <a:prstGeom prst="rect">
            <a:avLst/>
          </a:prstGeom>
          <a:noFill/>
          <a:ln/>
        </p:spPr>
        <p:txBody>
          <a:bodyPr wrap="square" lIns="635" tIns="635" rIns="635" bIns="635" rtlCol="0" anchor="ctr"/>
          <a:lstStyle/>
          <a:p>
            <a:pPr algn="ctr" indent="0" marL="0">
              <a:buNone/>
            </a:pPr>
            <a:r>
              <a:rPr lang="en-US" sz="1700" b="1" dirty="0">
                <a:solidFill>
                  <a:srgbClr val="FFFFFF"/>
                </a:solidFill>
              </a:rPr>
              <a:t>#79</a:t>
            </a:r>
            <a:endParaRPr lang="en-US" sz="1700" dirty="0"/>
          </a:p>
        </p:txBody>
      </p:sp>
      <p:sp>
        <p:nvSpPr>
          <p:cNvPr id="36" name="story text 3"/>
          <p:cNvSpPr txBox="1"/>
          <p:nvPr/>
        </p:nvSpPr>
        <p:spPr>
          <a:xfrm>
            <a:off x="6675120" y="4736592"/>
            <a:ext cx="4846320" cy="1078992"/>
          </a:xfrm>
          <a:prstGeom prst="rect">
            <a:avLst/>
          </a:prstGeom>
          <a:noFill/>
          <a:ln/>
        </p:spPr>
        <p:txBody>
          <a:bodyPr wrap="square" lIns="635" tIns="635" rIns="635" bIns="635" rtlCol="0" anchor="ctr"/>
          <a:lstStyle/>
          <a:p>
            <a:pPr indent="0" marL="0">
              <a:buNone/>
            </a:pPr>
            <a:r>
              <a:rPr lang="en-US" sz="1400" dirty="0">
                <a:solidFill>
                  <a:srgbClr val="0B1F33"/>
                </a:solidFill>
              </a:rPr>
              <a:t>Asked one clear question and returned valid JSON</a:t>
            </a:r>
            <a:endParaRPr lang="en-US" sz="1400" dirty="0"/>
          </a:p>
          <a:p>
            <a:pPr indent="0" marL="0">
              <a:buNone/>
            </a:pPr>
            <a:r>
              <a:rPr lang="en-US" sz="1400" b="1" dirty="0">
                <a:solidFill>
                  <a:srgbClr val="0E7C86"/>
                </a:solidFill>
              </a:rPr>
              <a:t>Validated; #80 asked in French</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RAG: search and quote before deciding</a:t>
            </a:r>
            <a:endParaRPr lang="en-US" sz="3400" dirty="0"/>
          </a:p>
        </p:txBody>
      </p:sp>
      <p:sp>
        <p:nvSpPr>
          <p:cNvPr id="4" name="rag step 1"/>
          <p:cNvSpPr/>
          <p:nvPr/>
        </p:nvSpPr>
        <p:spPr>
          <a:xfrm>
            <a:off x="548640" y="1417320"/>
            <a:ext cx="2084832" cy="2651760"/>
          </a:xfrm>
          <a:prstGeom prst="roundRect">
            <a:avLst>
              <a:gd name="adj" fmla="val 3509"/>
            </a:avLst>
          </a:prstGeom>
          <a:solidFill>
            <a:schemeClr val="bg2"/>
          </a:solidFill>
          <a:ln w="12700">
            <a:solidFill>
              <a:schemeClr val="bg2"/>
            </a:solidFill>
            <a:prstDash val="solid"/>
          </a:ln>
        </p:spPr>
      </p:sp>
      <p:sp>
        <p:nvSpPr>
          <p:cNvPr id="5" name="Corpus circle"/>
          <p:cNvSpPr/>
          <p:nvPr/>
        </p:nvSpPr>
        <p:spPr>
          <a:xfrm>
            <a:off x="1271016" y="1600200"/>
            <a:ext cx="640080" cy="640080"/>
          </a:xfrm>
          <a:prstGeom prst="ellipse">
            <a:avLst/>
          </a:prstGeom>
          <a:solidFill>
            <a:schemeClr val="accent1"/>
          </a:solidFill>
          <a:ln w="12700">
            <a:solidFill>
              <a:schemeClr val="accent1"/>
            </a:solidFill>
            <a:prstDash val="solid"/>
          </a:ln>
        </p:spPr>
      </p:sp>
      <p:pic>
        <p:nvPicPr>
          <p:cNvPr id="6" name="Corpus icon" descr="preencoded.png">    </p:cNvPr>
          <p:cNvPicPr>
            <a:picLocks noChangeAspect="1"/>
          </p:cNvPicPr>
          <p:nvPr/>
        </p:nvPicPr>
        <p:blipFill>
          <a:blip r:embed="rId1"/>
          <a:stretch>
            <a:fillRect/>
          </a:stretch>
        </p:blipFill>
        <p:spPr>
          <a:xfrm>
            <a:off x="1431036" y="1760220"/>
            <a:ext cx="320040" cy="320040"/>
          </a:xfrm>
          <a:prstGeom prst="rect">
            <a:avLst/>
          </a:prstGeom>
        </p:spPr>
      </p:pic>
      <p:sp>
        <p:nvSpPr>
          <p:cNvPr id="7" name="rag title 1"/>
          <p:cNvSpPr txBox="1"/>
          <p:nvPr/>
        </p:nvSpPr>
        <p:spPr>
          <a:xfrm>
            <a:off x="685800" y="2331720"/>
            <a:ext cx="1810512" cy="457200"/>
          </a:xfrm>
          <a:prstGeom prst="rect">
            <a:avLst/>
          </a:prstGeom>
          <a:noFill/>
          <a:ln/>
        </p:spPr>
        <p:txBody>
          <a:bodyPr wrap="square" lIns="635" tIns="635" rIns="635" bIns="635" rtlCol="0" anchor="t"/>
          <a:lstStyle/>
          <a:p>
            <a:pPr algn="ctr" indent="0" marL="0">
              <a:buNone/>
            </a:pPr>
            <a:r>
              <a:rPr lang="en-US" sz="1800" b="1" dirty="0">
                <a:solidFill>
                  <a:schemeClr val="tx1"/>
                </a:solidFill>
              </a:rPr>
              <a:t>Corpus</a:t>
            </a:r>
            <a:endParaRPr lang="en-US" sz="1800" dirty="0"/>
          </a:p>
        </p:txBody>
      </p:sp>
      <p:sp>
        <p:nvSpPr>
          <p:cNvPr id="8" name="rag text 1"/>
          <p:cNvSpPr txBox="1"/>
          <p:nvPr/>
        </p:nvSpPr>
        <p:spPr>
          <a:xfrm>
            <a:off x="685800" y="2834640"/>
            <a:ext cx="1810512" cy="1143000"/>
          </a:xfrm>
          <a:prstGeom prst="rect">
            <a:avLst/>
          </a:prstGeom>
          <a:noFill/>
          <a:ln/>
        </p:spPr>
        <p:txBody>
          <a:bodyPr wrap="square" lIns="635" tIns="635" rIns="635" bIns="635" rtlCol="0" anchor="t"/>
          <a:lstStyle/>
          <a:p>
            <a:pPr algn="ctr" indent="0" marL="0">
              <a:buNone/>
            </a:pPr>
            <a:r>
              <a:rPr lang="en-US" sz="1400" dirty="0">
                <a:solidFill>
                  <a:schemeClr val="tx2"/>
                </a:solidFill>
              </a:rPr>
              <a:t>12 sections, 10 cited sources, 3,357 tokens</a:t>
            </a:r>
            <a:endParaRPr lang="en-US" sz="1400" dirty="0"/>
          </a:p>
        </p:txBody>
      </p:sp>
      <p:sp>
        <p:nvSpPr>
          <p:cNvPr id="9" name="rag step 2"/>
          <p:cNvSpPr/>
          <p:nvPr/>
        </p:nvSpPr>
        <p:spPr>
          <a:xfrm>
            <a:off x="2816352" y="1417320"/>
            <a:ext cx="2084832" cy="2651760"/>
          </a:xfrm>
          <a:prstGeom prst="roundRect">
            <a:avLst>
              <a:gd name="adj" fmla="val 3509"/>
            </a:avLst>
          </a:prstGeom>
          <a:solidFill>
            <a:schemeClr val="bg2"/>
          </a:solidFill>
          <a:ln w="12700">
            <a:solidFill>
              <a:schemeClr val="bg2"/>
            </a:solidFill>
            <a:prstDash val="solid"/>
          </a:ln>
        </p:spPr>
      </p:sp>
      <p:sp>
        <p:nvSpPr>
          <p:cNvPr id="10" name="Chunking B circle"/>
          <p:cNvSpPr/>
          <p:nvPr/>
        </p:nvSpPr>
        <p:spPr>
          <a:xfrm>
            <a:off x="3538728" y="1600200"/>
            <a:ext cx="640080" cy="640080"/>
          </a:xfrm>
          <a:prstGeom prst="ellipse">
            <a:avLst/>
          </a:prstGeom>
          <a:solidFill>
            <a:schemeClr val="accent1"/>
          </a:solidFill>
          <a:ln w="12700">
            <a:solidFill>
              <a:schemeClr val="accent1"/>
            </a:solidFill>
            <a:prstDash val="solid"/>
          </a:ln>
        </p:spPr>
      </p:sp>
      <p:pic>
        <p:nvPicPr>
          <p:cNvPr id="11" name="Chunking B icon" descr="preencoded.png">    </p:cNvPr>
          <p:cNvPicPr>
            <a:picLocks noChangeAspect="1"/>
          </p:cNvPicPr>
          <p:nvPr/>
        </p:nvPicPr>
        <p:blipFill>
          <a:blip r:embed="rId2"/>
          <a:stretch>
            <a:fillRect/>
          </a:stretch>
        </p:blipFill>
        <p:spPr>
          <a:xfrm>
            <a:off x="3698748" y="1760220"/>
            <a:ext cx="320040" cy="320040"/>
          </a:xfrm>
          <a:prstGeom prst="rect">
            <a:avLst/>
          </a:prstGeom>
        </p:spPr>
      </p:pic>
      <p:sp>
        <p:nvSpPr>
          <p:cNvPr id="12" name="rag title 2"/>
          <p:cNvSpPr txBox="1"/>
          <p:nvPr/>
        </p:nvSpPr>
        <p:spPr>
          <a:xfrm>
            <a:off x="2953512" y="2331720"/>
            <a:ext cx="1810512" cy="457200"/>
          </a:xfrm>
          <a:prstGeom prst="rect">
            <a:avLst/>
          </a:prstGeom>
          <a:noFill/>
          <a:ln/>
        </p:spPr>
        <p:txBody>
          <a:bodyPr wrap="square" lIns="635" tIns="635" rIns="635" bIns="635" rtlCol="0" anchor="t"/>
          <a:lstStyle/>
          <a:p>
            <a:pPr algn="ctr" indent="0" marL="0">
              <a:buNone/>
            </a:pPr>
            <a:r>
              <a:rPr lang="en-US" sz="1800" b="1" dirty="0">
                <a:solidFill>
                  <a:schemeClr val="tx1"/>
                </a:solidFill>
              </a:rPr>
              <a:t>Chunking B</a:t>
            </a:r>
            <a:endParaRPr lang="en-US" sz="1800" dirty="0"/>
          </a:p>
        </p:txBody>
      </p:sp>
      <p:sp>
        <p:nvSpPr>
          <p:cNvPr id="13" name="rag text 2"/>
          <p:cNvSpPr txBox="1"/>
          <p:nvPr/>
        </p:nvSpPr>
        <p:spPr>
          <a:xfrm>
            <a:off x="2953512" y="2834640"/>
            <a:ext cx="1810512" cy="1143000"/>
          </a:xfrm>
          <a:prstGeom prst="rect">
            <a:avLst/>
          </a:prstGeom>
          <a:noFill/>
          <a:ln/>
        </p:spPr>
        <p:txBody>
          <a:bodyPr wrap="square" lIns="635" tIns="635" rIns="635" bIns="635" rtlCol="0" anchor="t"/>
          <a:lstStyle/>
          <a:p>
            <a:pPr algn="ctr" indent="0" marL="0">
              <a:buNone/>
            </a:pPr>
            <a:r>
              <a:rPr lang="en-US" sz="1400" dirty="0">
                <a:solidFill>
                  <a:schemeClr val="tx2"/>
                </a:solidFill>
              </a:rPr>
              <a:t>One chunk per section; tables never split; 24 chunks</a:t>
            </a:r>
            <a:endParaRPr lang="en-US" sz="1400" dirty="0"/>
          </a:p>
        </p:txBody>
      </p:sp>
      <p:sp>
        <p:nvSpPr>
          <p:cNvPr id="14" name="rag step 3"/>
          <p:cNvSpPr/>
          <p:nvPr/>
        </p:nvSpPr>
        <p:spPr>
          <a:xfrm>
            <a:off x="5084064" y="1417320"/>
            <a:ext cx="2084832" cy="2651760"/>
          </a:xfrm>
          <a:prstGeom prst="roundRect">
            <a:avLst>
              <a:gd name="adj" fmla="val 3509"/>
            </a:avLst>
          </a:prstGeom>
          <a:solidFill>
            <a:schemeClr val="bg2"/>
          </a:solidFill>
          <a:ln w="12700">
            <a:solidFill>
              <a:schemeClr val="bg2"/>
            </a:solidFill>
            <a:prstDash val="solid"/>
          </a:ln>
        </p:spPr>
      </p:sp>
      <p:sp>
        <p:nvSpPr>
          <p:cNvPr id="15" name="e5-small circle"/>
          <p:cNvSpPr/>
          <p:nvPr/>
        </p:nvSpPr>
        <p:spPr>
          <a:xfrm>
            <a:off x="5806440" y="1600200"/>
            <a:ext cx="640080" cy="640080"/>
          </a:xfrm>
          <a:prstGeom prst="ellipse">
            <a:avLst/>
          </a:prstGeom>
          <a:solidFill>
            <a:schemeClr val="accent1"/>
          </a:solidFill>
          <a:ln w="12700">
            <a:solidFill>
              <a:schemeClr val="accent1"/>
            </a:solidFill>
            <a:prstDash val="solid"/>
          </a:ln>
        </p:spPr>
      </p:sp>
      <p:pic>
        <p:nvPicPr>
          <p:cNvPr id="16" name="e5-small icon" descr="preencoded.png">    </p:cNvPr>
          <p:cNvPicPr>
            <a:picLocks noChangeAspect="1"/>
          </p:cNvPicPr>
          <p:nvPr/>
        </p:nvPicPr>
        <p:blipFill>
          <a:blip r:embed="rId3"/>
          <a:stretch>
            <a:fillRect/>
          </a:stretch>
        </p:blipFill>
        <p:spPr>
          <a:xfrm>
            <a:off x="5966460" y="1760220"/>
            <a:ext cx="320040" cy="320040"/>
          </a:xfrm>
          <a:prstGeom prst="rect">
            <a:avLst/>
          </a:prstGeom>
        </p:spPr>
      </p:pic>
      <p:sp>
        <p:nvSpPr>
          <p:cNvPr id="17" name="rag title 3"/>
          <p:cNvSpPr txBox="1"/>
          <p:nvPr/>
        </p:nvSpPr>
        <p:spPr>
          <a:xfrm>
            <a:off x="5221224" y="2331720"/>
            <a:ext cx="1810512" cy="457200"/>
          </a:xfrm>
          <a:prstGeom prst="rect">
            <a:avLst/>
          </a:prstGeom>
          <a:noFill/>
          <a:ln/>
        </p:spPr>
        <p:txBody>
          <a:bodyPr wrap="square" lIns="635" tIns="635" rIns="635" bIns="635" rtlCol="0" anchor="t"/>
          <a:lstStyle/>
          <a:p>
            <a:pPr algn="ctr" indent="0" marL="0">
              <a:buNone/>
            </a:pPr>
            <a:r>
              <a:rPr lang="en-US" sz="1800" b="1" dirty="0">
                <a:solidFill>
                  <a:schemeClr val="tx1"/>
                </a:solidFill>
              </a:rPr>
              <a:t>e5-small</a:t>
            </a:r>
            <a:endParaRPr lang="en-US" sz="1800" dirty="0"/>
          </a:p>
        </p:txBody>
      </p:sp>
      <p:sp>
        <p:nvSpPr>
          <p:cNvPr id="18" name="rag text 3"/>
          <p:cNvSpPr txBox="1"/>
          <p:nvPr/>
        </p:nvSpPr>
        <p:spPr>
          <a:xfrm>
            <a:off x="5221224" y="2834640"/>
            <a:ext cx="1810512" cy="1143000"/>
          </a:xfrm>
          <a:prstGeom prst="rect">
            <a:avLst/>
          </a:prstGeom>
          <a:noFill/>
          <a:ln/>
        </p:spPr>
        <p:txBody>
          <a:bodyPr wrap="square" lIns="635" tIns="635" rIns="635" bIns="635" rtlCol="0" anchor="t"/>
          <a:lstStyle/>
          <a:p>
            <a:pPr algn="ctr" indent="0" marL="0">
              <a:buNone/>
            </a:pPr>
            <a:r>
              <a:rPr lang="en-US" sz="1400" dirty="0">
                <a:solidFill>
                  <a:schemeClr val="tx2"/>
                </a:solidFill>
              </a:rPr>
              <a:t>Multilingual embeddings, 384 dimensions</a:t>
            </a:r>
            <a:endParaRPr lang="en-US" sz="1400" dirty="0"/>
          </a:p>
        </p:txBody>
      </p:sp>
      <p:sp>
        <p:nvSpPr>
          <p:cNvPr id="19" name="rag step 4"/>
          <p:cNvSpPr/>
          <p:nvPr/>
        </p:nvSpPr>
        <p:spPr>
          <a:xfrm>
            <a:off x="7351776" y="1417320"/>
            <a:ext cx="2084832" cy="2651760"/>
          </a:xfrm>
          <a:prstGeom prst="roundRect">
            <a:avLst>
              <a:gd name="adj" fmla="val 3509"/>
            </a:avLst>
          </a:prstGeom>
          <a:solidFill>
            <a:schemeClr val="bg2"/>
          </a:solidFill>
          <a:ln w="12700">
            <a:solidFill>
              <a:schemeClr val="bg2"/>
            </a:solidFill>
            <a:prstDash val="solid"/>
          </a:ln>
        </p:spPr>
      </p:sp>
      <p:sp>
        <p:nvSpPr>
          <p:cNvPr id="20" name="Qdrant circle"/>
          <p:cNvSpPr/>
          <p:nvPr/>
        </p:nvSpPr>
        <p:spPr>
          <a:xfrm>
            <a:off x="8074152" y="1600200"/>
            <a:ext cx="640080" cy="640080"/>
          </a:xfrm>
          <a:prstGeom prst="ellipse">
            <a:avLst/>
          </a:prstGeom>
          <a:solidFill>
            <a:schemeClr val="accent1"/>
          </a:solidFill>
          <a:ln w="12700">
            <a:solidFill>
              <a:schemeClr val="accent1"/>
            </a:solidFill>
            <a:prstDash val="solid"/>
          </a:ln>
        </p:spPr>
      </p:sp>
      <p:pic>
        <p:nvPicPr>
          <p:cNvPr id="21" name="Qdrant icon" descr="preencoded.png">    </p:cNvPr>
          <p:cNvPicPr>
            <a:picLocks noChangeAspect="1"/>
          </p:cNvPicPr>
          <p:nvPr/>
        </p:nvPicPr>
        <p:blipFill>
          <a:blip r:embed="rId4"/>
          <a:stretch>
            <a:fillRect/>
          </a:stretch>
        </p:blipFill>
        <p:spPr>
          <a:xfrm>
            <a:off x="8234172" y="1760220"/>
            <a:ext cx="320040" cy="320040"/>
          </a:xfrm>
          <a:prstGeom prst="rect">
            <a:avLst/>
          </a:prstGeom>
        </p:spPr>
      </p:pic>
      <p:sp>
        <p:nvSpPr>
          <p:cNvPr id="22" name="rag title 4"/>
          <p:cNvSpPr txBox="1"/>
          <p:nvPr/>
        </p:nvSpPr>
        <p:spPr>
          <a:xfrm>
            <a:off x="7488936" y="2331720"/>
            <a:ext cx="1810512" cy="457200"/>
          </a:xfrm>
          <a:prstGeom prst="rect">
            <a:avLst/>
          </a:prstGeom>
          <a:noFill/>
          <a:ln/>
        </p:spPr>
        <p:txBody>
          <a:bodyPr wrap="square" lIns="635" tIns="635" rIns="635" bIns="635" rtlCol="0" anchor="t"/>
          <a:lstStyle/>
          <a:p>
            <a:pPr algn="ctr" indent="0" marL="0">
              <a:buNone/>
            </a:pPr>
            <a:r>
              <a:rPr lang="en-US" sz="1800" b="1" dirty="0">
                <a:solidFill>
                  <a:schemeClr val="tx1"/>
                </a:solidFill>
              </a:rPr>
              <a:t>Qdrant</a:t>
            </a:r>
            <a:endParaRPr lang="en-US" sz="1800" dirty="0"/>
          </a:p>
        </p:txBody>
      </p:sp>
      <p:sp>
        <p:nvSpPr>
          <p:cNvPr id="23" name="rag text 4"/>
          <p:cNvSpPr txBox="1"/>
          <p:nvPr/>
        </p:nvSpPr>
        <p:spPr>
          <a:xfrm>
            <a:off x="7488936" y="2834640"/>
            <a:ext cx="1810512" cy="1143000"/>
          </a:xfrm>
          <a:prstGeom prst="rect">
            <a:avLst/>
          </a:prstGeom>
          <a:noFill/>
          <a:ln/>
        </p:spPr>
        <p:txBody>
          <a:bodyPr wrap="square" lIns="635" tIns="635" rIns="635" bIns="635" rtlCol="0" anchor="t"/>
          <a:lstStyle/>
          <a:p>
            <a:pPr algn="ctr" indent="0" marL="0">
              <a:buNone/>
            </a:pPr>
            <a:r>
              <a:rPr lang="en-US" sz="1400" dirty="0">
                <a:solidFill>
                  <a:schemeClr val="tx2"/>
                </a:solidFill>
              </a:rPr>
              <a:t>Cosine similarity, top-3</a:t>
            </a:r>
            <a:endParaRPr lang="en-US" sz="1400" dirty="0"/>
          </a:p>
        </p:txBody>
      </p:sp>
      <p:sp>
        <p:nvSpPr>
          <p:cNvPr id="24" name="rag step 5"/>
          <p:cNvSpPr/>
          <p:nvPr/>
        </p:nvSpPr>
        <p:spPr>
          <a:xfrm>
            <a:off x="9619488" y="1417320"/>
            <a:ext cx="2084832" cy="2651760"/>
          </a:xfrm>
          <a:prstGeom prst="roundRect">
            <a:avLst>
              <a:gd name="adj" fmla="val 3509"/>
            </a:avLst>
          </a:prstGeom>
          <a:solidFill>
            <a:srgbClr val="E3F1F2"/>
          </a:solidFill>
          <a:ln w="12700">
            <a:solidFill>
              <a:srgbClr val="E3F1F2"/>
            </a:solidFill>
            <a:prstDash val="solid"/>
          </a:ln>
        </p:spPr>
      </p:sp>
      <p:sp>
        <p:nvSpPr>
          <p:cNvPr id="25" name="Protocol Agent circle"/>
          <p:cNvSpPr/>
          <p:nvPr/>
        </p:nvSpPr>
        <p:spPr>
          <a:xfrm>
            <a:off x="10341864" y="1600200"/>
            <a:ext cx="640080" cy="640080"/>
          </a:xfrm>
          <a:prstGeom prst="ellipse">
            <a:avLst/>
          </a:prstGeom>
          <a:solidFill>
            <a:schemeClr val="accent1"/>
          </a:solidFill>
          <a:ln w="12700">
            <a:solidFill>
              <a:schemeClr val="accent1"/>
            </a:solidFill>
            <a:prstDash val="solid"/>
          </a:ln>
        </p:spPr>
      </p:sp>
      <p:pic>
        <p:nvPicPr>
          <p:cNvPr id="26" name="Protocol Agent icon" descr="preencoded.png">    </p:cNvPr>
          <p:cNvPicPr>
            <a:picLocks noChangeAspect="1"/>
          </p:cNvPicPr>
          <p:nvPr/>
        </p:nvPicPr>
        <p:blipFill>
          <a:blip r:embed="rId5"/>
          <a:stretch>
            <a:fillRect/>
          </a:stretch>
        </p:blipFill>
        <p:spPr>
          <a:xfrm>
            <a:off x="10501884" y="1760220"/>
            <a:ext cx="320040" cy="320040"/>
          </a:xfrm>
          <a:prstGeom prst="rect">
            <a:avLst/>
          </a:prstGeom>
        </p:spPr>
      </p:pic>
      <p:sp>
        <p:nvSpPr>
          <p:cNvPr id="27" name="rag title 5"/>
          <p:cNvSpPr txBox="1"/>
          <p:nvPr/>
        </p:nvSpPr>
        <p:spPr>
          <a:xfrm>
            <a:off x="9756648" y="2331720"/>
            <a:ext cx="1810512" cy="457200"/>
          </a:xfrm>
          <a:prstGeom prst="rect">
            <a:avLst/>
          </a:prstGeom>
          <a:noFill/>
          <a:ln/>
        </p:spPr>
        <p:txBody>
          <a:bodyPr wrap="square" lIns="635" tIns="635" rIns="635" bIns="635" rtlCol="0" anchor="t"/>
          <a:lstStyle/>
          <a:p>
            <a:pPr algn="ctr" indent="0" marL="0">
              <a:buNone/>
            </a:pPr>
            <a:r>
              <a:rPr lang="en-US" sz="1800" b="1" dirty="0">
                <a:solidFill>
                  <a:schemeClr val="tx1"/>
                </a:solidFill>
              </a:rPr>
              <a:t>Protocol Agent</a:t>
            </a:r>
            <a:endParaRPr lang="en-US" sz="1800" dirty="0"/>
          </a:p>
        </p:txBody>
      </p:sp>
      <p:sp>
        <p:nvSpPr>
          <p:cNvPr id="28" name="rag text 5"/>
          <p:cNvSpPr txBox="1"/>
          <p:nvPr/>
        </p:nvSpPr>
        <p:spPr>
          <a:xfrm>
            <a:off x="9756648" y="2834640"/>
            <a:ext cx="1810512" cy="1143000"/>
          </a:xfrm>
          <a:prstGeom prst="rect">
            <a:avLst/>
          </a:prstGeom>
          <a:noFill/>
          <a:ln/>
        </p:spPr>
        <p:txBody>
          <a:bodyPr wrap="square" lIns="635" tIns="635" rIns="635" bIns="635" rtlCol="0" anchor="t"/>
          <a:lstStyle/>
          <a:p>
            <a:pPr algn="ctr" indent="0" marL="0">
              <a:buNone/>
            </a:pPr>
            <a:r>
              <a:rPr lang="en-US" sz="1400" dirty="0">
                <a:solidFill>
                  <a:schemeClr val="tx2"/>
                </a:solidFill>
              </a:rPr>
              <a:t>Writes the query, quotes tier + asset + advice</a:t>
            </a:r>
            <a:endParaRPr lang="en-US" sz="1400" dirty="0"/>
          </a:p>
        </p:txBody>
      </p:sp>
      <p:sp>
        <p:nvSpPr>
          <p:cNvPr id="29" name="rag why 1"/>
          <p:cNvSpPr/>
          <p:nvPr/>
        </p:nvSpPr>
        <p:spPr>
          <a:xfrm>
            <a:off x="548640" y="4343400"/>
            <a:ext cx="3520440" cy="1783080"/>
          </a:xfrm>
          <a:prstGeom prst="roundRect">
            <a:avLst>
              <a:gd name="adj" fmla="val 4103"/>
            </a:avLst>
          </a:prstGeom>
          <a:solidFill>
            <a:srgbClr val="E3F1F2"/>
          </a:solidFill>
          <a:ln w="12700">
            <a:solidFill>
              <a:srgbClr val="E3F1F2"/>
            </a:solidFill>
            <a:prstDash val="solid"/>
          </a:ln>
        </p:spPr>
      </p:sp>
      <p:sp>
        <p:nvSpPr>
          <p:cNvPr id="30" name="rag why text 1"/>
          <p:cNvSpPr txBox="1"/>
          <p:nvPr/>
        </p:nvSpPr>
        <p:spPr>
          <a:xfrm>
            <a:off x="731520" y="4434840"/>
            <a:ext cx="3154680" cy="1600200"/>
          </a:xfrm>
          <a:prstGeom prst="rect">
            <a:avLst/>
          </a:prstGeom>
          <a:noFill/>
          <a:ln/>
        </p:spPr>
        <p:txBody>
          <a:bodyPr wrap="square" lIns="635" tIns="635" rIns="635" bIns="635" rtlCol="0" anchor="t"/>
          <a:lstStyle/>
          <a:p>
            <a:pPr indent="0" marL="0">
              <a:buNone/>
            </a:pPr>
            <a:r>
              <a:rPr lang="en-US" sz="1500" b="1" dirty="0">
                <a:solidFill>
                  <a:srgbClr val="0E7C86"/>
                </a:solidFill>
              </a:rPr>
              <a:t>Why RAG</a:t>
            </a:r>
            <a:endParaRPr lang="en-US" sz="1500" dirty="0"/>
          </a:p>
          <a:p>
            <a:pPr indent="0" marL="0">
              <a:buNone/>
            </a:pPr>
            <a:r>
              <a:rPr lang="en-US" sz="1500" dirty="0">
                <a:solidFill>
                  <a:srgbClr val="0B1F33"/>
                </a:solidFill>
              </a:rPr>
              <a:t>Rules are official and numeric: retrieved, quoted and editable without retraining</a:t>
            </a:r>
            <a:endParaRPr lang="en-US" sz="1500" dirty="0"/>
          </a:p>
        </p:txBody>
      </p:sp>
      <p:sp>
        <p:nvSpPr>
          <p:cNvPr id="31" name="rag why 2"/>
          <p:cNvSpPr/>
          <p:nvPr/>
        </p:nvSpPr>
        <p:spPr>
          <a:xfrm>
            <a:off x="4297680" y="4343400"/>
            <a:ext cx="3520440" cy="1783080"/>
          </a:xfrm>
          <a:prstGeom prst="roundRect">
            <a:avLst>
              <a:gd name="adj" fmla="val 4103"/>
            </a:avLst>
          </a:prstGeom>
          <a:solidFill>
            <a:srgbClr val="E3F1F2"/>
          </a:solidFill>
          <a:ln w="12700">
            <a:solidFill>
              <a:srgbClr val="E3F1F2"/>
            </a:solidFill>
            <a:prstDash val="solid"/>
          </a:ln>
        </p:spPr>
      </p:sp>
      <p:sp>
        <p:nvSpPr>
          <p:cNvPr id="32" name="rag why text 2"/>
          <p:cNvSpPr txBox="1"/>
          <p:nvPr/>
        </p:nvSpPr>
        <p:spPr>
          <a:xfrm>
            <a:off x="4480560" y="4434840"/>
            <a:ext cx="3154680" cy="1600200"/>
          </a:xfrm>
          <a:prstGeom prst="rect">
            <a:avLst/>
          </a:prstGeom>
          <a:noFill/>
          <a:ln/>
        </p:spPr>
        <p:txBody>
          <a:bodyPr wrap="square" lIns="635" tIns="635" rIns="635" bIns="635" rtlCol="0" anchor="t"/>
          <a:lstStyle/>
          <a:p>
            <a:pPr indent="0" marL="0">
              <a:buNone/>
            </a:pPr>
            <a:r>
              <a:rPr lang="en-US" sz="1500" b="1" dirty="0">
                <a:solidFill>
                  <a:srgbClr val="0E7C86"/>
                </a:solidFill>
              </a:rPr>
              <a:t>Why 200 / 240 tokens</a:t>
            </a:r>
            <a:endParaRPr lang="en-US" sz="1500" dirty="0"/>
          </a:p>
          <a:p>
            <a:pPr indent="0" marL="0">
              <a:buNone/>
            </a:pPr>
            <a:r>
              <a:rPr lang="en-US" sz="1500" dirty="0">
                <a:solidFill>
                  <a:srgbClr val="0B1F33"/>
                </a:solidFill>
              </a:rPr>
              <a:t>The baseline model truncates after 256 tokens; bigger chunks would be cut</a:t>
            </a:r>
            <a:endParaRPr lang="en-US" sz="1500" dirty="0"/>
          </a:p>
        </p:txBody>
      </p:sp>
      <p:sp>
        <p:nvSpPr>
          <p:cNvPr id="33" name="rag why 3"/>
          <p:cNvSpPr/>
          <p:nvPr/>
        </p:nvSpPr>
        <p:spPr>
          <a:xfrm>
            <a:off x="8046720" y="4343400"/>
            <a:ext cx="3520440" cy="1783080"/>
          </a:xfrm>
          <a:prstGeom prst="roundRect">
            <a:avLst>
              <a:gd name="adj" fmla="val 4103"/>
            </a:avLst>
          </a:prstGeom>
          <a:solidFill>
            <a:srgbClr val="FDF1E1"/>
          </a:solidFill>
          <a:ln w="12700">
            <a:solidFill>
              <a:srgbClr val="FDF1E1"/>
            </a:solidFill>
            <a:prstDash val="solid"/>
          </a:ln>
        </p:spPr>
      </p:sp>
      <p:sp>
        <p:nvSpPr>
          <p:cNvPr id="34" name="rag why text 3"/>
          <p:cNvSpPr txBox="1"/>
          <p:nvPr/>
        </p:nvSpPr>
        <p:spPr>
          <a:xfrm>
            <a:off x="8229600" y="4434840"/>
            <a:ext cx="3154680" cy="1600200"/>
          </a:xfrm>
          <a:prstGeom prst="rect">
            <a:avLst/>
          </a:prstGeom>
          <a:noFill/>
          <a:ln/>
        </p:spPr>
        <p:txBody>
          <a:bodyPr wrap="square" lIns="635" tIns="635" rIns="635" bIns="635" rtlCol="0" anchor="t"/>
          <a:lstStyle/>
          <a:p>
            <a:pPr indent="0" marL="0">
              <a:buNone/>
            </a:pPr>
            <a:r>
              <a:rPr lang="en-US" sz="1500" b="1" dirty="0">
                <a:solidFill>
                  <a:srgbClr val="B9770E"/>
                </a:solidFill>
              </a:rPr>
              <a:t>What did not work</a:t>
            </a:r>
            <a:endParaRPr lang="en-US" sz="1500" dirty="0"/>
          </a:p>
          <a:p>
            <a:pPr indent="0" marL="0">
              <a:buNone/>
            </a:pPr>
            <a:r>
              <a:rPr lang="en-US" sz="1500" dirty="0">
                <a:solidFill>
                  <a:srgbClr val="0B1F33"/>
                </a:solidFill>
              </a:rPr>
              <a:t>Category filters ignored by the n8n Qdrant node (tests #60, #61): one unfiltered tool</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Embeddings mattered more than chunking</a:t>
            </a:r>
            <a:endParaRPr lang="en-US" sz="3400" dirty="0"/>
          </a:p>
        </p:txBody>
      </p:sp>
      <p:graphicFrame>
        <p:nvGraphicFramePr>
          <p:cNvPr id="4" name="retrieval chart" descr=""/>
          <p:cNvGraphicFramePr/>
          <p:nvPr/>
        </p:nvGraphicFramePr>
        <p:xfrm>
          <a:off x="548640" y="128016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5" name="retrieval stat 1"/>
          <p:cNvSpPr/>
          <p:nvPr/>
        </p:nvSpPr>
        <p:spPr>
          <a:xfrm>
            <a:off x="8183880" y="1325880"/>
            <a:ext cx="3456432" cy="1463040"/>
          </a:xfrm>
          <a:prstGeom prst="roundRect">
            <a:avLst>
              <a:gd name="adj" fmla="val 5000"/>
            </a:avLst>
          </a:prstGeom>
          <a:solidFill>
            <a:srgbClr val="E3F1F2"/>
          </a:solidFill>
          <a:ln w="12700">
            <a:solidFill>
              <a:srgbClr val="E3F1F2"/>
            </a:solidFill>
            <a:prstDash val="solid"/>
          </a:ln>
        </p:spPr>
      </p:sp>
      <p:sp>
        <p:nvSpPr>
          <p:cNvPr id="6" name="retrieval stat value 1"/>
          <p:cNvSpPr txBox="1"/>
          <p:nvPr/>
        </p:nvSpPr>
        <p:spPr>
          <a:xfrm>
            <a:off x="8366760" y="1417320"/>
            <a:ext cx="3108960" cy="594360"/>
          </a:xfrm>
          <a:prstGeom prst="rect">
            <a:avLst/>
          </a:prstGeom>
          <a:noFill/>
          <a:ln/>
        </p:spPr>
        <p:txBody>
          <a:bodyPr wrap="square" lIns="635" tIns="635" rIns="635" bIns="635" rtlCol="0" anchor="t"/>
          <a:lstStyle/>
          <a:p>
            <a:pPr indent="0" marL="0">
              <a:buNone/>
            </a:pPr>
            <a:r>
              <a:rPr lang="en-US" sz="2600" b="1" dirty="0">
                <a:solidFill>
                  <a:schemeClr val="accent1"/>
                </a:solidFill>
                <a:latin typeface="Arial" pitchFamily="34" charset="0"/>
                <a:ea typeface="Arial" pitchFamily="34" charset="-122"/>
                <a:cs typeface="Arial" pitchFamily="34" charset="-120"/>
              </a:rPr>
              <a:t>0.90 / 0.818</a:t>
            </a:r>
            <a:endParaRPr lang="en-US" sz="2600" dirty="0"/>
          </a:p>
        </p:txBody>
      </p:sp>
      <p:sp>
        <p:nvSpPr>
          <p:cNvPr id="7" name="retrieval stat label 1"/>
          <p:cNvSpPr txBox="1"/>
          <p:nvPr/>
        </p:nvSpPr>
        <p:spPr>
          <a:xfrm>
            <a:off x="8366760" y="2039112"/>
            <a:ext cx="3108960" cy="685800"/>
          </a:xfrm>
          <a:prstGeom prst="rect">
            <a:avLst/>
          </a:prstGeom>
          <a:noFill/>
          <a:ln/>
        </p:spPr>
        <p:txBody>
          <a:bodyPr wrap="square" lIns="635" tIns="635" rIns="635" bIns="635" rtlCol="0" anchor="t"/>
          <a:lstStyle/>
          <a:p>
            <a:pPr indent="0" marL="0">
              <a:buNone/>
            </a:pPr>
            <a:r>
              <a:rPr lang="en-US" sz="1400" dirty="0">
                <a:solidFill>
                  <a:schemeClr val="tx1"/>
                </a:solidFill>
              </a:rPr>
              <a:t>Hit@3 / MRR of the production setup (B + e5)</a:t>
            </a:r>
            <a:endParaRPr lang="en-US" sz="1400" dirty="0"/>
          </a:p>
        </p:txBody>
      </p:sp>
      <p:sp>
        <p:nvSpPr>
          <p:cNvPr id="8" name="retrieval stat 2"/>
          <p:cNvSpPr/>
          <p:nvPr/>
        </p:nvSpPr>
        <p:spPr>
          <a:xfrm>
            <a:off x="8183880" y="2953512"/>
            <a:ext cx="3456432" cy="1463040"/>
          </a:xfrm>
          <a:prstGeom prst="roundRect">
            <a:avLst>
              <a:gd name="adj" fmla="val 5000"/>
            </a:avLst>
          </a:prstGeom>
          <a:solidFill>
            <a:srgbClr val="E3F1F2"/>
          </a:solidFill>
          <a:ln w="12700">
            <a:solidFill>
              <a:srgbClr val="E3F1F2"/>
            </a:solidFill>
            <a:prstDash val="solid"/>
          </a:ln>
        </p:spPr>
      </p:sp>
      <p:sp>
        <p:nvSpPr>
          <p:cNvPr id="9" name="retrieval stat value 2"/>
          <p:cNvSpPr txBox="1"/>
          <p:nvPr/>
        </p:nvSpPr>
        <p:spPr>
          <a:xfrm>
            <a:off x="8366760" y="3044952"/>
            <a:ext cx="3108960" cy="594360"/>
          </a:xfrm>
          <a:prstGeom prst="rect">
            <a:avLst/>
          </a:prstGeom>
          <a:noFill/>
          <a:ln/>
        </p:spPr>
        <p:txBody>
          <a:bodyPr wrap="square" lIns="635" tIns="635" rIns="635" bIns="635" rtlCol="0" anchor="t"/>
          <a:lstStyle/>
          <a:p>
            <a:pPr indent="0" marL="0">
              <a:buNone/>
            </a:pPr>
            <a:r>
              <a:rPr lang="en-US" sz="2600" b="1" dirty="0">
                <a:solidFill>
                  <a:schemeClr val="accent1"/>
                </a:solidFill>
                <a:latin typeface="Arial" pitchFamily="34" charset="0"/>
                <a:ea typeface="Arial" pitchFamily="34" charset="-122"/>
                <a:cs typeface="Arial" pitchFamily="34" charset="-120"/>
              </a:rPr>
              <a:t>0.47</a:t>
            </a:r>
            <a:endParaRPr lang="en-US" sz="2600" dirty="0"/>
          </a:p>
        </p:txBody>
      </p:sp>
      <p:sp>
        <p:nvSpPr>
          <p:cNvPr id="10" name="retrieval stat label 2"/>
          <p:cNvSpPr txBox="1"/>
          <p:nvPr/>
        </p:nvSpPr>
        <p:spPr>
          <a:xfrm>
            <a:off x="8366760" y="3666744"/>
            <a:ext cx="3108960" cy="685800"/>
          </a:xfrm>
          <a:prstGeom prst="rect">
            <a:avLst/>
          </a:prstGeom>
          <a:noFill/>
          <a:ln/>
        </p:spPr>
        <p:txBody>
          <a:bodyPr wrap="square" lIns="635" tIns="635" rIns="635" bIns="635" rtlCol="0" anchor="t"/>
          <a:lstStyle/>
          <a:p>
            <a:pPr indent="0" marL="0">
              <a:buNone/>
            </a:pPr>
            <a:r>
              <a:rPr lang="en-US" sz="1400" dirty="0">
                <a:solidFill>
                  <a:schemeClr val="tx1"/>
                </a:solidFill>
              </a:rPr>
              <a:t>ceiling of Precision@3: 0.383 reaches 82% of it</a:t>
            </a:r>
            <a:endParaRPr lang="en-US" sz="1400" dirty="0"/>
          </a:p>
        </p:txBody>
      </p:sp>
      <p:sp>
        <p:nvSpPr>
          <p:cNvPr id="11" name="retrieval stat 3"/>
          <p:cNvSpPr/>
          <p:nvPr/>
        </p:nvSpPr>
        <p:spPr>
          <a:xfrm>
            <a:off x="8183880" y="4581144"/>
            <a:ext cx="3456432" cy="1463040"/>
          </a:xfrm>
          <a:prstGeom prst="roundRect">
            <a:avLst>
              <a:gd name="adj" fmla="val 5000"/>
            </a:avLst>
          </a:prstGeom>
          <a:solidFill>
            <a:srgbClr val="E3F1F2"/>
          </a:solidFill>
          <a:ln w="12700">
            <a:solidFill>
              <a:srgbClr val="E3F1F2"/>
            </a:solidFill>
            <a:prstDash val="solid"/>
          </a:ln>
        </p:spPr>
      </p:sp>
      <p:sp>
        <p:nvSpPr>
          <p:cNvPr id="12" name="retrieval stat value 3"/>
          <p:cNvSpPr txBox="1"/>
          <p:nvPr/>
        </p:nvSpPr>
        <p:spPr>
          <a:xfrm>
            <a:off x="8366760" y="4672584"/>
            <a:ext cx="3108960" cy="594360"/>
          </a:xfrm>
          <a:prstGeom prst="rect">
            <a:avLst/>
          </a:prstGeom>
          <a:noFill/>
          <a:ln/>
        </p:spPr>
        <p:txBody>
          <a:bodyPr wrap="square" lIns="635" tIns="635" rIns="635" bIns="635" rtlCol="0" anchor="t"/>
          <a:lstStyle/>
          <a:p>
            <a:pPr indent="0" marL="0">
              <a:buNone/>
            </a:pPr>
            <a:r>
              <a:rPr lang="en-US" sz="2600" b="1" dirty="0">
                <a:solidFill>
                  <a:schemeClr val="accent1"/>
                </a:solidFill>
                <a:latin typeface="Arial" pitchFamily="34" charset="0"/>
                <a:ea typeface="Arial" pitchFamily="34" charset="-122"/>
                <a:cs typeface="Arial" pitchFamily="34" charset="-120"/>
              </a:rPr>
              <a:t>1.00 vs 0.60</a:t>
            </a:r>
            <a:endParaRPr lang="en-US" sz="2600" dirty="0"/>
          </a:p>
        </p:txBody>
      </p:sp>
      <p:sp>
        <p:nvSpPr>
          <p:cNvPr id="13" name="retrieval stat label 3"/>
          <p:cNvSpPr txBox="1"/>
          <p:nvPr/>
        </p:nvSpPr>
        <p:spPr>
          <a:xfrm>
            <a:off x="8366760" y="5294376"/>
            <a:ext cx="3108960" cy="685800"/>
          </a:xfrm>
          <a:prstGeom prst="rect">
            <a:avLst/>
          </a:prstGeom>
          <a:noFill/>
          <a:ln/>
        </p:spPr>
        <p:txBody>
          <a:bodyPr wrap="square" lIns="635" tIns="635" rIns="635" bIns="635" rtlCol="0" anchor="t"/>
          <a:lstStyle/>
          <a:p>
            <a:pPr indent="0" marL="0">
              <a:buNone/>
            </a:pPr>
            <a:r>
              <a:rPr lang="en-US" sz="1400" dirty="0">
                <a:solidFill>
                  <a:schemeClr val="tx1"/>
                </a:solidFill>
              </a:rPr>
              <a:t>Hit@3 English vs French/Derja queries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Evaluation at four levels, limits stated</a:t>
            </a:r>
            <a:endParaRPr lang="en-US" sz="3400" dirty="0"/>
          </a:p>
        </p:txBody>
      </p:sp>
      <p:sp>
        <p:nvSpPr>
          <p:cNvPr id="4" name="eval card 1"/>
          <p:cNvSpPr/>
          <p:nvPr/>
        </p:nvSpPr>
        <p:spPr>
          <a:xfrm>
            <a:off x="548640" y="1371600"/>
            <a:ext cx="2606040" cy="3337560"/>
          </a:xfrm>
          <a:prstGeom prst="roundRect">
            <a:avLst>
              <a:gd name="adj" fmla="val 2807"/>
            </a:avLst>
          </a:prstGeom>
          <a:solidFill>
            <a:schemeClr val="bg2"/>
          </a:solidFill>
          <a:ln w="12700">
            <a:solidFill>
              <a:schemeClr val="bg2"/>
            </a:solidFill>
            <a:prstDash val="solid"/>
          </a:ln>
        </p:spPr>
      </p:sp>
      <p:sp>
        <p:nvSpPr>
          <p:cNvPr id="5" name="Components circle"/>
          <p:cNvSpPr/>
          <p:nvPr/>
        </p:nvSpPr>
        <p:spPr>
          <a:xfrm>
            <a:off x="777240" y="1600200"/>
            <a:ext cx="640080" cy="640080"/>
          </a:xfrm>
          <a:prstGeom prst="ellipse">
            <a:avLst/>
          </a:prstGeom>
          <a:solidFill>
            <a:schemeClr val="accent1"/>
          </a:solidFill>
          <a:ln w="12700">
            <a:solidFill>
              <a:schemeClr val="accent1"/>
            </a:solidFill>
            <a:prstDash val="solid"/>
          </a:ln>
        </p:spPr>
      </p:sp>
      <p:pic>
        <p:nvPicPr>
          <p:cNvPr id="6" name="Components icon"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7" name="eval title 1"/>
          <p:cNvSpPr txBox="1"/>
          <p:nvPr/>
        </p:nvSpPr>
        <p:spPr>
          <a:xfrm>
            <a:off x="777240" y="2377440"/>
            <a:ext cx="2194560" cy="457200"/>
          </a:xfrm>
          <a:prstGeom prst="rect">
            <a:avLst/>
          </a:prstGeom>
          <a:noFill/>
          <a:ln/>
        </p:spPr>
        <p:txBody>
          <a:bodyPr wrap="square" lIns="635" tIns="635" rIns="635" bIns="635" rtlCol="0" anchor="t"/>
          <a:lstStyle/>
          <a:p>
            <a:pPr indent="0" marL="0">
              <a:buNone/>
            </a:pPr>
            <a:r>
              <a:rPr lang="en-US" sz="1900" b="1" dirty="0">
                <a:solidFill>
                  <a:schemeClr val="tx1"/>
                </a:solidFill>
              </a:rPr>
              <a:t>Components</a:t>
            </a:r>
            <a:endParaRPr lang="en-US" sz="1900" dirty="0"/>
          </a:p>
        </p:txBody>
      </p:sp>
      <p:sp>
        <p:nvSpPr>
          <p:cNvPr id="8" name="eval scope 1"/>
          <p:cNvSpPr txBox="1"/>
          <p:nvPr/>
        </p:nvSpPr>
        <p:spPr>
          <a:xfrm>
            <a:off x="777240" y="2834640"/>
            <a:ext cx="2194560" cy="685800"/>
          </a:xfrm>
          <a:prstGeom prst="rect">
            <a:avLst/>
          </a:prstGeom>
          <a:noFill/>
          <a:ln/>
        </p:spPr>
        <p:txBody>
          <a:bodyPr wrap="square" lIns="635" tIns="635" rIns="635" bIns="635" rtlCol="0" anchor="t"/>
          <a:lstStyle/>
          <a:p>
            <a:pPr indent="0" marL="0">
              <a:buNone/>
            </a:pPr>
            <a:r>
              <a:rPr lang="en-US" sz="1400" dirty="0">
                <a:solidFill>
                  <a:schemeClr val="tx2"/>
                </a:solidFill>
              </a:rPr>
              <a:t>29 photos, 8 transcripts, 20 queries</a:t>
            </a:r>
            <a:endParaRPr lang="en-US" sz="1400" dirty="0"/>
          </a:p>
        </p:txBody>
      </p:sp>
      <p:sp>
        <p:nvSpPr>
          <p:cNvPr id="9" name="eval result 1"/>
          <p:cNvSpPr txBox="1"/>
          <p:nvPr/>
        </p:nvSpPr>
        <p:spPr>
          <a:xfrm>
            <a:off x="777240" y="3566160"/>
            <a:ext cx="2194560" cy="1051560"/>
          </a:xfrm>
          <a:prstGeom prst="rect">
            <a:avLst/>
          </a:prstGeom>
          <a:noFill/>
          <a:ln/>
        </p:spPr>
        <p:txBody>
          <a:bodyPr wrap="square" lIns="635" tIns="635" rIns="635" bIns="635" rtlCol="0" anchor="t"/>
          <a:lstStyle/>
          <a:p>
            <a:pPr indent="0" marL="0">
              <a:buNone/>
            </a:pPr>
            <a:r>
              <a:rPr lang="en-US" sz="1400" b="1" dirty="0">
                <a:solidFill>
                  <a:schemeClr val="accent1"/>
                </a:solidFill>
              </a:rPr>
              <a:t>0 severe photos missed; 8/8 extraction; Hit@3 0.90</a:t>
            </a:r>
            <a:endParaRPr lang="en-US" sz="1400" dirty="0"/>
          </a:p>
        </p:txBody>
      </p:sp>
      <p:sp>
        <p:nvSpPr>
          <p:cNvPr id="10" name="eval card 2"/>
          <p:cNvSpPr/>
          <p:nvPr/>
        </p:nvSpPr>
        <p:spPr>
          <a:xfrm>
            <a:off x="3355848" y="1371600"/>
            <a:ext cx="2606040" cy="3337560"/>
          </a:xfrm>
          <a:prstGeom prst="roundRect">
            <a:avLst>
              <a:gd name="adj" fmla="val 2807"/>
            </a:avLst>
          </a:prstGeom>
          <a:solidFill>
            <a:schemeClr val="bg2"/>
          </a:solidFill>
          <a:ln w="12700">
            <a:solidFill>
              <a:schemeClr val="bg2"/>
            </a:solidFill>
            <a:prstDash val="solid"/>
          </a:ln>
        </p:spPr>
      </p:sp>
      <p:sp>
        <p:nvSpPr>
          <p:cNvPr id="11" name="Safety rules circle"/>
          <p:cNvSpPr/>
          <p:nvPr/>
        </p:nvSpPr>
        <p:spPr>
          <a:xfrm>
            <a:off x="3584448" y="1600200"/>
            <a:ext cx="640080" cy="640080"/>
          </a:xfrm>
          <a:prstGeom prst="ellipse">
            <a:avLst/>
          </a:prstGeom>
          <a:solidFill>
            <a:schemeClr val="accent1"/>
          </a:solidFill>
          <a:ln w="12700">
            <a:solidFill>
              <a:schemeClr val="accent1"/>
            </a:solidFill>
            <a:prstDash val="solid"/>
          </a:ln>
        </p:spPr>
      </p:sp>
      <p:pic>
        <p:nvPicPr>
          <p:cNvPr id="12" name="Safety rules icon" descr="preencoded.png">    </p:cNvPr>
          <p:cNvPicPr>
            <a:picLocks noChangeAspect="1"/>
          </p:cNvPicPr>
          <p:nvPr/>
        </p:nvPicPr>
        <p:blipFill>
          <a:blip r:embed="rId2"/>
          <a:stretch>
            <a:fillRect/>
          </a:stretch>
        </p:blipFill>
        <p:spPr>
          <a:xfrm>
            <a:off x="3744468" y="1760220"/>
            <a:ext cx="320040" cy="320040"/>
          </a:xfrm>
          <a:prstGeom prst="rect">
            <a:avLst/>
          </a:prstGeom>
        </p:spPr>
      </p:pic>
      <p:sp>
        <p:nvSpPr>
          <p:cNvPr id="13" name="eval title 2"/>
          <p:cNvSpPr txBox="1"/>
          <p:nvPr/>
        </p:nvSpPr>
        <p:spPr>
          <a:xfrm>
            <a:off x="3584448" y="2377440"/>
            <a:ext cx="2194560" cy="457200"/>
          </a:xfrm>
          <a:prstGeom prst="rect">
            <a:avLst/>
          </a:prstGeom>
          <a:noFill/>
          <a:ln/>
        </p:spPr>
        <p:txBody>
          <a:bodyPr wrap="square" lIns="635" tIns="635" rIns="635" bIns="635" rtlCol="0" anchor="t"/>
          <a:lstStyle/>
          <a:p>
            <a:pPr indent="0" marL="0">
              <a:buNone/>
            </a:pPr>
            <a:r>
              <a:rPr lang="en-US" sz="1900" b="1" dirty="0">
                <a:solidFill>
                  <a:schemeClr val="tx1"/>
                </a:solidFill>
              </a:rPr>
              <a:t>Safety rules</a:t>
            </a:r>
            <a:endParaRPr lang="en-US" sz="1900" dirty="0"/>
          </a:p>
        </p:txBody>
      </p:sp>
      <p:sp>
        <p:nvSpPr>
          <p:cNvPr id="14" name="eval scope 2"/>
          <p:cNvSpPr txBox="1"/>
          <p:nvPr/>
        </p:nvSpPr>
        <p:spPr>
          <a:xfrm>
            <a:off x="3584448" y="2834640"/>
            <a:ext cx="2194560" cy="685800"/>
          </a:xfrm>
          <a:prstGeom prst="rect">
            <a:avLst/>
          </a:prstGeom>
          <a:noFill/>
          <a:ln/>
        </p:spPr>
        <p:txBody>
          <a:bodyPr wrap="square" lIns="635" tIns="635" rIns="635" bIns="635" rtlCol="0" anchor="t"/>
          <a:lstStyle/>
          <a:p>
            <a:pPr indent="0" marL="0">
              <a:buNone/>
            </a:pPr>
            <a:r>
              <a:rPr lang="en-US" sz="1400" dirty="0">
                <a:solidFill>
                  <a:schemeClr val="tx2"/>
                </a:solidFill>
              </a:rPr>
              <a:t>6 unit tests on real failures</a:t>
            </a:r>
            <a:endParaRPr lang="en-US" sz="1400" dirty="0"/>
          </a:p>
        </p:txBody>
      </p:sp>
      <p:sp>
        <p:nvSpPr>
          <p:cNvPr id="15" name="eval result 2"/>
          <p:cNvSpPr txBox="1"/>
          <p:nvPr/>
        </p:nvSpPr>
        <p:spPr>
          <a:xfrm>
            <a:off x="3584448" y="3566160"/>
            <a:ext cx="2194560" cy="1051560"/>
          </a:xfrm>
          <a:prstGeom prst="rect">
            <a:avLst/>
          </a:prstGeom>
          <a:noFill/>
          <a:ln/>
        </p:spPr>
        <p:txBody>
          <a:bodyPr wrap="square" lIns="635" tIns="635" rIns="635" bIns="635" rtlCol="0" anchor="t"/>
          <a:lstStyle/>
          <a:p>
            <a:pPr indent="0" marL="0">
              <a:buNone/>
            </a:pPr>
            <a:r>
              <a:rPr lang="en-US" sz="1400" b="1" dirty="0">
                <a:solidFill>
                  <a:schemeClr val="accent1"/>
                </a:solidFill>
              </a:rPr>
              <a:t>P2 to P1 on garbled Derja (#50); wrong asset replaced (#49)</a:t>
            </a:r>
            <a:endParaRPr lang="en-US" sz="1400" dirty="0"/>
          </a:p>
        </p:txBody>
      </p:sp>
      <p:sp>
        <p:nvSpPr>
          <p:cNvPr id="16" name="eval card 3"/>
          <p:cNvSpPr/>
          <p:nvPr/>
        </p:nvSpPr>
        <p:spPr>
          <a:xfrm>
            <a:off x="6163056" y="1371600"/>
            <a:ext cx="2606040" cy="3337560"/>
          </a:xfrm>
          <a:prstGeom prst="roundRect">
            <a:avLst>
              <a:gd name="adj" fmla="val 2807"/>
            </a:avLst>
          </a:prstGeom>
          <a:solidFill>
            <a:schemeClr val="bg2"/>
          </a:solidFill>
          <a:ln w="12700">
            <a:solidFill>
              <a:schemeClr val="bg2"/>
            </a:solidFill>
            <a:prstDash val="solid"/>
          </a:ln>
        </p:spPr>
      </p:sp>
      <p:sp>
        <p:nvSpPr>
          <p:cNvPr id="17" name="Live system circle"/>
          <p:cNvSpPr/>
          <p:nvPr/>
        </p:nvSpPr>
        <p:spPr>
          <a:xfrm>
            <a:off x="6391656" y="1600200"/>
            <a:ext cx="640080" cy="640080"/>
          </a:xfrm>
          <a:prstGeom prst="ellipse">
            <a:avLst/>
          </a:prstGeom>
          <a:solidFill>
            <a:schemeClr val="accent1"/>
          </a:solidFill>
          <a:ln w="12700">
            <a:solidFill>
              <a:schemeClr val="accent1"/>
            </a:solidFill>
            <a:prstDash val="solid"/>
          </a:ln>
        </p:spPr>
      </p:sp>
      <p:pic>
        <p:nvPicPr>
          <p:cNvPr id="18" name="Live system icon" descr="preencoded.png">    </p:cNvPr>
          <p:cNvPicPr>
            <a:picLocks noChangeAspect="1"/>
          </p:cNvPicPr>
          <p:nvPr/>
        </p:nvPicPr>
        <p:blipFill>
          <a:blip r:embed="rId3"/>
          <a:stretch>
            <a:fillRect/>
          </a:stretch>
        </p:blipFill>
        <p:spPr>
          <a:xfrm>
            <a:off x="6551676" y="1760220"/>
            <a:ext cx="320040" cy="320040"/>
          </a:xfrm>
          <a:prstGeom prst="rect">
            <a:avLst/>
          </a:prstGeom>
        </p:spPr>
      </p:pic>
      <p:sp>
        <p:nvSpPr>
          <p:cNvPr id="19" name="eval title 3"/>
          <p:cNvSpPr txBox="1"/>
          <p:nvPr/>
        </p:nvSpPr>
        <p:spPr>
          <a:xfrm>
            <a:off x="6391656" y="2377440"/>
            <a:ext cx="2194560" cy="457200"/>
          </a:xfrm>
          <a:prstGeom prst="rect">
            <a:avLst/>
          </a:prstGeom>
          <a:noFill/>
          <a:ln/>
        </p:spPr>
        <p:txBody>
          <a:bodyPr wrap="square" lIns="635" tIns="635" rIns="635" bIns="635" rtlCol="0" anchor="t"/>
          <a:lstStyle/>
          <a:p>
            <a:pPr indent="0" marL="0">
              <a:buNone/>
            </a:pPr>
            <a:r>
              <a:rPr lang="en-US" sz="1900" b="1" dirty="0">
                <a:solidFill>
                  <a:schemeClr val="tx1"/>
                </a:solidFill>
              </a:rPr>
              <a:t>Live system</a:t>
            </a:r>
            <a:endParaRPr lang="en-US" sz="1900" dirty="0"/>
          </a:p>
        </p:txBody>
      </p:sp>
      <p:sp>
        <p:nvSpPr>
          <p:cNvPr id="20" name="eval scope 3"/>
          <p:cNvSpPr txBox="1"/>
          <p:nvPr/>
        </p:nvSpPr>
        <p:spPr>
          <a:xfrm>
            <a:off x="6391656" y="2834640"/>
            <a:ext cx="2194560" cy="685800"/>
          </a:xfrm>
          <a:prstGeom prst="rect">
            <a:avLst/>
          </a:prstGeom>
          <a:noFill/>
          <a:ln/>
        </p:spPr>
        <p:txBody>
          <a:bodyPr wrap="square" lIns="635" tIns="635" rIns="635" bIns="635" rtlCol="0" anchor="t"/>
          <a:lstStyle/>
          <a:p>
            <a:pPr indent="0" marL="0">
              <a:buNone/>
            </a:pPr>
            <a:r>
              <a:rPr lang="en-US" sz="1400" dirty="0">
                <a:solidFill>
                  <a:schemeClr val="tx2"/>
                </a:solidFill>
              </a:rPr>
              <a:t>~35 Telegram executions</a:t>
            </a:r>
            <a:endParaRPr lang="en-US" sz="1400" dirty="0"/>
          </a:p>
        </p:txBody>
      </p:sp>
      <p:sp>
        <p:nvSpPr>
          <p:cNvPr id="21" name="eval result 3"/>
          <p:cNvSpPr txBox="1"/>
          <p:nvPr/>
        </p:nvSpPr>
        <p:spPr>
          <a:xfrm>
            <a:off x="6391656" y="3566160"/>
            <a:ext cx="2194560" cy="1051560"/>
          </a:xfrm>
          <a:prstGeom prst="rect">
            <a:avLst/>
          </a:prstGeom>
          <a:noFill/>
          <a:ln/>
        </p:spPr>
        <p:txBody>
          <a:bodyPr wrap="square" lIns="635" tIns="635" rIns="635" bIns="635" rtlCol="0" anchor="t"/>
          <a:lstStyle/>
          <a:p>
            <a:pPr indent="0" marL="0">
              <a:buNone/>
            </a:pPr>
            <a:r>
              <a:rPr lang="en-US" sz="1400" b="1" dirty="0">
                <a:solidFill>
                  <a:schemeClr val="accent1"/>
                </a:solidFill>
              </a:rPr>
              <a:t>Every failure logged with root cause and fix</a:t>
            </a:r>
            <a:endParaRPr lang="en-US" sz="1400" dirty="0"/>
          </a:p>
        </p:txBody>
      </p:sp>
      <p:sp>
        <p:nvSpPr>
          <p:cNvPr id="22" name="eval card 4"/>
          <p:cNvSpPr/>
          <p:nvPr/>
        </p:nvSpPr>
        <p:spPr>
          <a:xfrm>
            <a:off x="8970264" y="1371600"/>
            <a:ext cx="2606040" cy="3337560"/>
          </a:xfrm>
          <a:prstGeom prst="roundRect">
            <a:avLst>
              <a:gd name="adj" fmla="val 2807"/>
            </a:avLst>
          </a:prstGeom>
          <a:solidFill>
            <a:schemeClr val="bg2"/>
          </a:solidFill>
          <a:ln w="12700">
            <a:solidFill>
              <a:schemeClr val="bg2"/>
            </a:solidFill>
            <a:prstDash val="solid"/>
          </a:ln>
        </p:spPr>
      </p:sp>
      <p:sp>
        <p:nvSpPr>
          <p:cNvPr id="23" name="Non-functional circle"/>
          <p:cNvSpPr/>
          <p:nvPr/>
        </p:nvSpPr>
        <p:spPr>
          <a:xfrm>
            <a:off x="9198864" y="1600200"/>
            <a:ext cx="640080" cy="640080"/>
          </a:xfrm>
          <a:prstGeom prst="ellipse">
            <a:avLst/>
          </a:prstGeom>
          <a:solidFill>
            <a:schemeClr val="accent1"/>
          </a:solidFill>
          <a:ln w="12700">
            <a:solidFill>
              <a:schemeClr val="accent1"/>
            </a:solidFill>
            <a:prstDash val="solid"/>
          </a:ln>
        </p:spPr>
      </p:sp>
      <p:pic>
        <p:nvPicPr>
          <p:cNvPr id="24" name="Non-functional icon" descr="preencoded.png">    </p:cNvPr>
          <p:cNvPicPr>
            <a:picLocks noChangeAspect="1"/>
          </p:cNvPicPr>
          <p:nvPr/>
        </p:nvPicPr>
        <p:blipFill>
          <a:blip r:embed="rId4"/>
          <a:stretch>
            <a:fillRect/>
          </a:stretch>
        </p:blipFill>
        <p:spPr>
          <a:xfrm>
            <a:off x="9358884" y="1760220"/>
            <a:ext cx="320040" cy="320040"/>
          </a:xfrm>
          <a:prstGeom prst="rect">
            <a:avLst/>
          </a:prstGeom>
        </p:spPr>
      </p:pic>
      <p:sp>
        <p:nvSpPr>
          <p:cNvPr id="25" name="eval title 4"/>
          <p:cNvSpPr txBox="1"/>
          <p:nvPr/>
        </p:nvSpPr>
        <p:spPr>
          <a:xfrm>
            <a:off x="9198864" y="2377440"/>
            <a:ext cx="2194560" cy="457200"/>
          </a:xfrm>
          <a:prstGeom prst="rect">
            <a:avLst/>
          </a:prstGeom>
          <a:noFill/>
          <a:ln/>
        </p:spPr>
        <p:txBody>
          <a:bodyPr wrap="square" lIns="635" tIns="635" rIns="635" bIns="635" rtlCol="0" anchor="t"/>
          <a:lstStyle/>
          <a:p>
            <a:pPr indent="0" marL="0">
              <a:buNone/>
            </a:pPr>
            <a:r>
              <a:rPr lang="en-US" sz="1900" b="1" dirty="0">
                <a:solidFill>
                  <a:schemeClr val="tx1"/>
                </a:solidFill>
              </a:rPr>
              <a:t>Non-functional</a:t>
            </a:r>
            <a:endParaRPr lang="en-US" sz="1900" dirty="0"/>
          </a:p>
        </p:txBody>
      </p:sp>
      <p:sp>
        <p:nvSpPr>
          <p:cNvPr id="26" name="eval scope 4"/>
          <p:cNvSpPr txBox="1"/>
          <p:nvPr/>
        </p:nvSpPr>
        <p:spPr>
          <a:xfrm>
            <a:off x="9198864" y="2834640"/>
            <a:ext cx="2194560" cy="685800"/>
          </a:xfrm>
          <a:prstGeom prst="rect">
            <a:avLst/>
          </a:prstGeom>
          <a:noFill/>
          <a:ln/>
        </p:spPr>
        <p:txBody>
          <a:bodyPr wrap="square" lIns="635" tIns="635" rIns="635" bIns="635" rtlCol="0" anchor="t"/>
          <a:lstStyle/>
          <a:p>
            <a:pPr indent="0" marL="0">
              <a:buNone/>
            </a:pPr>
            <a:r>
              <a:rPr lang="en-US" sz="1400" dirty="0">
                <a:solidFill>
                  <a:schemeClr val="tx2"/>
                </a:solidFill>
              </a:rPr>
              <a:t>Latency, quota, resilience</a:t>
            </a:r>
            <a:endParaRPr lang="en-US" sz="1400" dirty="0"/>
          </a:p>
        </p:txBody>
      </p:sp>
      <p:sp>
        <p:nvSpPr>
          <p:cNvPr id="27" name="eval result 4"/>
          <p:cNvSpPr txBox="1"/>
          <p:nvPr/>
        </p:nvSpPr>
        <p:spPr>
          <a:xfrm>
            <a:off x="9198864" y="3566160"/>
            <a:ext cx="2194560" cy="1051560"/>
          </a:xfrm>
          <a:prstGeom prst="rect">
            <a:avLst/>
          </a:prstGeom>
          <a:noFill/>
          <a:ln/>
        </p:spPr>
        <p:txBody>
          <a:bodyPr wrap="square" lIns="635" tIns="635" rIns="635" bIns="635" rtlCol="0" anchor="t"/>
          <a:lstStyle/>
          <a:p>
            <a:pPr indent="0" marL="0">
              <a:buNone/>
            </a:pPr>
            <a:r>
              <a:rPr lang="en-US" sz="1400" b="1" dirty="0">
                <a:solidFill>
                  <a:schemeClr val="accent1"/>
                </a:solidFill>
              </a:rPr>
              <a:t>Vision about 4 s; about 1 report/min on free tier</a:t>
            </a:r>
            <a:endParaRPr lang="en-US" sz="1400" dirty="0"/>
          </a:p>
        </p:txBody>
      </p:sp>
      <p:sp>
        <p:nvSpPr>
          <p:cNvPr id="28" name="limits band"/>
          <p:cNvSpPr/>
          <p:nvPr/>
        </p:nvSpPr>
        <p:spPr>
          <a:xfrm>
            <a:off x="548640" y="4937760"/>
            <a:ext cx="11094415" cy="1188720"/>
          </a:xfrm>
          <a:prstGeom prst="roundRect">
            <a:avLst>
              <a:gd name="adj" fmla="val 6154"/>
            </a:avLst>
          </a:prstGeom>
          <a:solidFill>
            <a:srgbClr val="FDF1E1"/>
          </a:solidFill>
          <a:ln w="12700">
            <a:solidFill>
              <a:srgbClr val="FDF1E1"/>
            </a:solidFill>
            <a:prstDash val="solid"/>
          </a:ln>
        </p:spPr>
      </p:sp>
      <p:sp>
        <p:nvSpPr>
          <p:cNvPr id="29" name="limits text"/>
          <p:cNvSpPr txBox="1"/>
          <p:nvPr/>
        </p:nvSpPr>
        <p:spPr>
          <a:xfrm>
            <a:off x="822960" y="5029200"/>
            <a:ext cx="10545775" cy="1005840"/>
          </a:xfrm>
          <a:prstGeom prst="rect">
            <a:avLst/>
          </a:prstGeom>
          <a:noFill/>
          <a:ln/>
        </p:spPr>
        <p:txBody>
          <a:bodyPr wrap="square" lIns="635" tIns="635" rIns="635" bIns="635" rtlCol="0" anchor="ctr"/>
          <a:lstStyle/>
          <a:p>
            <a:pPr indent="0" marL="0">
              <a:buNone/>
            </a:pPr>
            <a:r>
              <a:rPr lang="en-US" sz="1600" b="1" dirty="0">
                <a:solidFill>
                  <a:srgbClr val="B9770E"/>
                </a:solidFill>
              </a:rPr>
              <a:t>Limits we state ourselves: </a:t>
            </a:r>
            <a:pPr indent="0" marL="0">
              <a:buNone/>
            </a:pPr>
            <a:r>
              <a:rPr lang="en-US" sz="1600" dirty="0">
                <a:solidFill>
                  <a:srgbClr val="0B1F33"/>
                </a:solidFill>
              </a:rPr>
              <a:t>small team-made test sets; depth from one photo stays modest (25% in range); the agentic v3 is validated on live runs, not yet on the full benchmarks.</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Security: fail safe, least privilege</a:t>
            </a:r>
            <a:endParaRPr lang="en-US" sz="3400" dirty="0"/>
          </a:p>
        </p:txBody>
      </p:sp>
      <p:sp>
        <p:nvSpPr>
          <p:cNvPr id="4" name="threat card 1"/>
          <p:cNvSpPr/>
          <p:nvPr/>
        </p:nvSpPr>
        <p:spPr>
          <a:xfrm>
            <a:off x="548640" y="1371600"/>
            <a:ext cx="3520440" cy="2194560"/>
          </a:xfrm>
          <a:prstGeom prst="roundRect">
            <a:avLst>
              <a:gd name="adj" fmla="val 3333"/>
            </a:avLst>
          </a:prstGeom>
          <a:solidFill>
            <a:srgbClr val="FBE3DF"/>
          </a:solidFill>
          <a:ln w="12700">
            <a:solidFill>
              <a:srgbClr val="FBE3DF"/>
            </a:solidFill>
            <a:prstDash val="solid"/>
          </a:ln>
        </p:spPr>
      </p:sp>
      <p:sp>
        <p:nvSpPr>
          <p:cNvPr id="5" name="Prompt injection circle"/>
          <p:cNvSpPr/>
          <p:nvPr/>
        </p:nvSpPr>
        <p:spPr>
          <a:xfrm>
            <a:off x="777240" y="1600200"/>
            <a:ext cx="640080" cy="640080"/>
          </a:xfrm>
          <a:prstGeom prst="ellipse">
            <a:avLst/>
          </a:prstGeom>
          <a:solidFill>
            <a:schemeClr val="accent5"/>
          </a:solidFill>
          <a:ln w="12700">
            <a:solidFill>
              <a:schemeClr val="accent5"/>
            </a:solidFill>
            <a:prstDash val="solid"/>
          </a:ln>
        </p:spPr>
      </p:sp>
      <p:pic>
        <p:nvPicPr>
          <p:cNvPr id="6" name="Prompt injection icon"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7" name="threat name 1"/>
          <p:cNvSpPr txBox="1"/>
          <p:nvPr/>
        </p:nvSpPr>
        <p:spPr>
          <a:xfrm>
            <a:off x="155448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Prompt injection</a:t>
            </a:r>
            <a:endParaRPr lang="en-US" sz="1800" dirty="0"/>
          </a:p>
        </p:txBody>
      </p:sp>
      <p:sp>
        <p:nvSpPr>
          <p:cNvPr id="8" name="threat mitigation 1"/>
          <p:cNvSpPr txBox="1"/>
          <p:nvPr/>
        </p:nvSpPr>
        <p:spPr>
          <a:xfrm>
            <a:off x="777240" y="237744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Citizen words wired raw to specialists; schemas; rules tool reads raw text without any LLM</a:t>
            </a:r>
            <a:endParaRPr lang="en-US" sz="1400" dirty="0"/>
          </a:p>
        </p:txBody>
      </p:sp>
      <p:sp>
        <p:nvSpPr>
          <p:cNvPr id="9" name="threat card 2"/>
          <p:cNvSpPr/>
          <p:nvPr/>
        </p:nvSpPr>
        <p:spPr>
          <a:xfrm>
            <a:off x="4297680" y="1371600"/>
            <a:ext cx="3520440" cy="2194560"/>
          </a:xfrm>
          <a:prstGeom prst="roundRect">
            <a:avLst>
              <a:gd name="adj" fmla="val 3333"/>
            </a:avLst>
          </a:prstGeom>
          <a:solidFill>
            <a:srgbClr val="FBE3DF"/>
          </a:solidFill>
          <a:ln w="12700">
            <a:solidFill>
              <a:srgbClr val="FBE3DF"/>
            </a:solidFill>
            <a:prstDash val="solid"/>
          </a:ln>
        </p:spPr>
      </p:sp>
      <p:sp>
        <p:nvSpPr>
          <p:cNvPr id="10" name="Excessive agency circle"/>
          <p:cNvSpPr/>
          <p:nvPr/>
        </p:nvSpPr>
        <p:spPr>
          <a:xfrm>
            <a:off x="4526280" y="1600200"/>
            <a:ext cx="640080" cy="640080"/>
          </a:xfrm>
          <a:prstGeom prst="ellipse">
            <a:avLst/>
          </a:prstGeom>
          <a:solidFill>
            <a:schemeClr val="accent5"/>
          </a:solidFill>
          <a:ln w="12700">
            <a:solidFill>
              <a:schemeClr val="accent5"/>
            </a:solidFill>
            <a:prstDash val="solid"/>
          </a:ln>
        </p:spPr>
      </p:sp>
      <p:pic>
        <p:nvPicPr>
          <p:cNvPr id="11" name="Excessive agency icon" descr="preencoded.png">    </p:cNvPr>
          <p:cNvPicPr>
            <a:picLocks noChangeAspect="1"/>
          </p:cNvPicPr>
          <p:nvPr/>
        </p:nvPicPr>
        <p:blipFill>
          <a:blip r:embed="rId2"/>
          <a:stretch>
            <a:fillRect/>
          </a:stretch>
        </p:blipFill>
        <p:spPr>
          <a:xfrm>
            <a:off x="4686300" y="1760220"/>
            <a:ext cx="320040" cy="320040"/>
          </a:xfrm>
          <a:prstGeom prst="rect">
            <a:avLst/>
          </a:prstGeom>
        </p:spPr>
      </p:pic>
      <p:sp>
        <p:nvSpPr>
          <p:cNvPr id="12" name="threat name 2"/>
          <p:cNvSpPr txBox="1"/>
          <p:nvPr/>
        </p:nvSpPr>
        <p:spPr>
          <a:xfrm>
            <a:off x="530352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Excessive agency</a:t>
            </a:r>
            <a:endParaRPr lang="en-US" sz="1800" dirty="0"/>
          </a:p>
        </p:txBody>
      </p:sp>
      <p:sp>
        <p:nvSpPr>
          <p:cNvPr id="13" name="threat mitigation 2"/>
          <p:cNvSpPr txBox="1"/>
          <p:nvPr/>
        </p:nvSpPr>
        <p:spPr>
          <a:xfrm>
            <a:off x="4526280" y="237744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Chat id locked in every Telegram and board tool; one question per incident; step limits</a:t>
            </a:r>
            <a:endParaRPr lang="en-US" sz="1400" dirty="0"/>
          </a:p>
        </p:txBody>
      </p:sp>
      <p:sp>
        <p:nvSpPr>
          <p:cNvPr id="14" name="threat card 3"/>
          <p:cNvSpPr/>
          <p:nvPr/>
        </p:nvSpPr>
        <p:spPr>
          <a:xfrm>
            <a:off x="8046720" y="1371600"/>
            <a:ext cx="3520440" cy="2194560"/>
          </a:xfrm>
          <a:prstGeom prst="roundRect">
            <a:avLst>
              <a:gd name="adj" fmla="val 3333"/>
            </a:avLst>
          </a:prstGeom>
          <a:solidFill>
            <a:schemeClr val="bg2"/>
          </a:solidFill>
          <a:ln w="12700">
            <a:solidFill>
              <a:schemeClr val="bg2"/>
            </a:solidFill>
            <a:prstDash val="solid"/>
          </a:ln>
        </p:spPr>
      </p:sp>
      <p:sp>
        <p:nvSpPr>
          <p:cNvPr id="15" name="Hallucinated grade circle"/>
          <p:cNvSpPr/>
          <p:nvPr/>
        </p:nvSpPr>
        <p:spPr>
          <a:xfrm>
            <a:off x="8275320" y="1600200"/>
            <a:ext cx="640080" cy="640080"/>
          </a:xfrm>
          <a:prstGeom prst="ellipse">
            <a:avLst/>
          </a:prstGeom>
          <a:solidFill>
            <a:schemeClr val="accent1"/>
          </a:solidFill>
          <a:ln w="12700">
            <a:solidFill>
              <a:schemeClr val="accent1"/>
            </a:solidFill>
            <a:prstDash val="solid"/>
          </a:ln>
        </p:spPr>
      </p:sp>
      <p:pic>
        <p:nvPicPr>
          <p:cNvPr id="16" name="Hallucinated grade icon" descr="preencoded.png">    </p:cNvPr>
          <p:cNvPicPr>
            <a:picLocks noChangeAspect="1"/>
          </p:cNvPicPr>
          <p:nvPr/>
        </p:nvPicPr>
        <p:blipFill>
          <a:blip r:embed="rId3"/>
          <a:stretch>
            <a:fillRect/>
          </a:stretch>
        </p:blipFill>
        <p:spPr>
          <a:xfrm>
            <a:off x="8435340" y="1760220"/>
            <a:ext cx="320040" cy="320040"/>
          </a:xfrm>
          <a:prstGeom prst="rect">
            <a:avLst/>
          </a:prstGeom>
        </p:spPr>
      </p:pic>
      <p:sp>
        <p:nvSpPr>
          <p:cNvPr id="17" name="threat name 3"/>
          <p:cNvSpPr txBox="1"/>
          <p:nvPr/>
        </p:nvSpPr>
        <p:spPr>
          <a:xfrm>
            <a:off x="9052560" y="164592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Hallucinated grade</a:t>
            </a:r>
            <a:endParaRPr lang="en-US" sz="1800" dirty="0"/>
          </a:p>
        </p:txBody>
      </p:sp>
      <p:sp>
        <p:nvSpPr>
          <p:cNvPr id="18" name="threat mitigation 3"/>
          <p:cNvSpPr txBox="1"/>
          <p:nvPr/>
        </p:nvSpPr>
        <p:spPr>
          <a:xfrm>
            <a:off x="8275320" y="237744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Depth recomputed from evidence; asset forced to the tier; protocol quoted</a:t>
            </a:r>
            <a:endParaRPr lang="en-US" sz="1400" dirty="0"/>
          </a:p>
        </p:txBody>
      </p:sp>
      <p:sp>
        <p:nvSpPr>
          <p:cNvPr id="19" name="threat card 4"/>
          <p:cNvSpPr/>
          <p:nvPr/>
        </p:nvSpPr>
        <p:spPr>
          <a:xfrm>
            <a:off x="548640" y="3794760"/>
            <a:ext cx="3520440" cy="2194560"/>
          </a:xfrm>
          <a:prstGeom prst="roundRect">
            <a:avLst>
              <a:gd name="adj" fmla="val 3333"/>
            </a:avLst>
          </a:prstGeom>
          <a:solidFill>
            <a:schemeClr val="bg2"/>
          </a:solidFill>
          <a:ln w="12700">
            <a:solidFill>
              <a:schemeClr val="bg2"/>
            </a:solidFill>
            <a:prstDash val="solid"/>
          </a:ln>
        </p:spPr>
      </p:sp>
      <p:sp>
        <p:nvSpPr>
          <p:cNvPr id="20" name="Pranks and abuse circle"/>
          <p:cNvSpPr/>
          <p:nvPr/>
        </p:nvSpPr>
        <p:spPr>
          <a:xfrm>
            <a:off x="777240" y="4023360"/>
            <a:ext cx="640080" cy="640080"/>
          </a:xfrm>
          <a:prstGeom prst="ellipse">
            <a:avLst/>
          </a:prstGeom>
          <a:solidFill>
            <a:schemeClr val="accent1"/>
          </a:solidFill>
          <a:ln w="12700">
            <a:solidFill>
              <a:schemeClr val="accent1"/>
            </a:solidFill>
            <a:prstDash val="solid"/>
          </a:ln>
        </p:spPr>
      </p:sp>
      <p:pic>
        <p:nvPicPr>
          <p:cNvPr id="21" name="Pranks and abuse icon" descr="preencoded.png">    </p:cNvPr>
          <p:cNvPicPr>
            <a:picLocks noChangeAspect="1"/>
          </p:cNvPicPr>
          <p:nvPr/>
        </p:nvPicPr>
        <p:blipFill>
          <a:blip r:embed="rId4"/>
          <a:stretch>
            <a:fillRect/>
          </a:stretch>
        </p:blipFill>
        <p:spPr>
          <a:xfrm>
            <a:off x="937260" y="4183380"/>
            <a:ext cx="320040" cy="320040"/>
          </a:xfrm>
          <a:prstGeom prst="rect">
            <a:avLst/>
          </a:prstGeom>
        </p:spPr>
      </p:pic>
      <p:sp>
        <p:nvSpPr>
          <p:cNvPr id="22" name="threat name 4"/>
          <p:cNvSpPr txBox="1"/>
          <p:nvPr/>
        </p:nvSpPr>
        <p:spPr>
          <a:xfrm>
            <a:off x="155448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Pranks and abuse</a:t>
            </a:r>
            <a:endParaRPr lang="en-US" sz="1800" dirty="0"/>
          </a:p>
        </p:txBody>
      </p:sp>
      <p:sp>
        <p:nvSpPr>
          <p:cNvPr id="23" name="threat mitigation 4"/>
          <p:cNvSpPr txBox="1"/>
          <p:nvPr/>
        </p:nvSpPr>
        <p:spPr>
          <a:xfrm>
            <a:off x="777240" y="480060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Flagged by the Distress Agent; forced human review (no sender authentication yet)</a:t>
            </a:r>
            <a:endParaRPr lang="en-US" sz="1400" dirty="0"/>
          </a:p>
        </p:txBody>
      </p:sp>
      <p:sp>
        <p:nvSpPr>
          <p:cNvPr id="24" name="threat card 5"/>
          <p:cNvSpPr/>
          <p:nvPr/>
        </p:nvSpPr>
        <p:spPr>
          <a:xfrm>
            <a:off x="4297680" y="3794760"/>
            <a:ext cx="3520440" cy="2194560"/>
          </a:xfrm>
          <a:prstGeom prst="roundRect">
            <a:avLst>
              <a:gd name="adj" fmla="val 3333"/>
            </a:avLst>
          </a:prstGeom>
          <a:solidFill>
            <a:schemeClr val="bg2"/>
          </a:solidFill>
          <a:ln w="12700">
            <a:solidFill>
              <a:schemeClr val="bg2"/>
            </a:solidFill>
            <a:prstDash val="solid"/>
          </a:ln>
        </p:spPr>
      </p:sp>
      <p:sp>
        <p:nvSpPr>
          <p:cNvPr id="25" name="Secrets and output circle"/>
          <p:cNvSpPr/>
          <p:nvPr/>
        </p:nvSpPr>
        <p:spPr>
          <a:xfrm>
            <a:off x="4526280" y="4023360"/>
            <a:ext cx="640080" cy="640080"/>
          </a:xfrm>
          <a:prstGeom prst="ellipse">
            <a:avLst/>
          </a:prstGeom>
          <a:solidFill>
            <a:schemeClr val="accent1"/>
          </a:solidFill>
          <a:ln w="12700">
            <a:solidFill>
              <a:schemeClr val="accent1"/>
            </a:solidFill>
            <a:prstDash val="solid"/>
          </a:ln>
        </p:spPr>
      </p:sp>
      <p:pic>
        <p:nvPicPr>
          <p:cNvPr id="26" name="Secrets and output icon" descr="preencoded.png">    </p:cNvPr>
          <p:cNvPicPr>
            <a:picLocks noChangeAspect="1"/>
          </p:cNvPicPr>
          <p:nvPr/>
        </p:nvPicPr>
        <p:blipFill>
          <a:blip r:embed="rId5"/>
          <a:stretch>
            <a:fillRect/>
          </a:stretch>
        </p:blipFill>
        <p:spPr>
          <a:xfrm>
            <a:off x="4686300" y="4183380"/>
            <a:ext cx="320040" cy="320040"/>
          </a:xfrm>
          <a:prstGeom prst="rect">
            <a:avLst/>
          </a:prstGeom>
        </p:spPr>
      </p:pic>
      <p:sp>
        <p:nvSpPr>
          <p:cNvPr id="27" name="threat name 5"/>
          <p:cNvSpPr txBox="1"/>
          <p:nvPr/>
        </p:nvSpPr>
        <p:spPr>
          <a:xfrm>
            <a:off x="530352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Secrets and output</a:t>
            </a:r>
            <a:endParaRPr lang="en-US" sz="1800" dirty="0"/>
          </a:p>
        </p:txBody>
      </p:sp>
      <p:sp>
        <p:nvSpPr>
          <p:cNvPr id="28" name="threat mitigation 5"/>
          <p:cNvSpPr txBox="1"/>
          <p:nvPr/>
        </p:nvSpPr>
        <p:spPr>
          <a:xfrm>
            <a:off x="4526280" y="480060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Keys only in n8n credentials and a git-ignored .env; ticket text HTML-escaped</a:t>
            </a:r>
            <a:endParaRPr lang="en-US" sz="1400" dirty="0"/>
          </a:p>
        </p:txBody>
      </p:sp>
      <p:sp>
        <p:nvSpPr>
          <p:cNvPr id="29" name="threat card 6"/>
          <p:cNvSpPr/>
          <p:nvPr/>
        </p:nvSpPr>
        <p:spPr>
          <a:xfrm>
            <a:off x="8046720" y="3794760"/>
            <a:ext cx="3520440" cy="2194560"/>
          </a:xfrm>
          <a:prstGeom prst="roundRect">
            <a:avLst>
              <a:gd name="adj" fmla="val 3333"/>
            </a:avLst>
          </a:prstGeom>
          <a:solidFill>
            <a:schemeClr val="bg2"/>
          </a:solidFill>
          <a:ln w="12700">
            <a:solidFill>
              <a:schemeClr val="bg2"/>
            </a:solidFill>
            <a:prstDash val="solid"/>
          </a:ln>
        </p:spPr>
      </p:sp>
      <p:sp>
        <p:nvSpPr>
          <p:cNvPr id="30" name="Privacy circle"/>
          <p:cNvSpPr/>
          <p:nvPr/>
        </p:nvSpPr>
        <p:spPr>
          <a:xfrm>
            <a:off x="8275320" y="4023360"/>
            <a:ext cx="640080" cy="640080"/>
          </a:xfrm>
          <a:prstGeom prst="ellipse">
            <a:avLst/>
          </a:prstGeom>
          <a:solidFill>
            <a:schemeClr val="accent1"/>
          </a:solidFill>
          <a:ln w="12700">
            <a:solidFill>
              <a:schemeClr val="accent1"/>
            </a:solidFill>
            <a:prstDash val="solid"/>
          </a:ln>
        </p:spPr>
      </p:sp>
      <p:pic>
        <p:nvPicPr>
          <p:cNvPr id="31" name="Privacy icon" descr="preencoded.png">    </p:cNvPr>
          <p:cNvPicPr>
            <a:picLocks noChangeAspect="1"/>
          </p:cNvPicPr>
          <p:nvPr/>
        </p:nvPicPr>
        <p:blipFill>
          <a:blip r:embed="rId6"/>
          <a:stretch>
            <a:fillRect/>
          </a:stretch>
        </p:blipFill>
        <p:spPr>
          <a:xfrm>
            <a:off x="8435340" y="4183380"/>
            <a:ext cx="320040" cy="320040"/>
          </a:xfrm>
          <a:prstGeom prst="rect">
            <a:avLst/>
          </a:prstGeom>
        </p:spPr>
      </p:pic>
      <p:sp>
        <p:nvSpPr>
          <p:cNvPr id="32" name="threat name 6"/>
          <p:cNvSpPr txBox="1"/>
          <p:nvPr/>
        </p:nvSpPr>
        <p:spPr>
          <a:xfrm>
            <a:off x="9052560" y="4069080"/>
            <a:ext cx="2377440" cy="594360"/>
          </a:xfrm>
          <a:prstGeom prst="rect">
            <a:avLst/>
          </a:prstGeom>
          <a:noFill/>
          <a:ln/>
        </p:spPr>
        <p:txBody>
          <a:bodyPr wrap="square" lIns="635" tIns="635" rIns="635" bIns="635" rtlCol="0" anchor="ctr"/>
          <a:lstStyle/>
          <a:p>
            <a:pPr indent="0" marL="0">
              <a:buNone/>
            </a:pPr>
            <a:r>
              <a:rPr lang="en-US" sz="1800" b="1" dirty="0">
                <a:solidFill>
                  <a:schemeClr val="tx1"/>
                </a:solidFill>
              </a:rPr>
              <a:t>Privacy</a:t>
            </a:r>
            <a:endParaRPr lang="en-US" sz="1800" dirty="0"/>
          </a:p>
        </p:txBody>
      </p:sp>
      <p:sp>
        <p:nvSpPr>
          <p:cNvPr id="33" name="threat mitigation 6"/>
          <p:cNvSpPr txBox="1"/>
          <p:nvPr/>
        </p:nvSpPr>
        <p:spPr>
          <a:xfrm>
            <a:off x="8275320" y="4800600"/>
            <a:ext cx="3108960" cy="1097280"/>
          </a:xfrm>
          <a:prstGeom prst="rect">
            <a:avLst/>
          </a:prstGeom>
          <a:noFill/>
          <a:ln/>
        </p:spPr>
        <p:txBody>
          <a:bodyPr wrap="square" lIns="635" tIns="635" rIns="635" bIns="635" rtlCol="0" anchor="t"/>
          <a:lstStyle/>
          <a:p>
            <a:pPr indent="0" marL="0">
              <a:buNone/>
            </a:pPr>
            <a:r>
              <a:rPr lang="en-US" sz="1400" dirty="0">
                <a:solidFill>
                  <a:schemeClr val="tx2"/>
                </a:solidFill>
              </a:rPr>
              <a:t>Only public protocols in Qdrant; consent and retention needed before real use (Law 2004-63)</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Live demo</a:t>
            </a:r>
            <a:endParaRPr lang="en-US" sz="3400" dirty="0"/>
          </a:p>
        </p:txBody>
      </p:sp>
      <p:sp>
        <p:nvSpPr>
          <p:cNvPr id="4" name="demo dot 1"/>
          <p:cNvSpPr/>
          <p:nvPr/>
        </p:nvSpPr>
        <p:spPr>
          <a:xfrm>
            <a:off x="548640" y="1371600"/>
            <a:ext cx="685800" cy="685800"/>
          </a:xfrm>
          <a:prstGeom prst="ellipse">
            <a:avLst/>
          </a:prstGeom>
          <a:solidFill>
            <a:srgbClr val="0E7C86"/>
          </a:solidFill>
          <a:ln w="12700">
            <a:solidFill>
              <a:srgbClr val="0E7C86"/>
            </a:solidFill>
            <a:prstDash val="solid"/>
          </a:ln>
        </p:spPr>
      </p:sp>
      <p:sp>
        <p:nvSpPr>
          <p:cNvPr id="5" name="demo number 1"/>
          <p:cNvSpPr txBox="1"/>
          <p:nvPr/>
        </p:nvSpPr>
        <p:spPr>
          <a:xfrm>
            <a:off x="548640" y="1371600"/>
            <a:ext cx="685800" cy="685800"/>
          </a:xfrm>
          <a:prstGeom prst="rect">
            <a:avLst/>
          </a:prstGeom>
          <a:noFill/>
          <a:ln/>
        </p:spPr>
        <p:txBody>
          <a:bodyPr wrap="square" lIns="635" tIns="635" rIns="635" bIns="635" rtlCol="0" anchor="ctr"/>
          <a:lstStyle/>
          <a:p>
            <a:pPr algn="ctr" indent="0" marL="0">
              <a:buNone/>
            </a:pPr>
            <a:r>
              <a:rPr lang="en-US" sz="2000" b="1" dirty="0">
                <a:solidFill>
                  <a:srgbClr val="FFFFFF"/>
                </a:solidFill>
              </a:rPr>
              <a:t>1</a:t>
            </a:r>
            <a:endParaRPr lang="en-US" sz="2000" dirty="0"/>
          </a:p>
        </p:txBody>
      </p:sp>
      <p:sp>
        <p:nvSpPr>
          <p:cNvPr id="6" name="demo step 1"/>
          <p:cNvSpPr txBox="1"/>
          <p:nvPr/>
        </p:nvSpPr>
        <p:spPr>
          <a:xfrm>
            <a:off x="1463040" y="1444752"/>
            <a:ext cx="4754880" cy="548640"/>
          </a:xfrm>
          <a:prstGeom prst="rect">
            <a:avLst/>
          </a:prstGeom>
          <a:noFill/>
          <a:ln/>
        </p:spPr>
        <p:txBody>
          <a:bodyPr wrap="square" lIns="635" tIns="635" rIns="635" bIns="635" rtlCol="0" anchor="ctr"/>
          <a:lstStyle/>
          <a:p>
            <a:pPr indent="0" marL="0">
              <a:buNone/>
            </a:pPr>
            <a:r>
              <a:rPr lang="en-US" sz="2000" b="1" dirty="0">
                <a:solidFill>
                  <a:srgbClr val="FFFFFF"/>
                </a:solidFill>
              </a:rPr>
              <a:t>Derja voice note</a:t>
            </a:r>
            <a:endParaRPr lang="en-US" sz="2000" dirty="0"/>
          </a:p>
        </p:txBody>
      </p:sp>
      <p:sp>
        <p:nvSpPr>
          <p:cNvPr id="7" name="demo expected 1"/>
          <p:cNvSpPr txBox="1"/>
          <p:nvPr/>
        </p:nvSpPr>
        <p:spPr>
          <a:xfrm>
            <a:off x="6309360" y="1444752"/>
            <a:ext cx="3657600" cy="548640"/>
          </a:xfrm>
          <a:prstGeom prst="rect">
            <a:avLst/>
          </a:prstGeom>
          <a:noFill/>
          <a:ln/>
        </p:spPr>
        <p:txBody>
          <a:bodyPr wrap="square" lIns="635" tIns="635" rIns="635" bIns="635" rtlCol="0" anchor="ctr"/>
          <a:lstStyle/>
          <a:p>
            <a:pPr indent="0" marL="0">
              <a:buNone/>
            </a:pPr>
            <a:r>
              <a:rPr lang="en-US" sz="1800" dirty="0">
                <a:solidFill>
                  <a:srgbClr val="F2A541"/>
                </a:solidFill>
              </a:rPr>
              <a:t>P1, boat + paramedic</a:t>
            </a:r>
            <a:endParaRPr lang="en-US" sz="1800" dirty="0"/>
          </a:p>
        </p:txBody>
      </p:sp>
      <p:sp>
        <p:nvSpPr>
          <p:cNvPr id="8" name="demo dot 2"/>
          <p:cNvSpPr/>
          <p:nvPr/>
        </p:nvSpPr>
        <p:spPr>
          <a:xfrm>
            <a:off x="548640" y="2304288"/>
            <a:ext cx="685800" cy="685800"/>
          </a:xfrm>
          <a:prstGeom prst="ellipse">
            <a:avLst/>
          </a:prstGeom>
          <a:solidFill>
            <a:srgbClr val="0E7C86"/>
          </a:solidFill>
          <a:ln w="12700">
            <a:solidFill>
              <a:srgbClr val="0E7C86"/>
            </a:solidFill>
            <a:prstDash val="solid"/>
          </a:ln>
        </p:spPr>
      </p:sp>
      <p:sp>
        <p:nvSpPr>
          <p:cNvPr id="9" name="demo number 2"/>
          <p:cNvSpPr txBox="1"/>
          <p:nvPr/>
        </p:nvSpPr>
        <p:spPr>
          <a:xfrm>
            <a:off x="548640" y="2304288"/>
            <a:ext cx="685800" cy="685800"/>
          </a:xfrm>
          <a:prstGeom prst="rect">
            <a:avLst/>
          </a:prstGeom>
          <a:noFill/>
          <a:ln/>
        </p:spPr>
        <p:txBody>
          <a:bodyPr wrap="square" lIns="635" tIns="635" rIns="635" bIns="635" rtlCol="0" anchor="ctr"/>
          <a:lstStyle/>
          <a:p>
            <a:pPr algn="ctr" indent="0" marL="0">
              <a:buNone/>
            </a:pPr>
            <a:r>
              <a:rPr lang="en-US" sz="2000" b="1" dirty="0">
                <a:solidFill>
                  <a:srgbClr val="FFFFFF"/>
                </a:solidFill>
              </a:rPr>
              <a:t>2</a:t>
            </a:r>
            <a:endParaRPr lang="en-US" sz="2000" dirty="0"/>
          </a:p>
        </p:txBody>
      </p:sp>
      <p:sp>
        <p:nvSpPr>
          <p:cNvPr id="10" name="demo step 2"/>
          <p:cNvSpPr txBox="1"/>
          <p:nvPr/>
        </p:nvSpPr>
        <p:spPr>
          <a:xfrm>
            <a:off x="1463040" y="2377440"/>
            <a:ext cx="4754880" cy="548640"/>
          </a:xfrm>
          <a:prstGeom prst="rect">
            <a:avLst/>
          </a:prstGeom>
          <a:noFill/>
          <a:ln/>
        </p:spPr>
        <p:txBody>
          <a:bodyPr wrap="square" lIns="635" tIns="635" rIns="635" bIns="635" rtlCol="0" anchor="ctr"/>
          <a:lstStyle/>
          <a:p>
            <a:pPr indent="0" marL="0">
              <a:buNone/>
            </a:pPr>
            <a:r>
              <a:rPr lang="en-US" sz="2000" b="1" dirty="0">
                <a:solidFill>
                  <a:srgbClr val="FFFFFF"/>
                </a:solidFill>
              </a:rPr>
              <a:t>Moderate wheel photo</a:t>
            </a:r>
            <a:endParaRPr lang="en-US" sz="2000" dirty="0"/>
          </a:p>
        </p:txBody>
      </p:sp>
      <p:sp>
        <p:nvSpPr>
          <p:cNvPr id="11" name="demo expected 2"/>
          <p:cNvSpPr txBox="1"/>
          <p:nvPr/>
        </p:nvSpPr>
        <p:spPr>
          <a:xfrm>
            <a:off x="6309360" y="2377440"/>
            <a:ext cx="3657600" cy="548640"/>
          </a:xfrm>
          <a:prstGeom prst="rect">
            <a:avLst/>
          </a:prstGeom>
          <a:noFill/>
          <a:ln/>
        </p:spPr>
        <p:txBody>
          <a:bodyPr wrap="square" lIns="635" tIns="635" rIns="635" bIns="635" rtlCol="0" anchor="ctr"/>
          <a:lstStyle/>
          <a:p>
            <a:pPr indent="0" marL="0">
              <a:buNone/>
            </a:pPr>
            <a:r>
              <a:rPr lang="en-US" sz="1800" dirty="0">
                <a:solidFill>
                  <a:srgbClr val="F2A541"/>
                </a:solidFill>
              </a:rPr>
              <a:t>P3, tow trucks</a:t>
            </a:r>
            <a:endParaRPr lang="en-US" sz="1800" dirty="0"/>
          </a:p>
        </p:txBody>
      </p:sp>
      <p:sp>
        <p:nvSpPr>
          <p:cNvPr id="12" name="demo dot 3"/>
          <p:cNvSpPr/>
          <p:nvPr/>
        </p:nvSpPr>
        <p:spPr>
          <a:xfrm>
            <a:off x="548640" y="3236976"/>
            <a:ext cx="685800" cy="685800"/>
          </a:xfrm>
          <a:prstGeom prst="ellipse">
            <a:avLst/>
          </a:prstGeom>
          <a:solidFill>
            <a:srgbClr val="0E7C86"/>
          </a:solidFill>
          <a:ln w="12700">
            <a:solidFill>
              <a:srgbClr val="0E7C86"/>
            </a:solidFill>
            <a:prstDash val="solid"/>
          </a:ln>
        </p:spPr>
      </p:sp>
      <p:sp>
        <p:nvSpPr>
          <p:cNvPr id="13" name="demo number 3"/>
          <p:cNvSpPr txBox="1"/>
          <p:nvPr/>
        </p:nvSpPr>
        <p:spPr>
          <a:xfrm>
            <a:off x="548640" y="3236976"/>
            <a:ext cx="685800" cy="685800"/>
          </a:xfrm>
          <a:prstGeom prst="rect">
            <a:avLst/>
          </a:prstGeom>
          <a:noFill/>
          <a:ln/>
        </p:spPr>
        <p:txBody>
          <a:bodyPr wrap="square" lIns="635" tIns="635" rIns="635" bIns="635" rtlCol="0" anchor="ctr"/>
          <a:lstStyle/>
          <a:p>
            <a:pPr algn="ctr" indent="0" marL="0">
              <a:buNone/>
            </a:pPr>
            <a:r>
              <a:rPr lang="en-US" sz="2000" b="1" dirty="0">
                <a:solidFill>
                  <a:srgbClr val="FFFFFF"/>
                </a:solidFill>
              </a:rPr>
              <a:t>3</a:t>
            </a:r>
            <a:endParaRPr lang="en-US" sz="2000" dirty="0"/>
          </a:p>
        </p:txBody>
      </p:sp>
      <p:sp>
        <p:nvSpPr>
          <p:cNvPr id="14" name="demo step 3"/>
          <p:cNvSpPr txBox="1"/>
          <p:nvPr/>
        </p:nvSpPr>
        <p:spPr>
          <a:xfrm>
            <a:off x="1463040" y="3310128"/>
            <a:ext cx="4754880" cy="548640"/>
          </a:xfrm>
          <a:prstGeom prst="rect">
            <a:avLst/>
          </a:prstGeom>
          <a:noFill/>
          <a:ln/>
        </p:spPr>
        <p:txBody>
          <a:bodyPr wrap="square" lIns="635" tIns="635" rIns="635" bIns="635" rtlCol="0" anchor="ctr"/>
          <a:lstStyle/>
          <a:p>
            <a:pPr indent="0" marL="0">
              <a:buNone/>
            </a:pPr>
            <a:r>
              <a:rPr lang="en-US" sz="2000" b="1" dirty="0">
                <a:solidFill>
                  <a:srgbClr val="FFFFFF"/>
                </a:solidFill>
              </a:rPr>
              <a:t>Vague text, then one follow-up question</a:t>
            </a:r>
            <a:endParaRPr lang="en-US" sz="2000" dirty="0"/>
          </a:p>
        </p:txBody>
      </p:sp>
      <p:sp>
        <p:nvSpPr>
          <p:cNvPr id="15" name="demo expected 3"/>
          <p:cNvSpPr txBox="1"/>
          <p:nvPr/>
        </p:nvSpPr>
        <p:spPr>
          <a:xfrm>
            <a:off x="6309360" y="3310128"/>
            <a:ext cx="3657600" cy="548640"/>
          </a:xfrm>
          <a:prstGeom prst="rect">
            <a:avLst/>
          </a:prstGeom>
          <a:noFill/>
          <a:ln/>
        </p:spPr>
        <p:txBody>
          <a:bodyPr wrap="square" lIns="635" tIns="635" rIns="635" bIns="635" rtlCol="0" anchor="ctr"/>
          <a:lstStyle/>
          <a:p>
            <a:pPr indent="0" marL="0">
              <a:buNone/>
            </a:pPr>
            <a:r>
              <a:rPr lang="en-US" sz="1800" dirty="0">
                <a:solidFill>
                  <a:srgbClr val="F2A541"/>
                </a:solidFill>
              </a:rPr>
              <a:t>Same incident raised to P1</a:t>
            </a:r>
            <a:endParaRPr lang="en-US" sz="1800" dirty="0"/>
          </a:p>
        </p:txBody>
      </p:sp>
      <p:sp>
        <p:nvSpPr>
          <p:cNvPr id="16" name="demo dot 4"/>
          <p:cNvSpPr/>
          <p:nvPr/>
        </p:nvSpPr>
        <p:spPr>
          <a:xfrm>
            <a:off x="548640" y="4169664"/>
            <a:ext cx="685800" cy="685800"/>
          </a:xfrm>
          <a:prstGeom prst="ellipse">
            <a:avLst/>
          </a:prstGeom>
          <a:solidFill>
            <a:srgbClr val="0E7C86"/>
          </a:solidFill>
          <a:ln w="12700">
            <a:solidFill>
              <a:srgbClr val="0E7C86"/>
            </a:solidFill>
            <a:prstDash val="solid"/>
          </a:ln>
        </p:spPr>
      </p:sp>
      <p:sp>
        <p:nvSpPr>
          <p:cNvPr id="17" name="demo number 4"/>
          <p:cNvSpPr txBox="1"/>
          <p:nvPr/>
        </p:nvSpPr>
        <p:spPr>
          <a:xfrm>
            <a:off x="548640" y="4169664"/>
            <a:ext cx="685800" cy="685800"/>
          </a:xfrm>
          <a:prstGeom prst="rect">
            <a:avLst/>
          </a:prstGeom>
          <a:noFill/>
          <a:ln/>
        </p:spPr>
        <p:txBody>
          <a:bodyPr wrap="square" lIns="635" tIns="635" rIns="635" bIns="635" rtlCol="0" anchor="ctr"/>
          <a:lstStyle/>
          <a:p>
            <a:pPr algn="ctr" indent="0" marL="0">
              <a:buNone/>
            </a:pPr>
            <a:r>
              <a:rPr lang="en-US" sz="2000" b="1" dirty="0">
                <a:solidFill>
                  <a:srgbClr val="FFFFFF"/>
                </a:solidFill>
              </a:rPr>
              <a:t>4</a:t>
            </a:r>
            <a:endParaRPr lang="en-US" sz="2000" dirty="0"/>
          </a:p>
        </p:txBody>
      </p:sp>
      <p:sp>
        <p:nvSpPr>
          <p:cNvPr id="18" name="demo step 4"/>
          <p:cNvSpPr txBox="1"/>
          <p:nvPr/>
        </p:nvSpPr>
        <p:spPr>
          <a:xfrm>
            <a:off x="1463040" y="4242816"/>
            <a:ext cx="4754880" cy="548640"/>
          </a:xfrm>
          <a:prstGeom prst="rect">
            <a:avLst/>
          </a:prstGeom>
          <a:noFill/>
          <a:ln/>
        </p:spPr>
        <p:txBody>
          <a:bodyPr wrap="square" lIns="635" tIns="635" rIns="635" bIns="635" rtlCol="0" anchor="ctr"/>
          <a:lstStyle/>
          <a:p>
            <a:pPr indent="0" marL="0">
              <a:buNone/>
            </a:pPr>
            <a:r>
              <a:rPr lang="en-US" sz="2000" b="1" dirty="0">
                <a:solidFill>
                  <a:srgbClr val="FFFFFF"/>
                </a:solidFill>
              </a:rPr>
              <a:t>Dispatcher board</a:t>
            </a:r>
            <a:endParaRPr lang="en-US" sz="2000" dirty="0"/>
          </a:p>
        </p:txBody>
      </p:sp>
      <p:sp>
        <p:nvSpPr>
          <p:cNvPr id="19" name="demo expected 4"/>
          <p:cNvSpPr txBox="1"/>
          <p:nvPr/>
        </p:nvSpPr>
        <p:spPr>
          <a:xfrm>
            <a:off x="6309360" y="4242816"/>
            <a:ext cx="3657600" cy="548640"/>
          </a:xfrm>
          <a:prstGeom prst="rect">
            <a:avLst/>
          </a:prstGeom>
          <a:noFill/>
          <a:ln/>
        </p:spPr>
        <p:txBody>
          <a:bodyPr wrap="square" lIns="635" tIns="635" rIns="635" bIns="635" rtlCol="0" anchor="ctr"/>
          <a:lstStyle/>
          <a:p>
            <a:pPr indent="0" marL="0">
              <a:buNone/>
            </a:pPr>
            <a:r>
              <a:rPr lang="en-US" sz="1800" dirty="0">
                <a:solidFill>
                  <a:srgbClr val="F2A541"/>
                </a:solidFill>
              </a:rPr>
              <a:t>One row updated, not duplicated</a:t>
            </a:r>
            <a:endParaRPr lang="en-US" sz="1800" dirty="0"/>
          </a:p>
        </p:txBody>
      </p:sp>
      <p:sp>
        <p:nvSpPr>
          <p:cNvPr id="20" name="demo dot 5"/>
          <p:cNvSpPr/>
          <p:nvPr/>
        </p:nvSpPr>
        <p:spPr>
          <a:xfrm>
            <a:off x="548640" y="5102352"/>
            <a:ext cx="685800" cy="685800"/>
          </a:xfrm>
          <a:prstGeom prst="ellipse">
            <a:avLst/>
          </a:prstGeom>
          <a:solidFill>
            <a:srgbClr val="0E7C86"/>
          </a:solidFill>
          <a:ln w="12700">
            <a:solidFill>
              <a:srgbClr val="0E7C86"/>
            </a:solidFill>
            <a:prstDash val="solid"/>
          </a:ln>
        </p:spPr>
      </p:sp>
      <p:sp>
        <p:nvSpPr>
          <p:cNvPr id="21" name="demo number 5"/>
          <p:cNvSpPr txBox="1"/>
          <p:nvPr/>
        </p:nvSpPr>
        <p:spPr>
          <a:xfrm>
            <a:off x="548640" y="5102352"/>
            <a:ext cx="685800" cy="685800"/>
          </a:xfrm>
          <a:prstGeom prst="rect">
            <a:avLst/>
          </a:prstGeom>
          <a:noFill/>
          <a:ln/>
        </p:spPr>
        <p:txBody>
          <a:bodyPr wrap="square" lIns="635" tIns="635" rIns="635" bIns="635" rtlCol="0" anchor="ctr"/>
          <a:lstStyle/>
          <a:p>
            <a:pPr algn="ctr" indent="0" marL="0">
              <a:buNone/>
            </a:pPr>
            <a:r>
              <a:rPr lang="en-US" sz="2000" b="1" dirty="0">
                <a:solidFill>
                  <a:srgbClr val="FFFFFF"/>
                </a:solidFill>
              </a:rPr>
              <a:t>5</a:t>
            </a:r>
            <a:endParaRPr lang="en-US" sz="2000" dirty="0"/>
          </a:p>
        </p:txBody>
      </p:sp>
      <p:sp>
        <p:nvSpPr>
          <p:cNvPr id="22" name="demo step 5"/>
          <p:cNvSpPr txBox="1"/>
          <p:nvPr/>
        </p:nvSpPr>
        <p:spPr>
          <a:xfrm>
            <a:off x="1463040" y="5175504"/>
            <a:ext cx="4754880" cy="548640"/>
          </a:xfrm>
          <a:prstGeom prst="rect">
            <a:avLst/>
          </a:prstGeom>
          <a:noFill/>
          <a:ln/>
        </p:spPr>
        <p:txBody>
          <a:bodyPr wrap="square" lIns="635" tIns="635" rIns="635" bIns="635" rtlCol="0" anchor="ctr"/>
          <a:lstStyle/>
          <a:p>
            <a:pPr indent="0" marL="0">
              <a:buNone/>
            </a:pPr>
            <a:r>
              <a:rPr lang="en-US" sz="2000" b="1" dirty="0">
                <a:solidFill>
                  <a:srgbClr val="FFFFFF"/>
                </a:solidFill>
              </a:rPr>
              <a:t>Share GPS location</a:t>
            </a:r>
            <a:endParaRPr lang="en-US" sz="2000" dirty="0"/>
          </a:p>
        </p:txBody>
      </p:sp>
      <p:sp>
        <p:nvSpPr>
          <p:cNvPr id="23" name="demo expected 5"/>
          <p:cNvSpPr txBox="1"/>
          <p:nvPr/>
        </p:nvSpPr>
        <p:spPr>
          <a:xfrm>
            <a:off x="6309360" y="5175504"/>
            <a:ext cx="3657600" cy="548640"/>
          </a:xfrm>
          <a:prstGeom prst="rect">
            <a:avLst/>
          </a:prstGeom>
          <a:noFill/>
          <a:ln/>
        </p:spPr>
        <p:txBody>
          <a:bodyPr wrap="square" lIns="635" tIns="635" rIns="635" bIns="635" rtlCol="0" anchor="ctr"/>
          <a:lstStyle/>
          <a:p>
            <a:pPr indent="0" marL="0">
              <a:buNone/>
            </a:pPr>
            <a:r>
              <a:rPr lang="en-US" sz="1800" dirty="0">
                <a:solidFill>
                  <a:srgbClr val="F2A541"/>
                </a:solidFill>
              </a:rPr>
              <a:t>Maps link on the incident</a:t>
            </a:r>
            <a:endParaRPr lang="en-US" sz="1800" dirty="0"/>
          </a:p>
        </p:txBody>
      </p:sp>
      <p:sp>
        <p:nvSpPr>
          <p:cNvPr id="24" name="telegram circle"/>
          <p:cNvSpPr/>
          <p:nvPr/>
        </p:nvSpPr>
        <p:spPr>
          <a:xfrm>
            <a:off x="10241280" y="1463040"/>
            <a:ext cx="1371600" cy="1371600"/>
          </a:xfrm>
          <a:prstGeom prst="ellipse">
            <a:avLst/>
          </a:prstGeom>
          <a:solidFill>
            <a:schemeClr val="accent1"/>
          </a:solidFill>
          <a:ln w="12700">
            <a:solidFill>
              <a:schemeClr val="accent1"/>
            </a:solidFill>
            <a:prstDash val="solid"/>
          </a:ln>
        </p:spPr>
      </p:sp>
      <p:pic>
        <p:nvPicPr>
          <p:cNvPr id="25" name="telegram icon" descr="preencoded.png">    </p:cNvPr>
          <p:cNvPicPr>
            <a:picLocks noChangeAspect="1"/>
          </p:cNvPicPr>
          <p:nvPr/>
        </p:nvPicPr>
        <p:blipFill>
          <a:blip r:embed="rId1"/>
          <a:stretch>
            <a:fillRect/>
          </a:stretch>
        </p:blipFill>
        <p:spPr>
          <a:xfrm>
            <a:off x="10584180" y="1805940"/>
            <a:ext cx="685800" cy="685800"/>
          </a:xfrm>
          <a:prstGeom prst="rect">
            <a:avLst/>
          </a:prstGeom>
        </p:spPr>
      </p:pic>
      <p:sp>
        <p:nvSpPr>
          <p:cNvPr id="26" name="demo failsafe"/>
          <p:cNvSpPr txBox="1"/>
          <p:nvPr/>
        </p:nvSpPr>
        <p:spPr>
          <a:xfrm>
            <a:off x="548640" y="6035040"/>
            <a:ext cx="10058400" cy="365760"/>
          </a:xfrm>
          <a:prstGeom prst="rect">
            <a:avLst/>
          </a:prstGeom>
          <a:noFill/>
          <a:ln/>
        </p:spPr>
        <p:txBody>
          <a:bodyPr wrap="square" lIns="635" tIns="635" rIns="635" bIns="635" rtlCol="0" anchor="t"/>
          <a:lstStyle/>
          <a:p>
            <a:pPr indent="0" marL="0">
              <a:buNone/>
            </a:pPr>
            <a:r>
              <a:rPr lang="en-US" sz="1500" i="1" dirty="0">
                <a:solidFill>
                  <a:srgbClr val="9FB3C8"/>
                </a:solidFill>
              </a:rPr>
              <a:t>If an API fails, the ticket still arrives with human review: that is the fail-safe.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What we built, what we learned, what comes next</a:t>
            </a:r>
            <a:endParaRPr lang="en-US" sz="3400" dirty="0"/>
          </a:p>
        </p:txBody>
      </p:sp>
      <p:sp>
        <p:nvSpPr>
          <p:cNvPr id="4" name="conclusion card 1"/>
          <p:cNvSpPr/>
          <p:nvPr/>
        </p:nvSpPr>
        <p:spPr>
          <a:xfrm>
            <a:off x="548640" y="1371600"/>
            <a:ext cx="3520440" cy="3566160"/>
          </a:xfrm>
          <a:prstGeom prst="roundRect">
            <a:avLst>
              <a:gd name="adj" fmla="val 2078"/>
            </a:avLst>
          </a:prstGeom>
          <a:solidFill>
            <a:srgbClr val="1B3A57"/>
          </a:solidFill>
          <a:ln w="12700">
            <a:solidFill>
              <a:srgbClr val="1B3A57"/>
            </a:solidFill>
            <a:prstDash val="solid"/>
          </a:ln>
        </p:spPr>
      </p:sp>
      <p:sp>
        <p:nvSpPr>
          <p:cNvPr id="5" name="conclusion title 1"/>
          <p:cNvSpPr txBox="1"/>
          <p:nvPr/>
        </p:nvSpPr>
        <p:spPr>
          <a:xfrm>
            <a:off x="822960" y="1554480"/>
            <a:ext cx="3017520" cy="548640"/>
          </a:xfrm>
          <a:prstGeom prst="rect">
            <a:avLst/>
          </a:prstGeom>
          <a:noFill/>
          <a:ln/>
        </p:spPr>
        <p:txBody>
          <a:bodyPr wrap="square" lIns="635" tIns="635" rIns="635" bIns="635" rtlCol="0" anchor="t"/>
          <a:lstStyle/>
          <a:p>
            <a:pPr indent="0" marL="0">
              <a:buNone/>
            </a:pPr>
            <a:r>
              <a:rPr lang="en-US" sz="2400" b="1" dirty="0">
                <a:solidFill>
                  <a:srgbClr val="F2A541"/>
                </a:solidFill>
                <a:latin typeface="Arial" pitchFamily="34" charset="0"/>
                <a:ea typeface="Arial" pitchFamily="34" charset="-122"/>
                <a:cs typeface="Arial" pitchFamily="34" charset="-120"/>
              </a:rPr>
              <a:t>Built</a:t>
            </a:r>
            <a:endParaRPr lang="en-US" sz="2400" dirty="0"/>
          </a:p>
        </p:txBody>
      </p:sp>
      <p:sp>
        <p:nvSpPr>
          <p:cNvPr id="6" name="conclusion list 1"/>
          <p:cNvSpPr txBox="1"/>
          <p:nvPr/>
        </p:nvSpPr>
        <p:spPr>
          <a:xfrm>
            <a:off x="822960" y="2194560"/>
            <a:ext cx="3017520" cy="2606040"/>
          </a:xfrm>
          <a:prstGeom prst="rect">
            <a:avLst/>
          </a:prstGeom>
          <a:noFill/>
          <a:ln/>
        </p:spPr>
        <p:txBody>
          <a:bodyPr wrap="square" lIns="635" tIns="635" rIns="635" bIns="635" rtlCol="0" anchor="t"/>
          <a:lstStyle/>
          <a:p>
            <a:pPr marL="342900" indent="-342900">
              <a:spcAft>
                <a:spcPts val="1000"/>
              </a:spcAft>
              <a:buSzPct val="100000"/>
              <a:buChar char="•"/>
            </a:pPr>
            <a:r>
              <a:rPr lang="en-US" sz="1600" dirty="0">
                <a:solidFill>
                  <a:srgbClr val="FFFFFF"/>
                </a:solidFill>
              </a:rPr>
              <a:t>5 agents talking to each other</a:t>
            </a:r>
            <a:endParaRPr lang="en-US" sz="1600" dirty="0"/>
          </a:p>
          <a:p>
            <a:pPr marL="342900" indent="-342900">
              <a:spcAft>
                <a:spcPts val="1000"/>
              </a:spcAft>
              <a:buSzPct val="100000"/>
              <a:buChar char="•"/>
            </a:pPr>
            <a:r>
              <a:rPr lang="en-US" sz="1600" dirty="0">
                <a:solidFill>
                  <a:srgbClr val="FFFFFF"/>
                </a:solidFill>
              </a:rPr>
              <a:t>Photo, Derja voice, text, GPS</a:t>
            </a:r>
            <a:endParaRPr lang="en-US" sz="1600" dirty="0"/>
          </a:p>
          <a:p>
            <a:pPr marL="342900" indent="-342900">
              <a:spcAft>
                <a:spcPts val="1000"/>
              </a:spcAft>
              <a:buSzPct val="100000"/>
              <a:buChar char="•"/>
            </a:pPr>
            <a:r>
              <a:rPr lang="en-US" sz="1600" dirty="0">
                <a:solidFill>
                  <a:srgbClr val="FFFFFF"/>
                </a:solidFill>
              </a:rPr>
              <a:t>Graded, explained, quoted tickets</a:t>
            </a:r>
            <a:endParaRPr lang="en-US" sz="1600" dirty="0"/>
          </a:p>
          <a:p>
            <a:pPr marL="342900" indent="-342900">
              <a:spcAft>
                <a:spcPts val="1000"/>
              </a:spcAft>
              <a:buSzPct val="100000"/>
              <a:buChar char="•"/>
            </a:pPr>
            <a:r>
              <a:rPr lang="en-US" sz="1600" dirty="0">
                <a:solidFill>
                  <a:srgbClr val="FFFFFF"/>
                </a:solidFill>
              </a:rPr>
              <a:t>Safety Officer with hard rules</a:t>
            </a:r>
            <a:endParaRPr lang="en-US" sz="1600" dirty="0"/>
          </a:p>
        </p:txBody>
      </p:sp>
      <p:sp>
        <p:nvSpPr>
          <p:cNvPr id="7" name="conclusion card 2"/>
          <p:cNvSpPr/>
          <p:nvPr/>
        </p:nvSpPr>
        <p:spPr>
          <a:xfrm>
            <a:off x="4297680" y="1371600"/>
            <a:ext cx="3520440" cy="3566160"/>
          </a:xfrm>
          <a:prstGeom prst="roundRect">
            <a:avLst>
              <a:gd name="adj" fmla="val 2078"/>
            </a:avLst>
          </a:prstGeom>
          <a:solidFill>
            <a:srgbClr val="1B3A57"/>
          </a:solidFill>
          <a:ln w="12700">
            <a:solidFill>
              <a:srgbClr val="1B3A57"/>
            </a:solidFill>
            <a:prstDash val="solid"/>
          </a:ln>
        </p:spPr>
      </p:sp>
      <p:sp>
        <p:nvSpPr>
          <p:cNvPr id="8" name="conclusion title 2"/>
          <p:cNvSpPr txBox="1"/>
          <p:nvPr/>
        </p:nvSpPr>
        <p:spPr>
          <a:xfrm>
            <a:off x="4572000" y="1554480"/>
            <a:ext cx="3017520" cy="548640"/>
          </a:xfrm>
          <a:prstGeom prst="rect">
            <a:avLst/>
          </a:prstGeom>
          <a:noFill/>
          <a:ln/>
        </p:spPr>
        <p:txBody>
          <a:bodyPr wrap="square" lIns="635" tIns="635" rIns="635" bIns="635" rtlCol="0" anchor="t"/>
          <a:lstStyle/>
          <a:p>
            <a:pPr indent="0" marL="0">
              <a:buNone/>
            </a:pPr>
            <a:r>
              <a:rPr lang="en-US" sz="2400" b="1" dirty="0">
                <a:solidFill>
                  <a:srgbClr val="F2A541"/>
                </a:solidFill>
                <a:latin typeface="Arial" pitchFamily="34" charset="0"/>
                <a:ea typeface="Arial" pitchFamily="34" charset="-122"/>
                <a:cs typeface="Arial" pitchFamily="34" charset="-120"/>
              </a:rPr>
              <a:t>Learned</a:t>
            </a:r>
            <a:endParaRPr lang="en-US" sz="2400" dirty="0"/>
          </a:p>
        </p:txBody>
      </p:sp>
      <p:sp>
        <p:nvSpPr>
          <p:cNvPr id="9" name="conclusion list 2"/>
          <p:cNvSpPr txBox="1"/>
          <p:nvPr/>
        </p:nvSpPr>
        <p:spPr>
          <a:xfrm>
            <a:off x="4572000" y="2194560"/>
            <a:ext cx="3017520" cy="2606040"/>
          </a:xfrm>
          <a:prstGeom prst="rect">
            <a:avLst/>
          </a:prstGeom>
          <a:noFill/>
          <a:ln/>
        </p:spPr>
        <p:txBody>
          <a:bodyPr wrap="square" lIns="635" tIns="635" rIns="635" bIns="635" rtlCol="0" anchor="t"/>
          <a:lstStyle/>
          <a:p>
            <a:pPr marL="342900" indent="-342900">
              <a:spcAft>
                <a:spcPts val="1000"/>
              </a:spcAft>
              <a:buSzPct val="100000"/>
              <a:buChar char="•"/>
            </a:pPr>
            <a:r>
              <a:rPr lang="en-US" sz="1600" dirty="0">
                <a:solidFill>
                  <a:srgbClr val="FFFFFF"/>
                </a:solidFill>
              </a:rPr>
              <a:t>Measure: the big fixes came from real failures</a:t>
            </a:r>
            <a:endParaRPr lang="en-US" sz="1600" dirty="0"/>
          </a:p>
          <a:p>
            <a:pPr marL="342900" indent="-342900">
              <a:spcAft>
                <a:spcPts val="1000"/>
              </a:spcAft>
              <a:buSzPct val="100000"/>
              <a:buChar char="•"/>
            </a:pPr>
            <a:r>
              <a:rPr lang="en-US" sz="1600" dirty="0">
                <a:solidFill>
                  <a:srgbClr val="FFFFFF"/>
                </a:solidFill>
              </a:rPr>
              <a:t>Exact rules belong in tools, not in control flow</a:t>
            </a:r>
            <a:endParaRPr lang="en-US" sz="1600" dirty="0"/>
          </a:p>
          <a:p>
            <a:pPr marL="342900" indent="-342900">
              <a:spcAft>
                <a:spcPts val="1000"/>
              </a:spcAft>
              <a:buSzPct val="100000"/>
              <a:buChar char="•"/>
            </a:pPr>
            <a:r>
              <a:rPr lang="en-US" sz="1600" dirty="0">
                <a:solidFill>
                  <a:srgbClr val="FFFFFF"/>
                </a:solidFill>
              </a:rPr>
              <a:t>Model choice matters more than tuning (ASR, embeddings)</a:t>
            </a:r>
            <a:endParaRPr lang="en-US" sz="1600" dirty="0"/>
          </a:p>
        </p:txBody>
      </p:sp>
      <p:sp>
        <p:nvSpPr>
          <p:cNvPr id="10" name="conclusion card 3"/>
          <p:cNvSpPr/>
          <p:nvPr/>
        </p:nvSpPr>
        <p:spPr>
          <a:xfrm>
            <a:off x="8046720" y="1371600"/>
            <a:ext cx="3520440" cy="3566160"/>
          </a:xfrm>
          <a:prstGeom prst="roundRect">
            <a:avLst>
              <a:gd name="adj" fmla="val 2078"/>
            </a:avLst>
          </a:prstGeom>
          <a:solidFill>
            <a:srgbClr val="1B3A57"/>
          </a:solidFill>
          <a:ln w="12700">
            <a:solidFill>
              <a:srgbClr val="1B3A57"/>
            </a:solidFill>
            <a:prstDash val="solid"/>
          </a:ln>
        </p:spPr>
      </p:sp>
      <p:sp>
        <p:nvSpPr>
          <p:cNvPr id="11" name="conclusion title 3"/>
          <p:cNvSpPr txBox="1"/>
          <p:nvPr/>
        </p:nvSpPr>
        <p:spPr>
          <a:xfrm>
            <a:off x="8321040" y="1554480"/>
            <a:ext cx="3017520" cy="548640"/>
          </a:xfrm>
          <a:prstGeom prst="rect">
            <a:avLst/>
          </a:prstGeom>
          <a:noFill/>
          <a:ln/>
        </p:spPr>
        <p:txBody>
          <a:bodyPr wrap="square" lIns="635" tIns="635" rIns="635" bIns="635" rtlCol="0" anchor="t"/>
          <a:lstStyle/>
          <a:p>
            <a:pPr indent="0" marL="0">
              <a:buNone/>
            </a:pPr>
            <a:r>
              <a:rPr lang="en-US" sz="2400" b="1" dirty="0">
                <a:solidFill>
                  <a:srgbClr val="F2A541"/>
                </a:solidFill>
                <a:latin typeface="Arial" pitchFamily="34" charset="0"/>
                <a:ea typeface="Arial" pitchFamily="34" charset="-122"/>
                <a:cs typeface="Arial" pitchFamily="34" charset="-120"/>
              </a:rPr>
              <a:t>Next</a:t>
            </a:r>
            <a:endParaRPr lang="en-US" sz="2400" dirty="0"/>
          </a:p>
        </p:txBody>
      </p:sp>
      <p:sp>
        <p:nvSpPr>
          <p:cNvPr id="12" name="conclusion list 3"/>
          <p:cNvSpPr txBox="1"/>
          <p:nvPr/>
        </p:nvSpPr>
        <p:spPr>
          <a:xfrm>
            <a:off x="8321040" y="2194560"/>
            <a:ext cx="3017520" cy="2606040"/>
          </a:xfrm>
          <a:prstGeom prst="rect">
            <a:avLst/>
          </a:prstGeom>
          <a:noFill/>
          <a:ln/>
        </p:spPr>
        <p:txBody>
          <a:bodyPr wrap="square" lIns="635" tIns="635" rIns="635" bIns="635" rtlCol="0" anchor="t"/>
          <a:lstStyle/>
          <a:p>
            <a:pPr marL="342900" indent="-342900">
              <a:spcAft>
                <a:spcPts val="1000"/>
              </a:spcAft>
              <a:buSzPct val="100000"/>
              <a:buChar char="•"/>
            </a:pPr>
            <a:r>
              <a:rPr lang="en-US" sz="1600" dirty="0">
                <a:solidFill>
                  <a:srgbClr val="FFFFFF"/>
                </a:solidFill>
              </a:rPr>
              <a:t>Fuse reports by area (GPS)</a:t>
            </a:r>
            <a:endParaRPr lang="en-US" sz="1600" dirty="0"/>
          </a:p>
          <a:p>
            <a:pPr marL="342900" indent="-342900">
              <a:spcAft>
                <a:spcPts val="1000"/>
              </a:spcAft>
              <a:buSzPct val="100000"/>
              <a:buChar char="•"/>
            </a:pPr>
            <a:r>
              <a:rPr lang="en-US" sz="1600" dirty="0">
                <a:solidFill>
                  <a:srgbClr val="FFFFFF"/>
                </a:solidFill>
              </a:rPr>
              <a:t>Larger photo set with measured depths</a:t>
            </a:r>
            <a:endParaRPr lang="en-US" sz="1600" dirty="0"/>
          </a:p>
          <a:p>
            <a:pPr marL="342900" indent="-342900">
              <a:spcAft>
                <a:spcPts val="1000"/>
              </a:spcAft>
              <a:buSzPct val="100000"/>
              <a:buChar char="•"/>
            </a:pPr>
            <a:r>
              <a:rPr lang="en-US" sz="1600" dirty="0">
                <a:solidFill>
                  <a:srgbClr val="FFFFFF"/>
                </a:solidFill>
              </a:rPr>
              <a:t>Hosted n8n, paid tiers, bot authentication</a:t>
            </a:r>
            <a:endParaRPr lang="en-US" sz="1600" dirty="0"/>
          </a:p>
        </p:txBody>
      </p:sp>
      <p:sp>
        <p:nvSpPr>
          <p:cNvPr id="13" name="thanks"/>
          <p:cNvSpPr txBox="1"/>
          <p:nvPr/>
        </p:nvSpPr>
        <p:spPr>
          <a:xfrm>
            <a:off x="548640" y="5303520"/>
            <a:ext cx="11094415" cy="640080"/>
          </a:xfrm>
          <a:prstGeom prst="rect">
            <a:avLst/>
          </a:prstGeom>
          <a:noFill/>
          <a:ln/>
        </p:spPr>
        <p:txBody>
          <a:bodyPr wrap="square" lIns="635" tIns="635" rIns="635" bIns="635" rtlCol="0" anchor="t"/>
          <a:lstStyle/>
          <a:p>
            <a:pPr indent="0" marL="0">
              <a:buNone/>
            </a:pPr>
            <a:r>
              <a:rPr lang="en-US" sz="2800" b="1" dirty="0">
                <a:solidFill>
                  <a:srgbClr val="FFFFFF"/>
                </a:solidFill>
                <a:latin typeface="Arial" pitchFamily="34" charset="0"/>
                <a:ea typeface="Arial" pitchFamily="34" charset="-122"/>
                <a:cs typeface="Arial" pitchFamily="34" charset="-120"/>
              </a:rPr>
              <a:t>Thank you. Questions?</a:t>
            </a: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Backup: live-test failures and their fixes</a:t>
            </a:r>
            <a:endParaRPr lang="en-US" sz="3400" dirty="0"/>
          </a:p>
        </p:txBody>
      </p:sp>
      <p:graphicFrame>
        <p:nvGraphicFramePr>
          <p:cNvPr id="19" name="failure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188720"/>
                <a:gridCol w="4846320"/>
                <a:gridCol w="5056632"/>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went wrong</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Fix</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#48</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Waterline below wheel hub read as 25 cm</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Vision V2: anchor table + deeper-interval bias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#49</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P1 case given a P2 truck (copied from a P2 chunk)</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Structured corpus; decide tier first; rules tool forces the asset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Derja voice: P2 instead of P1 (Whisper garbled)</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Gemini transcription; extractor V3/V4; keyword net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#51-52</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P1 ticket lost on a network error</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Retries on every external call; instant acknowledgement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#62</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Vision quota used by our own benchmark</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Separate evaluation key; failure becomes human review</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#73, #78</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Follow-up question not sent / agent waited</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Distress prompt V5 wording</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0B1F33"/>
                          </a:solidFill>
                          <a:latin typeface="Calibri" pitchFamily="34" charset="0"/>
                          <a:ea typeface="Calibri" pitchFamily="34" charset="-122"/>
                          <a:cs typeface="Calibri" pitchFamily="34" charset="-120"/>
                        </a:rPr>
                        <a:t>#83</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Gemini rejected nullable schema types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Optional plain-number fields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Backup: the Safety Officer's rules tool on real cases</a:t>
            </a:r>
            <a:endParaRPr lang="en-US" sz="3400" dirty="0"/>
          </a:p>
        </p:txBody>
      </p:sp>
      <p:graphicFrame>
        <p:nvGraphicFramePr>
          <p:cNvPr id="20" name="rule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846320"/>
                <a:gridCol w="2377440"/>
                <a:gridCol w="386791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Case</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Draft from agents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After the rules tool</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1F33"/>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Garbled Whisper Derja transcript (#50)</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P2, 4x4</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P1, Zodiac + paramedic, human review</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145 cm photo, P2 asset copied (#49)</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P1, 4x4</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P1, boat / helicopter</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3 fused reports: vague, 40 cm photo, "grand-mère, bloqués"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P3, tow trucks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P1, Zodiac + paramedic, update #3</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Photo 10 cm, caller trapped at 120 cm</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P4</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P1 + human review (conflict)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Prank message</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P4</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P4 + human review</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640080">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Malformed input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Calibri" pitchFamily="34" charset="0"/>
                          <a:ea typeface="Calibri" pitchFamily="34" charset="-122"/>
                          <a:cs typeface="Calibri" pitchFamily="34" charset="-120"/>
                        </a:rPr>
                        <a:t>Explicit error, agent retries</a:t>
                      </a:r>
                      <a:endParaRPr lang="en-US" sz="1500" dirty="0">
                        <a:latin typeface="Calibri" charset="0"/>
                        <a:ea typeface="Calibri" charset="0"/>
                        <a:cs typeface="Calibri" charset="0"/>
                      </a:endParaRPr>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5" name="rules summary"/>
          <p:cNvSpPr txBox="1"/>
          <p:nvPr/>
        </p:nvSpPr>
        <p:spPr>
          <a:xfrm>
            <a:off x="548640" y="5897880"/>
            <a:ext cx="11094415" cy="502920"/>
          </a:xfrm>
          <a:prstGeom prst="rect">
            <a:avLst/>
          </a:prstGeom>
          <a:noFill/>
          <a:ln/>
        </p:spPr>
        <p:txBody>
          <a:bodyPr wrap="square" lIns="635" tIns="635" rIns="635" bIns="635" rtlCol="0" anchor="t"/>
          <a:lstStyle/>
          <a:p>
            <a:pPr indent="0" marL="0">
              <a:buNone/>
            </a:pPr>
            <a:r>
              <a:rPr lang="en-US" sz="1400" dirty="0">
                <a:solidFill>
                  <a:schemeClr val="tx2"/>
                </a:solidFill>
              </a:rPr>
              <a:t>Rules: depth &gt; 100 cm = P1; &gt; 80 cm never below P2; trapped + vulnerable = P1; asset must match tier; multilingual keyword net on the raw words; human review on conflict, low confidence, prank or failure.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risisLink Flood">
  <a:themeElements>
    <a:clrScheme name="CrisisLink Flood">
      <a:dk1>
        <a:srgbClr val="0B1F33"/>
      </a:dk1>
      <a:lt1>
        <a:srgbClr val="FFFFFF"/>
      </a:lt1>
      <a:dk2>
        <a:srgbClr val="1B3A57"/>
      </a:dk2>
      <a:lt2>
        <a:srgbClr val="EEF3F7"/>
      </a:lt2>
      <a:accent1>
        <a:srgbClr val="0E7C86"/>
      </a:accent1>
      <a:accent2>
        <a:srgbClr val="E4572E"/>
      </a:accent2>
      <a:accent3>
        <a:srgbClr val="F2A541"/>
      </a:accent3>
      <a:accent4>
        <a:srgbClr val="2A9D5C"/>
      </a:accent4>
      <a:accent5>
        <a:srgbClr val="C0392B"/>
      </a:accent5>
      <a:accent6>
        <a:srgbClr val="7A8B99"/>
      </a:accent6>
      <a:hlink>
        <a:srgbClr val="0E7C86"/>
      </a:hlink>
      <a:folHlink>
        <a:srgbClr val="1B3A57"/>
      </a:folHlink>
    </a:clrScheme>
    <a:fontScheme name="CrisisLink Flo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CrisisLink - Final validation</dc:title>
  <dc:subject>PptxGenJS Presentation</dc:subject>
  <dc:creator>Team CrisisLink</dc:creator>
  <cp:lastModifiedBy>Team CrisisLink</cp:lastModifiedBy>
  <cp:revision>1</cp:revision>
  <dcterms:created xsi:type="dcterms:W3CDTF">2026-10-16T20:34:28Z</dcterms:created>
  <dcterms:modified xsi:type="dcterms:W3CDTF">2026-10-16T20:34:28Z</dcterms:modified>
</cp:coreProperties>
</file>